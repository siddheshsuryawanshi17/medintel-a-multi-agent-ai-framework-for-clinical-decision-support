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6"/>
    <p:sldId id="259" r:id="rId5"/>
    <p:sldId id="260" r:id="rId4"/>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38" autoAdjust="0"/>
  </p:normalViewPr>
  <p:slideViewPr>
    <p:cSldViewPr>
      <p:cViewPr varScale="1">
        <p:scale>
          <a:sx n="85" d="100"/>
          <a:sy n="85" d="100"/>
        </p:scale>
        <p:origin x="-152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Accuracy (%)</c:v>
                </c:pt>
              </c:strCache>
            </c:strRef>
          </c:tx>
          <c:spPr>
            <a:solidFill>
              <a:srgbClr val="A6A6A6"/>
            </a:solidFill>
          </c:spPr>
          <c:dPt>
            <c:idx val="1"/>
            <c:spPr>
              <a:solidFill>
                <a:srgbClr val="8B0000"/>
              </a:solidFill>
            </c:spPr>
          </c:dPt>
          <c:cat>
            <c:strRef>
              <c:f>Sheet1!$A$2:$A$4</c:f>
              <c:strCache>
                <c:ptCount val="3"/>
                <c:pt idx="0">
                  <c:v>Öğdü et al. [1] (MedQA)</c:v>
                </c:pt>
                <c:pt idx="1">
                  <c:v>MedIntel baseline (Cleveland)</c:v>
                </c:pt>
                <c:pt idx="2">
                  <c:v>MedAgents [2] (MedQA, GPT-4)</c:v>
                </c:pt>
              </c:strCache>
            </c:strRef>
          </c:cat>
          <c:val>
            <c:numRef>
              <c:f>Sheet1!$B$2:$B$4</c:f>
              <c:numCache>
                <c:formatCode>General</c:formatCode>
                <c:ptCount val="3"/>
                <c:pt idx="0">
                  <c:v>94.0</c:v>
                </c:pt>
                <c:pt idx="1">
                  <c:v>87.0</c:v>
                </c:pt>
                <c:pt idx="2">
                  <c:v>83.7</c:v>
                </c:pt>
              </c:numCache>
            </c:numRef>
          </c:val>
        </c:ser>
        <c:dLbls>
          <c:numFmt formatCode="0.0&quot;%&quot;" sourceLinked="0"/>
          <c:txPr>
            <a:bodyPr/>
            <a:lstStyle/>
            <a:p>
              <a:pPr>
                <a:defRPr sz="1100" b="1">
                  <a:latin typeface="Times New Roman"/>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900">
                <a:latin typeface="Times New Roman"/>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3E3E3"/>
              </a:solidFill>
            </a:ln>
          </c:spPr>
        </c:majorGridlines>
        <c:majorTickMark val="out"/>
        <c:minorTickMark val="none"/>
        <c:tickLblPos val="nextTo"/>
        <c:spPr>
          <a:ln>
            <a:noFill/>
          </a:ln>
        </c:spPr>
        <c:txPr>
          <a:bodyPr/>
          <a:lstStyle/>
          <a:p>
            <a:pPr>
              <a:defRPr sz="900">
                <a:solidFill>
                  <a:srgbClr val="595959"/>
                </a:solidFill>
                <a:latin typeface="Times New Roman"/>
              </a:defRPr>
            </a:pPr>
          </a:p>
        </c:txPr>
        <c:crossAx val="-2068027336"/>
        <c:crosses val="autoZero"/>
        <c:majorUnit val="20.0"/>
      </c:valAx>
    </c:plotArea>
    <c:dispBlanksAs val="gap"/>
  </c:chart>
  <c:txPr>
    <a:bodyPr/>
    <a:lstStyle/>
    <a:p>
      <a:pPr>
        <a:defRPr sz="95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75E5D8-B4AD-4B9A-9212-9EBD3D413108}" type="datetimeFigureOut">
              <a:rPr lang="en-US" smtClean="0"/>
              <a:pPr/>
              <a:t>10/28/2025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A52C04-37F8-4759-AE69-C657BFA590C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Head of Department, faculty members and friends. We are Siddhesh Suryawanshi, Shantanu Patil, Omkar Musale and Tanmay Bagul, and our BE project is MedIntel, a multi-agent AI framework for clinical decision support, guided by Prof. G. P. Mohole.</a:t>
            </a:r>
          </a:p>
          <a:p/>
          <a:p>
            <a:r>
              <a:t>In this Project Stage I presentation we explain the problem we are solving, what existing work does and misses, the architecture we have designed, and how we will build and test it in Stage II next semester.</a:t>
            </a:r>
          </a:p>
          <a:p/>
          <a:p>
            <a:r>
              <a:t>One point to keep in mind throughout: this stage is analysis and design, so every number you see today is a target for Stage II, not a measured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abstract.</a:t>
            </a:r>
          </a:p>
          <a:p/>
          <a:p>
            <a:r>
              <a:t>MedIntel keeps machine-learning, rule-based and retrieved evidence separate, fuses them through one explicit confidence equation, and gives the clinician a report that shows where every part of the recommendation came from.</a:t>
            </a:r>
          </a:p>
          <a:p/>
          <a:p>
            <a:r>
              <a:t>Stage I covers the design. Our ML-only baseline already reaches 87.0% accuracy on the held-out Cleveland heart disease test split, and Stage II will build and evaluate the full pipeline.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Clinical decision support systems help doctors interpret patient data, for example by raising alerts, estimating risk or suggesting next steps. Large language models have made these systems far more capable, but published reviews keep reporting the same weaknesses: calibration, validation and transparency.</a:t>
            </a:r>
          </a:p>
          <a:p/>
          <a:p>
            <a:r>
              <a:t>In practice we see three problems, shown in the three boxes. First, hospital data is messy: a single record can have missing fields, mixed units, repeated observations and free-text notes. Second, when one generative model reads everything and writes the answer, nobody can see which evidence led to the recommendation. Third, a clinician has to be able to check a recommendation before acting on it.</a:t>
            </a:r>
          </a:p>
          <a:p/>
          <a:p>
            <a:r>
              <a:t>That is our motivation: every recommendation should carry its own record, meaning the model output, the rules that fired, the sources used and the versions in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problem statement. We want an implementable, modular pipeline that accepts imperfect patient data, keeps learned, rule-based and retrieved evidence separate, combines that evidence through an explicit confidence function and gives the clinician a traceable report, while processing many patients in parallel without mixing their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five objectives, each written as an action we commit to. The first two belong to Stage I and are complete: the modular architecture, in which each agent has a defined output contract, and the traceable reporting design, in which each report links back to its features, rules and sources.</a:t>
            </a:r>
          </a:p>
          <a:p/>
          <a:p>
            <a:r>
              <a:t>The other three belong to Stage II: building the parallel prototype, running a staged evaluation with baselines, ablation and calibration checks, and adding the clinician review loop, so that only validated outcomes are allowed back into the knowledge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reviewed twelve recent works; this table shows the six closest to our project.</a:t>
            </a:r>
          </a:p>
          <a:p/>
          <a:p>
            <a:r>
              <a:t>The adaptive multi-agent system by Öğdü and colleagues is our first base paper. It combines specialist agents with biomedical retrieval and web evidence, but with so many reasoning components it becomes hard to tell which one produced a recommendation. MedAgents, our second base paper, lets role-based language-model agents discuss a question and agree, but the whole analysis stays inside language models.</a:t>
            </a:r>
          </a:p>
          <a:p/>
          <a:p>
            <a:r>
              <a:t>ClinicalRAG and KG4Diagnosis improve grounding through heterogeneous retrieval and a medical knowledge graph. Abdullahi and colleagues show that combining retrieval with prediction helps diagnostic ranking. MACD shows the potential of self-learned knowledge, but also makes its governance problem visible.</a:t>
            </a:r>
          </a:p>
          <a:p/>
          <a:p>
            <a:r>
              <a:t>Each work is valuable, and each leaves part of our problem open. The complete comparison of all twelve works is in Table 2.2 of our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survey together, we found three gaps.</a:t>
            </a:r>
          </a:p>
          <a:p/>
          <a:p>
            <a:r>
              <a:t>First, outputs are not traceable: single models and chains of language-model agents do not link a recommendation to the specific feature, rule or source behind it. Second, there is no common interface: tabular machine learning, deterministic rules, retrieval and language-model synthesis do not meet at one patient-level interface. Third, evaluation is incomplete: a multi-component system must show what each component adds and whether its confidence is calibrated, which one benchmark accuracy cannot show.</a:t>
            </a:r>
          </a:p>
          <a:p/>
          <a:p>
            <a:r>
              <a:t>The figure compares three design styles. A single-model system is one opaque step. A retrieval-based system grounds its answer in sources but applies no deterministic checks. MedIntel follows the third style: each kind of evidence is produced separately and fused explicitly, and a clinician reviews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MedIntel architecture.</a:t>
            </a:r>
          </a:p>
          <a:p/>
          <a:p>
            <a:r>
              <a:t>Patient data arrives as CSV files, records or event logs and is first validated: data types, missing fields, duplicates, units and identifiers are all checked before a case is built.</a:t>
            </a:r>
          </a:p>
          <a:p/>
          <a:p>
            <a:r>
              <a:t>Each valid case then goes to the analysis agents. The Machine Learning Analyzer finds learned patterns in the structured features. Rule-Based Validation applies explicit clinical thresholds and policies. Knowledge Retrieval brings supporting evidence from approved guidelines and articles. The Clinical Context Agent uses a language model to reconcile these outputs and to report any conflict between them.</a:t>
            </a:r>
          </a:p>
          <a:p/>
          <a:p>
            <a:r>
              <a:t>Decision Fusion and Confidence Assessment combines all of this into one recommendation with a confidence score. The result is a structured recommendation with its explanation and audit trail, and it always goes to a clinician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seven stages one by one, with the tool we plan to use at each step.</a:t>
            </a:r>
          </a:p>
          <a:p/>
          <a:p>
            <a:r>
              <a:t>Records are validated first. Then three evidence agents work on the case: the ML classifier, the versioned JSON rulebase and GraphRAG retrieval over FAISS and Neo4j. Meditron-7B, served locally through Ollama, reconciles their outputs and names any conflict.</a:t>
            </a:r>
          </a:p>
          <a:p/>
          <a:p>
            <a:r>
              <a:t>The fusion stage turns everything into one confidence score, and the last stage writes the decision report and audit record that the clinician reviews on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component has one job and one output contract, and this is what makes the system auditable.</a:t>
            </a:r>
          </a:p>
          <a:p/>
          <a:p>
            <a:r>
              <a:t>The ML Analysis Agent returns a prediction with class probabilities, feature importance and the model version. The Rule Validation Agent applies a versioned JSON rulebase and returns the triggered rules, the action taken and the reason. The Knowledge Retrieval Agent returns passages with source identifiers and similarity scores, or states that nothing relevant was found.</a:t>
            </a:r>
          </a:p>
          <a:p/>
          <a:p>
            <a:r>
              <a:t>The Clinical Context Agent is the only place where a language model reasons over the case. It summarizes the evidence, names conflicts and lists any statement the evidence does not support. The Decision Fusion Engine computes the decision, the confidence and the disagreement, and the Explanation and Audit layer turns everything into a readable report and an audit record.</a:t>
            </a:r>
          </a:p>
          <a:p/>
          <a:p>
            <a:r>
              <a:t>Because every output is typed, any one agent can be replaced without redesigning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is an explicit equation, not a hidden judgment.</a:t>
            </a:r>
          </a:p>
          <a:p/>
          <a:p>
            <a:r>
              <a:t>M is the machine-learning support, the probability of the class the model predicts. R is rule consistency: it is one, unless an elevating or suppressing rule contradicts the prediction, in which case it is zero. K is retrieval support, the average similarity of the retrieved passages, and zero when nothing relevant is found. D is disagreement: the number of conflicts the context agent reports, divided by three and capped at one.</a:t>
            </a:r>
          </a:p>
          <a:p/>
          <a:p>
            <a:r>
              <a:t>So confidence rises when the evidence agrees and falls when the sources conflict.</a:t>
            </a:r>
          </a:p>
          <a:p/>
          <a:p>
            <a:r>
              <a:t>Three rules complete the design, shown in the flowchart. The weights alpha, beta, gamma and lambda will be tuned only on a separate validation split. A triggered rule always takes precedence over the learned prediction. And if C falls below the threshold, the case is reported as uncertain and flagged for the clinician.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turns the research gap into the terms of our mathematical model.</a:t>
            </a:r>
          </a:p>
          <a:p/>
          <a:p>
            <a:r>
              <a:t>The columns are the evidence terms of the fusion equation: M for a learned ML model, R for deterministic rules, K for knowledge retrieval and D for a disagreement measure. We added C for an explicit confidence score and A for a per-patient audit trail. For each surveyed system we marked whether it covers the term, covers it partly, or leaves it out, based on our literature review.</a:t>
            </a:r>
          </a:p>
          <a:p/>
          <a:p>
            <a:r>
              <a:t>Retrieval is well covered, but no system combines all four evidence terms, and none produces an explicit confidence score together with a per-patient audit trail. The coverage bar shows this at a glance. MedIntel is designed to fill every column, which is exactly what the equation on the previous slide does.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guide asked us to place MedIntel next to the published results of the works we surveyed.</a:t>
            </a:r>
          </a:p>
          <a:p/>
          <a:p>
            <a:r>
              <a:t>Öğdü and colleagues report 94% on MedQA, and MedAgents reports 83.7% on MedQA with GPT-4. ClinicalRAG and KG4Diagnosis do not publish an accuracy figure. Abdullahi and colleagues use a ranking metric, mean reciprocal rank, and MACD reports gains of up to 22.3% over clinical guidelines.</a:t>
            </a:r>
          </a:p>
          <a:p/>
          <a:p>
            <a:r>
              <a:t>Our ML-only XGBoost baseline reaches 87.0% accuracy on a held-out test set of 46 patients from the Cleveland heart disease dataset, and 82.2% ± 2.4% in five-fold cross-validation.</a:t>
            </a:r>
          </a:p>
          <a:p/>
          <a:p>
            <a:r>
              <a:t>These numbers come from different datasets and tasks, so they are not a ranking. In Stage II we will measure the full pipeline on the same split, which gives a fair comparison against our own baseline.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MedIntel is designed to analyze a batch of patients at once.</a:t>
            </a:r>
          </a:p>
          <a:p/>
          <a:p>
            <a:r>
              <a:t>The batch scheduler gives every patient an isolated lane, so no data, rule result or retrieved evidence from one patient can reach another patient's report. Within each case the machine-learning, rule and retrieval agents run concurrently, because rule evaluation reads only the case data, while synthesis and fusion wait until all of that case's evidence has arrived.</a:t>
            </a:r>
          </a:p>
          <a:p/>
          <a:p>
            <a:r>
              <a:t>Validated outcomes flow back into the knowledge store, but not automatically. The store can change through one method only, after clinician review and approval by the Knowledge Curator. This matters because an automatic loop could turn one wrong recommendation into a permanent source of future errors. Each approved change also creates a new index or rulebase version, so an older report can still be reproduced against the knowledge it actually used.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diagrams summarize the system design from Chapter 4 of our report.</a:t>
            </a:r>
          </a:p>
          <a:p/>
          <a:p>
            <a:r>
              <a:t>The Level 0 data flow diagram treats MedIntel as a single process with five external entities. The Data Administrator supplies patient records and receives validation errors. The Clinician uploads or selects cases, receives decision reports with their evidence, and returns review decisions. The Knowledge Curator supplies rules and approved knowledge. The System Administrator sets the model configuration and fusion weights and reads the audit logs. The LLM Service receives structured evidence prompts and returns synthesized summaries.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 case diagram shows the same actors from the user's side. Run Case Analysis includes ML analysis, rule validation, knowledge retrieval, context synthesis and decision fusion.</a:t>
            </a:r>
          </a:p>
          <a:p/>
          <a:p>
            <a:r>
              <a:t>Our report also contains the Level 1 data flow diagram, the class diagram and two sequence diagrams.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Stage II evaluation answers two questions: does each component add measurable value, and does the complete system stay reliable?</a:t>
            </a:r>
          </a:p>
          <a:p/>
          <a:p>
            <a:r>
              <a:t>We will compare four conditions of increasing richness on the same data split: the ML model alone, then with the rules, then with retrieval, and finally the full fusion pipeline. An ablation study will then remove one component at a time, to check that the system does not depend too heavily on any single agent.</a:t>
            </a:r>
          </a:p>
          <a:p/>
          <a:p>
            <a:r>
              <a:t>Beyond accuracy, precision, recall, F1 and ROC-AUC, we will measure calibration error, evidence precision at five, disagreement rate, latency and per-case cost.</a:t>
            </a:r>
          </a:p>
          <a:p/>
          <a:p>
            <a:r>
              <a:t>The numbers at the bottom are design targets, not results: one case processed end to end within 30 seconds, the ML and rule stages each under one second, and every report containing all its mandatory fields. Twelve test cases are already planned.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guide asked which part of the data we train on and which part we test on.</a:t>
            </a:r>
          </a:p>
          <a:p/>
          <a:p>
            <a:r>
              <a:t>For the reported results we use one fixed split: 212 records for training, 45 for validation and 46 for testing. The split is stratified, so each part has the same share of disease cases, and the random seed is 42. The model is trained only on the training set. The validation set is kept aside for tuning the fusion weights in Stage II, and the test set is used once, for the confusion matrix on the next slide.</a:t>
            </a:r>
          </a:p>
          <a:p/>
          <a:p>
            <a:r>
              <a:t>As a robustness check we also run five-fold cross-validation. The 303 records are divided into five folds. In round one, fold one is the test fold and folds two to five train the model, and so on for each round. Accuracy ranges from 80.0% to 85.2% across the folds, with a mean of 82.2% ± 2.4%.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confusion matrix of our ML baseline on the 46 held-out test patients.</a:t>
            </a:r>
          </a:p>
          <a:p/>
          <a:p>
            <a:r>
              <a:t>The model found 19 of the 21 patients who had heart disease and missed 2, which gives a recall of 90.5%. It flagged 4 healthy patients as having disease, so precision is 82.6% and specificity is 84.0%. Overall accuracy is 87.0%, the F1-score is 86.4% and the ROC-AUC is 0.949.</a:t>
            </a:r>
          </a:p>
          <a:p/>
          <a:p>
            <a:r>
              <a:t>Because the test set is small, we also ran five-fold cross-validation on all 303 records, which gives 82.2% ± 2.4%. In Stage II these numbers become the baseline that the rules, retrieval and fusion stages have to improve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Stage I has produced a complete design. On the left: the requirement specification with nine functional and seven non-functional requirements; the architecture with explicit agent output contracts; the data flow and UML diagrams; reference logic for each module; and a twelve-case test plan. We have also written a research paper on this design and submitted it to the International Journal of Artificial Intelligence, Computational Management and Engineering Systems in October 2026.</a:t>
            </a:r>
          </a:p>
          <a:p/>
          <a:p>
            <a:r>
              <a:t>On the right is our future scope. In Stage II we will build and evaluate the prototype. After that, MedIntel could connect to hospital systems through EHR exports and HL7 FHIR with proper access control, add ontologies, knowledge graphs and specialized medical models, follow patients across repeated visits, and be validated across institutions.</a:t>
            </a:r>
          </a:p>
          <a:p/>
          <a:p>
            <a:r>
              <a:t>Throughout, the principle stays the same: every recommendation traceable to its evidence, and the final decision always with the clinician.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main references behind our work.</a:t>
            </a:r>
          </a:p>
          <a:p/>
          <a:p>
            <a:r>
              <a:t>References one and two are our base papers: the adaptive multi-agent clinical decision support system by Öğdü and colleagues, and MedAgents by Tang and colleagues. The others cover retrieval-augmented clinical systems, knowledge-graph agents, systematic and scoping reviews of language models in medicine, and self-learned clinical knowledge.</a:t>
            </a:r>
          </a:p>
          <a:p/>
          <a:p>
            <a:r>
              <a:t>The complete reference list, with DOIs, is in our report.</a:t>
            </a:r>
          </a:p>
          <a:p/>
          <a:p>
            <a:r>
              <a:t>References 13 to 17 cite the dataset and the main tools we use: the UCI Cleveland heart disease dataset, XGBoost, SHAP, the Meditron medical language model and GraphRAG.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 would be happy to answer your questions.</a:t>
            </a:r>
          </a:p>
          <a:p/>
          <a:p>
            <a:r>
              <a:t>We would especially welcome suggestions on the choice of dataset and clinical task for Stage II, since that decision will shape our model, our rules and our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JIT Nashik header: ISO 21001:2018 Certified, NAAC Accredited"/>
          <p:cNvPicPr/>
          <p:nvPr userDrawn="1"/>
        </p:nvPicPr>
        <p:blipFill>
          <a:blip r:embed="rId2" cstate="print"/>
          <a:srcRect/>
          <a:stretch>
            <a:fillRect/>
          </a:stretch>
        </p:blipFill>
        <p:spPr bwMode="auto">
          <a:xfrm>
            <a:off x="1234440" y="338328"/>
            <a:ext cx="6675120" cy="970235"/>
          </a:xfrm>
          <a:prstGeom prst="rect">
            <a:avLst/>
          </a:prstGeom>
          <a:noFill/>
          <a:ln w="9525">
            <a:noFill/>
            <a:miter lim="800000"/>
            <a:headEnd/>
            <a:tailEnd/>
          </a:ln>
        </p:spPr>
      </p:pic>
      <p:sp>
        <p:nvSpPr>
          <p:cNvPr id="4" name="Date Placeholder 3"/>
          <p:cNvSpPr>
            <a:spLocks noGrp="1"/>
          </p:cNvSpPr>
          <p:nvPr>
            <p:ph type="dt" sz="half" idx="10"/>
          </p:nvPr>
        </p:nvSpPr>
        <p:spPr/>
        <p:txBody>
          <a:bodyPr/>
          <a:lstStyle/>
          <a:p>
            <a:fld id="{3EC0734B-A135-4A84-AC0C-F2712B067107}" type="datetime1">
              <a:rPr lang="en-US" smtClean="0"/>
              <a:pPr/>
              <a:t>10/28/2025</a:t>
            </a:fld>
            <a:endParaRPr lang="en-US"/>
          </a:p>
        </p:txBody>
      </p:sp>
      <p:sp>
        <p:nvSpPr>
          <p:cNvPr id="5" name="Footer Placeholder 4"/>
          <p:cNvSpPr>
            <a:spLocks noGrp="1"/>
          </p:cNvSpPr>
          <p:nvPr>
            <p:ph type="ftr" sz="quarter" idx="11"/>
          </p:nvPr>
        </p:nvSpPr>
        <p:spPr/>
        <p:txBody>
          <a:bodyPr/>
          <a:lstStyle/>
          <a:p>
            <a:r>
              <a:rPr lang="en-US" smtClean="0"/>
              <a:t>Topic name</a:t>
            </a:r>
            <a:endParaRPr lang="en-US"/>
          </a:p>
        </p:txBody>
      </p:sp>
      <p:sp>
        <p:nvSpPr>
          <p:cNvPr id="6" name="Slide Number Placeholder 5"/>
          <p:cNvSpPr>
            <a:spLocks noGrp="1"/>
          </p:cNvSpPr>
          <p:nvPr>
            <p:ph type="sldNum" sz="quarter" idx="12"/>
          </p:nvPr>
        </p:nvSpPr>
        <p:spPr/>
        <p:txBody>
          <a:bodyPr/>
          <a:lstStyle/>
          <a:p>
            <a:fld id="{0FB9C6C4-D4D5-475A-BDB8-37D028000D8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Compact Header">
    <p:spTree>
      <p:nvGrpSpPr>
        <p:cNvPr id="1" name=""/>
        <p:cNvGrpSpPr/>
        <p:nvPr/>
      </p:nvGrpSpPr>
      <p:grpSpPr>
        <a:xfrm>
          <a:off x="0" y="0"/>
          <a:ext cx="0" cy="0"/>
          <a:chOff x="0" y="0"/>
          <a:chExt cx="0" cy="0"/>
        </a:xfrm>
      </p:grpSpPr>
      <p:pic>
        <p:nvPicPr>
          <p:cNvPr id="7" name="Picture 6" descr="JIT Nashik header: ISO 21001:2018 Certified, NAAC Accredited"/>
          <p:cNvPicPr/>
          <p:nvPr userDrawn="1"/>
        </p:nvPicPr>
        <p:blipFill>
          <a:blip r:embed="rId2" cstate="print"/>
          <a:srcRect/>
          <a:stretch>
            <a:fillRect/>
          </a:stretch>
        </p:blipFill>
        <p:spPr bwMode="auto">
          <a:xfrm>
            <a:off x="914400" y="246888"/>
            <a:ext cx="7315200" cy="841248"/>
          </a:xfrm>
          <a:prstGeom prst="rect">
            <a:avLst/>
          </a:prstGeom>
          <a:noFill/>
          <a:ln w="9525">
            <a:noFill/>
            <a:miter lim="800000"/>
            <a:headEnd/>
            <a:tailEnd/>
          </a:ln>
        </p:spPr>
      </p:pic>
      <p:sp>
        <p:nvSpPr>
          <p:cNvPr id="4" name="Date Placeholder 3"/>
          <p:cNvSpPr>
            <a:spLocks noGrp="1"/>
          </p:cNvSpPr>
          <p:nvPr>
            <p:ph type="dt" sz="half" idx="10"/>
          </p:nvPr>
        </p:nvSpPr>
        <p:spPr/>
        <p:txBody>
          <a:bodyPr/>
          <a:lstStyle/>
          <a:p>
            <a:fld id="{3EC0734B-A135-4A84-AC0C-F2712B067107}" type="datetime1">
              <a:rPr lang="en-US" smtClean="0"/>
              <a:pPr/>
              <a:t>10/28/2025</a:t>
            </a:fld>
            <a:endParaRPr lang="en-US"/>
          </a:p>
        </p:txBody>
      </p:sp>
      <p:sp>
        <p:nvSpPr>
          <p:cNvPr id="5" name="Footer Placeholder 4"/>
          <p:cNvSpPr>
            <a:spLocks noGrp="1"/>
          </p:cNvSpPr>
          <p:nvPr>
            <p:ph type="ftr" sz="quarter" idx="11"/>
          </p:nvPr>
        </p:nvSpPr>
        <p:spPr/>
        <p:txBody>
          <a:bodyPr/>
          <a:lstStyle/>
          <a:p>
            <a:r>
              <a:rPr lang="en-US" smtClean="0"/>
              <a:t>Topic name</a:t>
            </a:r>
            <a:endParaRPr lang="en-US"/>
          </a:p>
        </p:txBody>
      </p:sp>
      <p:sp>
        <p:nvSpPr>
          <p:cNvPr id="6" name="Slide Number Placeholder 5"/>
          <p:cNvSpPr>
            <a:spLocks noGrp="1"/>
          </p:cNvSpPr>
          <p:nvPr>
            <p:ph type="sldNum" sz="quarter" idx="12"/>
          </p:nvPr>
        </p:nvSpPr>
        <p:spPr/>
        <p:txBody>
          <a:bodyPr/>
          <a:lstStyle/>
          <a:p>
            <a:fld id="{0FB9C6C4-D4D5-475A-BDB8-37D028000D8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395536" y="630932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124244-4BB1-458F-88C6-29A48BBAA169}" type="datetime1">
              <a:rPr lang="en-US" smtClean="0"/>
              <a:pPr/>
              <a:t>10/28/2025</a:t>
            </a:fld>
            <a:endParaRPr lang="en-US" dirty="0"/>
          </a:p>
        </p:txBody>
      </p:sp>
      <p:sp>
        <p:nvSpPr>
          <p:cNvPr id="5" name="Footer Placeholder 4"/>
          <p:cNvSpPr>
            <a:spLocks noGrp="1"/>
          </p:cNvSpPr>
          <p:nvPr>
            <p:ph type="ftr" sz="quarter" idx="3"/>
          </p:nvPr>
        </p:nvSpPr>
        <p:spPr>
          <a:xfrm>
            <a:off x="3059832" y="630932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Topic name</a:t>
            </a:r>
            <a:endParaRPr lang="en-US" dirty="0"/>
          </a:p>
        </p:txBody>
      </p:sp>
      <p:sp>
        <p:nvSpPr>
          <p:cNvPr id="6" name="Slide Number Placeholder 5"/>
          <p:cNvSpPr>
            <a:spLocks noGrp="1"/>
          </p:cNvSpPr>
          <p:nvPr>
            <p:ph type="sldNum" sz="quarter" idx="4"/>
          </p:nvPr>
        </p:nvSpPr>
        <p:spPr>
          <a:xfrm>
            <a:off x="6372200" y="630932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9C6C4-D4D5-475A-BDB8-37D028000D8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9.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9.png"/><Relationship Id="rId7" Type="http://schemas.openxmlformats.org/officeDocument/2006/relationships/image" Target="../media/image27.png"/><Relationship Id="rId8" Type="http://schemas.openxmlformats.org/officeDocument/2006/relationships/image" Target="../media/image12.png"/><Relationship Id="rId9"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30.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6.png"/><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image" Target="../media/image3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29.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image" Target="../media/image53.png"/><Relationship Id="rId10"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3.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pn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21.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r>
              <a:rPr lang="en-US" smtClean="0"/>
              <a:t>10/30/2026</a:t>
            </a:r>
            <a:endParaRPr lang="en-US" dirty="0"/>
          </a:p>
        </p:txBody>
      </p:sp>
      <p:sp>
        <p:nvSpPr>
          <p:cNvPr id="9" name="Slide Number Placeholder 8"/>
          <p:cNvSpPr>
            <a:spLocks noGrp="1"/>
          </p:cNvSpPr>
          <p:nvPr>
            <p:ph type="sldNum" sz="quarter" idx="12"/>
          </p:nvPr>
        </p:nvSpPr>
        <p:spPr/>
        <p:txBody>
          <a:bodyPr/>
          <a:lstStyle/>
          <a:p>
            <a:fld id="{0FB9C6C4-D4D5-475A-BDB8-37D028000D81}" type="slidenum">
              <a:rPr lang="en-US" smtClean="0"/>
              <a:pPr/>
              <a:t>1</a:t>
            </a:fld>
            <a:endParaRPr lang="en-US"/>
          </a:p>
        </p:txBody>
      </p:sp>
      <p:sp>
        <p:nvSpPr>
          <p:cNvPr id="10" name="Footer Placeholder 9"/>
          <p:cNvSpPr>
            <a:spLocks noGrp="1"/>
          </p:cNvSpPr>
          <p:nvPr>
            <p:ph type="ftr" sz="quarter" idx="11"/>
          </p:nvPr>
        </p:nvSpPr>
        <p:spPr/>
        <p:txBody>
          <a:bodyPr/>
          <a:lstStyle/>
          <a:p>
            <a:r>
              <a:rPr lang="en-US" smtClean="0"/>
              <a:t>MedIntel</a:t>
            </a:r>
            <a:endParaRPr lang="en-US"/>
          </a:p>
        </p:txBody>
      </p:sp>
      <p:sp>
        <p:nvSpPr>
          <p:cNvPr id="11" name="TextBox 10"/>
          <p:cNvSpPr txBox="1"/>
          <p:nvPr/>
        </p:nvSpPr>
        <p:spPr>
          <a:xfrm>
            <a:off x="685800" y="1389888"/>
            <a:ext cx="7772400" cy="822960"/>
          </a:xfrm>
          <a:prstGeom prst="rect">
            <a:avLst/>
          </a:prstGeom>
          <a:noFill/>
        </p:spPr>
        <p:txBody>
          <a:bodyPr wrap="square" lIns="45720" tIns="27432" rIns="45720" bIns="27432" anchor="t">
            <a:noAutofit/>
          </a:bodyPr>
          <a:lstStyle/>
          <a:p>
            <a:pPr algn="ctr"/>
            <a:r>
              <a:rPr sz="2400" b="0" i="0">
                <a:solidFill>
                  <a:srgbClr val="1F1F1F"/>
                </a:solidFill>
                <a:latin typeface="Times New Roman"/>
              </a:rPr>
              <a:t>Department of Computer Engineering</a:t>
            </a:r>
          </a:p>
          <a:p>
            <a:pPr algn="ctr"/>
            <a:r>
              <a:rPr sz="2000" b="0" i="0">
                <a:solidFill>
                  <a:srgbClr val="404040"/>
                </a:solidFill>
                <a:latin typeface="Times New Roman"/>
              </a:rPr>
              <a:t>Project Stage-I Presentation  |  AY 2026-27</a:t>
            </a:r>
          </a:p>
        </p:txBody>
      </p:sp>
      <p:sp>
        <p:nvSpPr>
          <p:cNvPr id="12" name="TextBox 11"/>
          <p:cNvSpPr txBox="1"/>
          <p:nvPr/>
        </p:nvSpPr>
        <p:spPr>
          <a:xfrm>
            <a:off x="685800" y="2240280"/>
            <a:ext cx="7772400" cy="640080"/>
          </a:xfrm>
          <a:prstGeom prst="rect">
            <a:avLst/>
          </a:prstGeom>
          <a:noFill/>
        </p:spPr>
        <p:txBody>
          <a:bodyPr wrap="square" lIns="45720" tIns="27432" rIns="45720" bIns="27432" anchor="ctr">
            <a:noAutofit/>
          </a:bodyPr>
          <a:lstStyle/>
          <a:p>
            <a:pPr algn="ctr"/>
            <a:r>
              <a:rPr sz="4000" b="1" i="0">
                <a:solidFill>
                  <a:srgbClr val="8B0000"/>
                </a:solidFill>
                <a:latin typeface="Times New Roman"/>
              </a:rPr>
              <a:t>MedIntel</a:t>
            </a:r>
          </a:p>
        </p:txBody>
      </p:sp>
      <p:sp>
        <p:nvSpPr>
          <p:cNvPr id="13" name="TextBox 12"/>
          <p:cNvSpPr txBox="1"/>
          <p:nvPr/>
        </p:nvSpPr>
        <p:spPr>
          <a:xfrm>
            <a:off x="685800" y="2834640"/>
            <a:ext cx="7772400" cy="384048"/>
          </a:xfrm>
          <a:prstGeom prst="rect">
            <a:avLst/>
          </a:prstGeom>
          <a:noFill/>
        </p:spPr>
        <p:txBody>
          <a:bodyPr wrap="square" lIns="45720" tIns="27432" rIns="45720" bIns="27432" anchor="ctr">
            <a:noAutofit/>
          </a:bodyPr>
          <a:lstStyle/>
          <a:p>
            <a:pPr algn="ctr"/>
            <a:r>
              <a:rPr sz="1800" b="0" i="1">
                <a:solidFill>
                  <a:srgbClr val="595959"/>
                </a:solidFill>
                <a:latin typeface="Times New Roman"/>
              </a:rPr>
              <a:t>A Multi-Agent AI Framework for Clinical Decision Support</a:t>
            </a:r>
          </a:p>
        </p:txBody>
      </p:sp>
      <p:cxnSp>
        <p:nvCxnSpPr>
          <p:cNvPr id="14" name="Connector 13"/>
          <p:cNvCxnSpPr/>
          <p:nvPr/>
        </p:nvCxnSpPr>
        <p:spPr>
          <a:xfrm>
            <a:off x="3566160" y="3310128"/>
            <a:ext cx="2011680" cy="0"/>
          </a:xfrm>
          <a:prstGeom prst="line">
            <a:avLst/>
          </a:prstGeom>
          <a:ln w="19050">
            <a:solidFill>
              <a:srgbClr val="8B0000"/>
            </a:solidFill>
          </a:ln>
        </p:spPr>
      </p:cxnSp>
      <p:sp>
        <p:nvSpPr>
          <p:cNvPr id="15" name="TextBox 14"/>
          <p:cNvSpPr txBox="1"/>
          <p:nvPr/>
        </p:nvSpPr>
        <p:spPr>
          <a:xfrm>
            <a:off x="685800" y="3429000"/>
            <a:ext cx="7772400" cy="411480"/>
          </a:xfrm>
          <a:prstGeom prst="rect">
            <a:avLst/>
          </a:prstGeom>
          <a:noFill/>
        </p:spPr>
        <p:txBody>
          <a:bodyPr wrap="square" lIns="45720" tIns="27432" rIns="45720" bIns="27432" anchor="ctr">
            <a:noAutofit/>
          </a:bodyPr>
          <a:lstStyle/>
          <a:p>
            <a:pPr algn="ctr"/>
            <a:r>
              <a:rPr sz="2000" b="0" i="1">
                <a:solidFill>
                  <a:srgbClr val="404040"/>
                </a:solidFill>
                <a:latin typeface="Times New Roman"/>
              </a:rPr>
              <a:t>Project Guide: </a:t>
            </a:r>
            <a:r>
              <a:rPr sz="2000" b="0" i="0">
                <a:solidFill>
                  <a:srgbClr val="1F1F1F"/>
                </a:solidFill>
                <a:latin typeface="Times New Roman"/>
              </a:rPr>
              <a:t>Prof. G. P. Mohole</a:t>
            </a:r>
          </a:p>
        </p:txBody>
      </p:sp>
      <p:sp>
        <p:nvSpPr>
          <p:cNvPr id="16" name="TextBox 15"/>
          <p:cNvSpPr txBox="1"/>
          <p:nvPr/>
        </p:nvSpPr>
        <p:spPr>
          <a:xfrm>
            <a:off x="1417320" y="4069080"/>
            <a:ext cx="1828800" cy="411480"/>
          </a:xfrm>
          <a:prstGeom prst="rect">
            <a:avLst/>
          </a:prstGeom>
          <a:noFill/>
        </p:spPr>
        <p:txBody>
          <a:bodyPr wrap="square" lIns="45720" tIns="27432" rIns="45720" bIns="27432" anchor="t">
            <a:noAutofit/>
          </a:bodyPr>
          <a:lstStyle/>
          <a:p>
            <a:pPr algn="r"/>
            <a:r>
              <a:rPr sz="2000" b="0" i="1">
                <a:solidFill>
                  <a:srgbClr val="404040"/>
                </a:solidFill>
                <a:latin typeface="Times New Roman"/>
              </a:rPr>
              <a:t>Presented by</a:t>
            </a:r>
          </a:p>
        </p:txBody>
      </p:sp>
      <p:sp>
        <p:nvSpPr>
          <p:cNvPr id="17" name="TextBox 16"/>
          <p:cNvSpPr txBox="1"/>
          <p:nvPr/>
        </p:nvSpPr>
        <p:spPr>
          <a:xfrm>
            <a:off x="3337560" y="4069080"/>
            <a:ext cx="4572000" cy="1600200"/>
          </a:xfrm>
          <a:prstGeom prst="rect">
            <a:avLst/>
          </a:prstGeom>
          <a:noFill/>
        </p:spPr>
        <p:txBody>
          <a:bodyPr wrap="square" lIns="45720" tIns="27432" rIns="45720" bIns="27432" anchor="t">
            <a:noAutofit/>
          </a:bodyPr>
          <a:lstStyle/>
          <a:p>
            <a:pPr algn="l"/>
            <a:r>
              <a:rPr sz="2000" b="0" i="0">
                <a:solidFill>
                  <a:srgbClr val="1F1F1F"/>
                </a:solidFill>
                <a:latin typeface="Times New Roman"/>
              </a:rPr>
              <a:t>1. Siddhesh Kishor Suryawanshi</a:t>
            </a:r>
          </a:p>
          <a:p>
            <a:pPr algn="l"/>
            <a:r>
              <a:rPr sz="2000" b="0" i="0">
                <a:solidFill>
                  <a:srgbClr val="1F1F1F"/>
                </a:solidFill>
                <a:latin typeface="Times New Roman"/>
              </a:rPr>
              <a:t>2. Shantanu Avinash Patil</a:t>
            </a:r>
          </a:p>
          <a:p>
            <a:pPr algn="l"/>
            <a:r>
              <a:rPr sz="2000" b="0" i="0">
                <a:solidFill>
                  <a:srgbClr val="1F1F1F"/>
                </a:solidFill>
                <a:latin typeface="Times New Roman"/>
              </a:rPr>
              <a:t>3. Omkar Abaji Musale</a:t>
            </a:r>
          </a:p>
          <a:p>
            <a:pPr algn="l"/>
            <a:r>
              <a:rPr sz="2000" b="0" i="0">
                <a:solidFill>
                  <a:srgbClr val="1F1F1F"/>
                </a:solidFill>
                <a:latin typeface="Times New Roman"/>
              </a:rPr>
              <a:t>4. Tanmay Shriniwas Bagul</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10/30/2026</a:t>
            </a:r>
            <a:endParaRPr lang="en-US"/>
          </a:p>
        </p:txBody>
      </p:sp>
      <p:sp>
        <p:nvSpPr>
          <p:cNvPr id="3" name="Slide Number Placeholder 2"/>
          <p:cNvSpPr>
            <a:spLocks noGrp="1"/>
          </p:cNvSpPr>
          <p:nvPr>
            <p:ph type="sldNum" sz="quarter" idx="12"/>
          </p:nvPr>
        </p:nvSpPr>
        <p:spPr/>
        <p:txBody>
          <a:bodyPr/>
          <a:lstStyle/>
          <a:p>
            <a:fld id="{0FB9C6C4-D4D5-475A-BDB8-37D028000D81}" type="slidenum">
              <a:rPr lang="en-US" smtClean="0"/>
              <a:pPr/>
              <a:t>2</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Title 1">
            <a:extLst>
              <a:ext uri="{FF2B5EF4-FFF2-40B4-BE49-F238E27FC236}">
                <a16:creationId xmlns="" xmlns:a16="http://schemas.microsoft.com/office/drawing/2014/main" id="{F15B2D97-5658-409F-A2C3-2F7829E9E66C}"/>
              </a:ext>
            </a:extLst>
          </p:cNvPr>
          <p:cNvSpPr txBox="1">
            <a:spLocks/>
          </p:cNvSpPr>
          <p:nvPr/>
        </p:nvSpPr>
        <p:spPr>
          <a:xfrm>
            <a:off x="539552" y="1412776"/>
            <a:ext cx="7416824" cy="576064"/>
          </a:xfrm>
          <a:prstGeom prst="rect">
            <a:avLst/>
          </a:prstGeom>
        </p:spPr>
        <p:txBody>
          <a:bodyPr>
            <a:normAutofit fontScale="825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tx1"/>
                </a:solidFill>
                <a:effectLst/>
                <a:uLnTx/>
                <a:uFillTx/>
                <a:latin typeface="Times New Roman" pitchFamily="18" charset="0"/>
                <a:ea typeface="+mj-ea"/>
                <a:cs typeface="Times New Roman" pitchFamily="18" charset="0"/>
              </a:rPr>
              <a:t>Table of Contents</a:t>
            </a:r>
            <a:endPar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6" name="Content Placeholder 2">
            <a:extLst>
              <a:ext uri="{FF2B5EF4-FFF2-40B4-BE49-F238E27FC236}">
                <a16:creationId xmlns="" xmlns:a16="http://schemas.microsoft.com/office/drawing/2014/main" id="{3D7AFBD3-7250-45FE-8B2B-1974D277B5F6}"/>
              </a:ext>
            </a:extLst>
          </p:cNvPr>
          <p:cNvSpPr txBox="1">
            <a:spLocks/>
          </p:cNvSpPr>
          <p:nvPr/>
        </p:nvSpPr>
        <p:spPr>
          <a:xfrm>
            <a:off x="539552" y="1916832"/>
            <a:ext cx="8280920" cy="4248472"/>
          </a:xfrm>
          <a:prstGeom prst="rect">
            <a:avLst/>
          </a:prstGeom>
        </p:spPr>
        <p:txBody>
          <a:bodyPr numCol="2">
            <a:normAutofit fontScale="62500" lnSpcReduction="20000"/>
          </a:bodyPr>
          <a:lstStyle/>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Abstract</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Introduction</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Motivation Behind This Topic</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Literature Survey(In Tabular             	Format only)</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Goals and Objective</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Problem Statement</a:t>
            </a:r>
          </a:p>
          <a:p>
            <a:pPr marL="34290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System Architecture</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Software Requirement Specification</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Project Scope</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User Classes &amp; Characteristics</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Assumptions &amp; Dependencies</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Functional Requirements and Non-Functional Requirements </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Performance Requirements</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Security Requirements</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System Requirements</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Database Requirements</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Software Requirements</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Hardware Requirements</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UML Diagrams/ DFD</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Use Case Diagram</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Class Diagram</a:t>
            </a:r>
          </a:p>
          <a:p>
            <a:pPr marL="1428750" marR="0" lvl="2" indent="-514350" algn="l" defTabSz="914400" rtl="0" eaLnBrk="1" fontAlgn="auto" latinLnBrk="0" hangingPunct="1">
              <a:lnSpc>
                <a:spcPct val="100000"/>
              </a:lnSpc>
              <a:spcBef>
                <a:spcPct val="20000"/>
              </a:spcBef>
              <a:spcAft>
                <a:spcPts val="0"/>
              </a:spcAft>
              <a:buClrTx/>
              <a:buSzTx/>
              <a:buFont typeface="+mj-lt"/>
              <a:buAutoNum type="romanUcPeriod"/>
              <a:tabLst/>
              <a:defRPr/>
            </a:pP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Sequence Diagram(</a:t>
            </a:r>
            <a:r>
              <a:rPr kumimoji="0" lang="en-US" sz="2100" b="0" i="0" u="none" strike="noStrike" kern="1200" cap="none" spc="0" normalizeH="0" baseline="0" noProof="0" dirty="0" err="1" smtClean="0">
                <a:ln>
                  <a:noFill/>
                </a:ln>
                <a:solidFill>
                  <a:schemeClr val="tx1"/>
                </a:solidFill>
                <a:effectLst/>
                <a:uLnTx/>
                <a:uFillTx/>
                <a:latin typeface="Times New Roman" pitchFamily="18" charset="0"/>
                <a:cs typeface="Times New Roman" pitchFamily="18" charset="0"/>
              </a:rPr>
              <a:t>plz</a:t>
            </a:r>
            <a:r>
              <a:rPr kumimoji="0" lang="en-US" sz="21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add other dig. in project report)</a:t>
            </a: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Mathematical Model</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Methodology</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Merits, Limitations and Conclusion</a:t>
            </a:r>
          </a:p>
          <a:p>
            <a:pPr marL="514350" marR="0" lvl="0" indent="-514350" algn="l" defTabSz="914400" rtl="0" eaLnBrk="1" fontAlgn="auto" latinLnBrk="0" hangingPunct="1">
              <a:lnSpc>
                <a:spcPct val="100000"/>
              </a:lnSpc>
              <a:spcBef>
                <a:spcPct val="20000"/>
              </a:spcBef>
              <a:spcAft>
                <a:spcPts val="0"/>
              </a:spcAft>
              <a:buClrTx/>
              <a:buSzTx/>
              <a:buFont typeface="+mj-lt"/>
              <a:buAutoNum type="arabicPeriod"/>
              <a:tabLst/>
              <a:defRPr/>
            </a:pPr>
            <a:r>
              <a:rPr kumimoji="0" lang="en-US" sz="32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References</a:t>
            </a:r>
            <a:endParaRPr kumimoji="0" lang="en-US" sz="32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Abstract</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810511"/>
            <a:ext cx="8686800" cy="3017520"/>
          </a:xfrm>
          <a:prstGeom prst="roundRect">
            <a:avLst>
              <a:gd name="adj" fmla="val 4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TextBox 7"/>
          <p:cNvSpPr txBox="1"/>
          <p:nvPr/>
        </p:nvSpPr>
        <p:spPr>
          <a:xfrm>
            <a:off x="411480" y="1865376"/>
            <a:ext cx="8321040" cy="2907792"/>
          </a:xfrm>
          <a:prstGeom prst="rect">
            <a:avLst/>
          </a:prstGeom>
          <a:noFill/>
        </p:spPr>
        <p:txBody>
          <a:bodyPr wrap="square" lIns="45720" tIns="27432" rIns="45720" bIns="27432" anchor="ctr">
            <a:noAutofit/>
          </a:bodyPr>
          <a:lstStyle/>
          <a:p>
            <a:pPr algn="just"/>
            <a:r>
              <a:rPr sz="1400" b="0" i="0">
                <a:solidFill>
                  <a:srgbClr val="1F1F1F"/>
                </a:solidFill>
                <a:latin typeface="Times New Roman"/>
              </a:rPr>
              <a:t>Clinical decision support systems help clinicians interpret patient data, but systems built around one opaque model, or around a chain of language-model agents, rarely show which evidence produced a recommendation. MedIntel is a multi-agent framework for patient-level decision support that keeps learned, rule-based and retrieved evidence separate. Each validated patient record is analysed by an XGBoost classifier, a versioned clinical rulebase and a GraphRAG retriever built on FAISS and Neo4j. A locally served medical LLM (Meditron-7B) reconciles their typed outputs and names conflicts, and an explicit confidence function, C = αM + βR + γK − λD, fuses them into one scored recommendation. Every decision report carries an audit trail of features, rules, sources and versions, and a clinician reviews each report before any outcome re-enters the knowledge store. Patients are processed in parallel in isolated contexts. Stage I delivers the requirements, architecture, DFD and UML design and a 12-case test plan; an ML-only baseline on the Cleveland Heart Disease dataset reaches 87.0% test accuracy, and the full pipeline will be evaluated in Stage II.</a:t>
            </a:r>
          </a:p>
        </p:txBody>
      </p:sp>
      <p:sp>
        <p:nvSpPr>
          <p:cNvPr id="9" name="TextBox 8"/>
          <p:cNvSpPr txBox="1"/>
          <p:nvPr/>
        </p:nvSpPr>
        <p:spPr>
          <a:xfrm>
            <a:off x="228600" y="4937760"/>
            <a:ext cx="1051560" cy="292608"/>
          </a:xfrm>
          <a:prstGeom prst="rect">
            <a:avLst/>
          </a:prstGeom>
          <a:noFill/>
        </p:spPr>
        <p:txBody>
          <a:bodyPr wrap="square" lIns="45720" tIns="27432" rIns="45720" bIns="27432" anchor="ctr">
            <a:noAutofit/>
          </a:bodyPr>
          <a:lstStyle/>
          <a:p>
            <a:pPr algn="l"/>
            <a:r>
              <a:rPr sz="1200" b="1" i="0">
                <a:solidFill>
                  <a:srgbClr val="8B0000"/>
                </a:solidFill>
                <a:latin typeface="Times New Roman"/>
              </a:rPr>
              <a:t>Keywords:</a:t>
            </a:r>
          </a:p>
        </p:txBody>
      </p:sp>
      <p:sp>
        <p:nvSpPr>
          <p:cNvPr id="10" name="Rounded Rectangle 9"/>
          <p:cNvSpPr/>
          <p:nvPr/>
        </p:nvSpPr>
        <p:spPr>
          <a:xfrm>
            <a:off x="1280160" y="4946904"/>
            <a:ext cx="1773936"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Clinical decision support</a:t>
            </a:r>
          </a:p>
        </p:txBody>
      </p:sp>
      <p:sp>
        <p:nvSpPr>
          <p:cNvPr id="11" name="Rounded Rectangle 10"/>
          <p:cNvSpPr/>
          <p:nvPr/>
        </p:nvSpPr>
        <p:spPr>
          <a:xfrm>
            <a:off x="3127248" y="4946904"/>
            <a:ext cx="1400860"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Multi-agent systems</a:t>
            </a:r>
          </a:p>
        </p:txBody>
      </p:sp>
      <p:sp>
        <p:nvSpPr>
          <p:cNvPr id="12" name="Rounded Rectangle 11"/>
          <p:cNvSpPr/>
          <p:nvPr/>
        </p:nvSpPr>
        <p:spPr>
          <a:xfrm>
            <a:off x="4601260" y="4946904"/>
            <a:ext cx="868680"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GraphRAG</a:t>
            </a:r>
          </a:p>
        </p:txBody>
      </p:sp>
      <p:sp>
        <p:nvSpPr>
          <p:cNvPr id="13" name="Rounded Rectangle 12"/>
          <p:cNvSpPr/>
          <p:nvPr/>
        </p:nvSpPr>
        <p:spPr>
          <a:xfrm>
            <a:off x="5543092" y="4946904"/>
            <a:ext cx="1089964"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Explainable AI</a:t>
            </a:r>
          </a:p>
        </p:txBody>
      </p:sp>
      <p:sp>
        <p:nvSpPr>
          <p:cNvPr id="14" name="Rounded Rectangle 13"/>
          <p:cNvSpPr/>
          <p:nvPr/>
        </p:nvSpPr>
        <p:spPr>
          <a:xfrm>
            <a:off x="6706209" y="4946904"/>
            <a:ext cx="1276502"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Confidence fusion</a:t>
            </a:r>
          </a:p>
        </p:txBody>
      </p:sp>
      <p:sp>
        <p:nvSpPr>
          <p:cNvPr id="15" name="Rounded Rectangle 14"/>
          <p:cNvSpPr/>
          <p:nvPr/>
        </p:nvSpPr>
        <p:spPr>
          <a:xfrm>
            <a:off x="8055864" y="4946904"/>
            <a:ext cx="868680" cy="274320"/>
          </a:xfrm>
          <a:prstGeom prst="roundRect">
            <a:avLst>
              <a:gd name="adj" fmla="val 50000"/>
            </a:avLst>
          </a:prstGeom>
          <a:solidFill>
            <a:srgbClr val="FFFFFF"/>
          </a:solidFill>
          <a:ln w="9525">
            <a:solidFill>
              <a:srgbClr val="8B0000"/>
            </a:solidFill>
          </a:ln>
        </p:spPr>
        <p:txBody>
          <a:bodyPr rtlCol="0" anchor="ctr" wrap="square" lIns="18288" tIns="0" rIns="18288" bIns="0">
            <a:noAutofit/>
          </a:bodyPr>
          <a:lstStyle/>
          <a:p>
            <a:pPr algn="ctr"/>
            <a:r>
              <a:rPr sz="1000" b="0" i="0">
                <a:solidFill>
                  <a:srgbClr val="8B0000"/>
                </a:solidFill>
                <a:latin typeface="Times New Roman"/>
              </a:rPr>
              <a:t>XGBoost</a:t>
            </a:r>
          </a:p>
        </p:txBody>
      </p:sp>
      <p:sp>
        <p:nvSpPr>
          <p:cNvPr id="16" name="Rounded Rectangle 15"/>
          <p:cNvSpPr/>
          <p:nvPr/>
        </p:nvSpPr>
        <p:spPr>
          <a:xfrm>
            <a:off x="228600" y="5321808"/>
            <a:ext cx="2103120" cy="603504"/>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7" name="TextBox 16"/>
          <p:cNvSpPr txBox="1"/>
          <p:nvPr/>
        </p:nvSpPr>
        <p:spPr>
          <a:xfrm>
            <a:off x="265176" y="5321808"/>
            <a:ext cx="841248" cy="603504"/>
          </a:xfrm>
          <a:prstGeom prst="rect">
            <a:avLst/>
          </a:prstGeom>
          <a:noFill/>
        </p:spPr>
        <p:txBody>
          <a:bodyPr wrap="square" lIns="0" tIns="0" rIns="0" bIns="0" anchor="ctr">
            <a:noAutofit/>
          </a:bodyPr>
          <a:lstStyle/>
          <a:p>
            <a:pPr algn="ctr"/>
            <a:r>
              <a:rPr sz="1700" b="1" i="0">
                <a:solidFill>
                  <a:srgbClr val="8B0000"/>
                </a:solidFill>
                <a:latin typeface="Times New Roman"/>
              </a:rPr>
              <a:t>7</a:t>
            </a:r>
          </a:p>
        </p:txBody>
      </p:sp>
      <p:sp>
        <p:nvSpPr>
          <p:cNvPr id="18" name="TextBox 17"/>
          <p:cNvSpPr txBox="1"/>
          <p:nvPr/>
        </p:nvSpPr>
        <p:spPr>
          <a:xfrm>
            <a:off x="1106424" y="5321808"/>
            <a:ext cx="1188720" cy="603504"/>
          </a:xfrm>
          <a:prstGeom prst="rect">
            <a:avLst/>
          </a:prstGeom>
          <a:noFill/>
        </p:spPr>
        <p:txBody>
          <a:bodyPr wrap="square" lIns="18288" tIns="0" rIns="18288" bIns="0" anchor="ctr">
            <a:noAutofit/>
          </a:bodyPr>
          <a:lstStyle/>
          <a:p>
            <a:pPr algn="l"/>
            <a:r>
              <a:rPr sz="1000" b="0" i="0">
                <a:solidFill>
                  <a:srgbClr val="404040"/>
                </a:solidFill>
                <a:latin typeface="Times New Roman"/>
              </a:rPr>
              <a:t>pipeline stages</a:t>
            </a:r>
          </a:p>
        </p:txBody>
      </p:sp>
      <p:sp>
        <p:nvSpPr>
          <p:cNvPr id="19" name="Rounded Rectangle 18"/>
          <p:cNvSpPr/>
          <p:nvPr/>
        </p:nvSpPr>
        <p:spPr>
          <a:xfrm>
            <a:off x="2423160" y="5321808"/>
            <a:ext cx="2103120" cy="603504"/>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0" name="TextBox 19"/>
          <p:cNvSpPr txBox="1"/>
          <p:nvPr/>
        </p:nvSpPr>
        <p:spPr>
          <a:xfrm>
            <a:off x="2459736" y="5321808"/>
            <a:ext cx="841248" cy="603504"/>
          </a:xfrm>
          <a:prstGeom prst="rect">
            <a:avLst/>
          </a:prstGeom>
          <a:noFill/>
        </p:spPr>
        <p:txBody>
          <a:bodyPr wrap="square" lIns="0" tIns="0" rIns="0" bIns="0" anchor="ctr">
            <a:noAutofit/>
          </a:bodyPr>
          <a:lstStyle/>
          <a:p>
            <a:pPr algn="ctr"/>
            <a:r>
              <a:rPr sz="1700" b="1" i="0">
                <a:solidFill>
                  <a:srgbClr val="8B0000"/>
                </a:solidFill>
                <a:latin typeface="Times New Roman"/>
              </a:rPr>
              <a:t>6</a:t>
            </a:r>
          </a:p>
        </p:txBody>
      </p:sp>
      <p:sp>
        <p:nvSpPr>
          <p:cNvPr id="21" name="TextBox 20"/>
          <p:cNvSpPr txBox="1"/>
          <p:nvPr/>
        </p:nvSpPr>
        <p:spPr>
          <a:xfrm>
            <a:off x="3300984" y="5321808"/>
            <a:ext cx="1188720" cy="603504"/>
          </a:xfrm>
          <a:prstGeom prst="rect">
            <a:avLst/>
          </a:prstGeom>
          <a:noFill/>
        </p:spPr>
        <p:txBody>
          <a:bodyPr wrap="square" lIns="18288" tIns="0" rIns="18288" bIns="0" anchor="ctr">
            <a:noAutofit/>
          </a:bodyPr>
          <a:lstStyle/>
          <a:p>
            <a:pPr algn="l"/>
            <a:r>
              <a:rPr sz="1000" b="0" i="0">
                <a:solidFill>
                  <a:srgbClr val="404040"/>
                </a:solidFill>
                <a:latin typeface="Times New Roman"/>
              </a:rPr>
              <a:t>components with typed outputs</a:t>
            </a:r>
          </a:p>
        </p:txBody>
      </p:sp>
      <p:sp>
        <p:nvSpPr>
          <p:cNvPr id="22" name="Rounded Rectangle 21"/>
          <p:cNvSpPr/>
          <p:nvPr/>
        </p:nvSpPr>
        <p:spPr>
          <a:xfrm>
            <a:off x="4617720" y="5321808"/>
            <a:ext cx="2103120" cy="603504"/>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3" name="TextBox 22"/>
          <p:cNvSpPr txBox="1"/>
          <p:nvPr/>
        </p:nvSpPr>
        <p:spPr>
          <a:xfrm>
            <a:off x="4654296" y="5321808"/>
            <a:ext cx="841248" cy="603504"/>
          </a:xfrm>
          <a:prstGeom prst="rect">
            <a:avLst/>
          </a:prstGeom>
          <a:noFill/>
        </p:spPr>
        <p:txBody>
          <a:bodyPr wrap="square" lIns="0" tIns="0" rIns="0" bIns="0" anchor="ctr">
            <a:noAutofit/>
          </a:bodyPr>
          <a:lstStyle/>
          <a:p>
            <a:pPr algn="ctr"/>
            <a:r>
              <a:rPr sz="1700" b="1" i="0">
                <a:solidFill>
                  <a:srgbClr val="8B0000"/>
                </a:solidFill>
                <a:latin typeface="Times New Roman"/>
              </a:rPr>
              <a:t>9 + 7</a:t>
            </a:r>
          </a:p>
        </p:txBody>
      </p:sp>
      <p:sp>
        <p:nvSpPr>
          <p:cNvPr id="24" name="TextBox 23"/>
          <p:cNvSpPr txBox="1"/>
          <p:nvPr/>
        </p:nvSpPr>
        <p:spPr>
          <a:xfrm>
            <a:off x="5495544" y="5321808"/>
            <a:ext cx="1188720" cy="603504"/>
          </a:xfrm>
          <a:prstGeom prst="rect">
            <a:avLst/>
          </a:prstGeom>
          <a:noFill/>
        </p:spPr>
        <p:txBody>
          <a:bodyPr wrap="square" lIns="18288" tIns="0" rIns="18288" bIns="0" anchor="ctr">
            <a:noAutofit/>
          </a:bodyPr>
          <a:lstStyle/>
          <a:p>
            <a:pPr algn="l"/>
            <a:r>
              <a:rPr sz="1000" b="0" i="0">
                <a:solidFill>
                  <a:srgbClr val="404040"/>
                </a:solidFill>
                <a:latin typeface="Times New Roman"/>
              </a:rPr>
              <a:t>functional and non-functional requirements</a:t>
            </a:r>
          </a:p>
        </p:txBody>
      </p:sp>
      <p:sp>
        <p:nvSpPr>
          <p:cNvPr id="25" name="Rounded Rectangle 24"/>
          <p:cNvSpPr/>
          <p:nvPr/>
        </p:nvSpPr>
        <p:spPr>
          <a:xfrm>
            <a:off x="6812279" y="5321808"/>
            <a:ext cx="2103120" cy="603504"/>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6" name="TextBox 25"/>
          <p:cNvSpPr txBox="1"/>
          <p:nvPr/>
        </p:nvSpPr>
        <p:spPr>
          <a:xfrm>
            <a:off x="6848855" y="5321808"/>
            <a:ext cx="841248" cy="603504"/>
          </a:xfrm>
          <a:prstGeom prst="rect">
            <a:avLst/>
          </a:prstGeom>
          <a:noFill/>
        </p:spPr>
        <p:txBody>
          <a:bodyPr wrap="square" lIns="0" tIns="0" rIns="0" bIns="0" anchor="ctr">
            <a:noAutofit/>
          </a:bodyPr>
          <a:lstStyle/>
          <a:p>
            <a:pPr algn="ctr"/>
            <a:r>
              <a:rPr sz="1700" b="1" i="0">
                <a:solidFill>
                  <a:srgbClr val="8B0000"/>
                </a:solidFill>
                <a:latin typeface="Times New Roman"/>
              </a:rPr>
              <a:t>87.0%</a:t>
            </a:r>
          </a:p>
        </p:txBody>
      </p:sp>
      <p:sp>
        <p:nvSpPr>
          <p:cNvPr id="27" name="TextBox 26"/>
          <p:cNvSpPr txBox="1"/>
          <p:nvPr/>
        </p:nvSpPr>
        <p:spPr>
          <a:xfrm>
            <a:off x="7690104" y="5321808"/>
            <a:ext cx="1188720" cy="603504"/>
          </a:xfrm>
          <a:prstGeom prst="rect">
            <a:avLst/>
          </a:prstGeom>
          <a:noFill/>
        </p:spPr>
        <p:txBody>
          <a:bodyPr wrap="square" lIns="18288" tIns="0" rIns="18288" bIns="0" anchor="ctr">
            <a:noAutofit/>
          </a:bodyPr>
          <a:lstStyle/>
          <a:p>
            <a:pPr algn="l"/>
            <a:r>
              <a:rPr sz="1000" b="0" i="0">
                <a:solidFill>
                  <a:srgbClr val="404040"/>
                </a:solidFill>
                <a:latin typeface="Times New Roman"/>
              </a:rPr>
              <a:t>ML baseline test accuracy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 Introduction &amp; Motivation</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TextBox 6"/>
          <p:cNvSpPr txBox="1"/>
          <p:nvPr/>
        </p:nvSpPr>
        <p:spPr>
          <a:xfrm>
            <a:off x="228600" y="1783080"/>
            <a:ext cx="5577840" cy="1325880"/>
          </a:xfrm>
          <a:prstGeom prst="rect">
            <a:avLst/>
          </a:prstGeom>
          <a:noFill/>
        </p:spPr>
        <p:txBody>
          <a:bodyPr wrap="square" lIns="45720" tIns="27432" rIns="45720" bIns="27432" anchor="t">
            <a:noAutofit/>
          </a:bodyPr>
          <a:lstStyle/>
          <a:p>
            <a:pPr algn="l">
              <a:spcAft>
                <a:spcPts val="600"/>
              </a:spcAft>
            </a:pPr>
            <a:r>
              <a:rPr sz="1400" b="0" i="0">
                <a:solidFill>
                  <a:srgbClr val="1F1F1F"/>
                </a:solidFill>
                <a:latin typeface="Times New Roman"/>
              </a:rPr>
              <a:t>Clinical decision support systems (CDSS) help clinicians interpret patient data through alerts, risk estimates and suggested next steps [7].</a:t>
            </a:r>
          </a:p>
          <a:p>
            <a:pPr algn="l"/>
            <a:r>
              <a:rPr sz="1400" b="0" i="0">
                <a:solidFill>
                  <a:srgbClr val="1F1F1F"/>
                </a:solidFill>
                <a:latin typeface="Times New Roman"/>
              </a:rPr>
              <a:t>Large language models (LLMs) have widened what CDSS can do [11], yet reviews keep reporting the same weaknesses: calibration, validation and transparency [7].</a:t>
            </a:r>
          </a:p>
        </p:txBody>
      </p:sp>
      <p:sp>
        <p:nvSpPr>
          <p:cNvPr id="8" name="Rounded Rectangle 7"/>
          <p:cNvSpPr/>
          <p:nvPr/>
        </p:nvSpPr>
        <p:spPr>
          <a:xfrm>
            <a:off x="5989320" y="1810511"/>
            <a:ext cx="2926080" cy="1280160"/>
          </a:xfrm>
          <a:prstGeom prst="roundRect">
            <a:avLst>
              <a:gd name="adj" fmla="val 1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9" name="Picture 8" descr=""/>
          <p:cNvPicPr>
            <a:picLocks noChangeAspect="1"/>
          </p:cNvPicPr>
          <p:nvPr/>
        </p:nvPicPr>
        <p:blipFill>
          <a:blip r:embed="rId2"/>
          <a:stretch>
            <a:fillRect/>
          </a:stretch>
        </p:blipFill>
        <p:spPr>
          <a:xfrm>
            <a:off x="6126480" y="1901952"/>
            <a:ext cx="237744" cy="237744"/>
          </a:xfrm>
          <a:prstGeom prst="rect">
            <a:avLst/>
          </a:prstGeom>
        </p:spPr>
      </p:pic>
      <p:sp>
        <p:nvSpPr>
          <p:cNvPr id="10" name="TextBox 9"/>
          <p:cNvSpPr txBox="1"/>
          <p:nvPr/>
        </p:nvSpPr>
        <p:spPr>
          <a:xfrm>
            <a:off x="6400800" y="1856232"/>
            <a:ext cx="2468880" cy="329184"/>
          </a:xfrm>
          <a:prstGeom prst="rect">
            <a:avLst/>
          </a:prstGeom>
          <a:noFill/>
        </p:spPr>
        <p:txBody>
          <a:bodyPr wrap="square" lIns="45720" tIns="27432" rIns="45720" bIns="27432" anchor="ctr">
            <a:noAutofit/>
          </a:bodyPr>
          <a:lstStyle/>
          <a:p>
            <a:pPr algn="l"/>
            <a:r>
              <a:rPr sz="1150" b="1" i="0">
                <a:solidFill>
                  <a:srgbClr val="8B0000"/>
                </a:solidFill>
                <a:latin typeface="Times New Roman"/>
              </a:rPr>
              <a:t>Weaknesses reported in reviews [7]</a:t>
            </a:r>
          </a:p>
        </p:txBody>
      </p:sp>
      <p:sp>
        <p:nvSpPr>
          <p:cNvPr id="11" name="Rounded Rectangle 10"/>
          <p:cNvSpPr/>
          <p:nvPr/>
        </p:nvSpPr>
        <p:spPr>
          <a:xfrm>
            <a:off x="6089904" y="2359152"/>
            <a:ext cx="841248" cy="329184"/>
          </a:xfrm>
          <a:prstGeom prst="roundRect">
            <a:avLst>
              <a:gd name="adj" fmla="val 50000"/>
            </a:avLst>
          </a:prstGeom>
          <a:solidFill>
            <a:srgbClr val="FFFFFF"/>
          </a:solidFill>
          <a:ln w="12700">
            <a:solidFill>
              <a:srgbClr val="8B0000"/>
            </a:solidFill>
          </a:ln>
        </p:spPr>
        <p:txBody>
          <a:bodyPr rtlCol="0" anchor="ctr" wrap="square" lIns="0" tIns="0" rIns="0" bIns="0">
            <a:noAutofit/>
          </a:bodyPr>
          <a:lstStyle/>
          <a:p>
            <a:pPr algn="ctr"/>
            <a:r>
              <a:rPr sz="1050" b="1" i="0">
                <a:solidFill>
                  <a:srgbClr val="8B0000"/>
                </a:solidFill>
                <a:latin typeface="Times New Roman"/>
              </a:rPr>
              <a:t>Calibration</a:t>
            </a:r>
          </a:p>
        </p:txBody>
      </p:sp>
      <p:sp>
        <p:nvSpPr>
          <p:cNvPr id="12" name="Rounded Rectangle 11"/>
          <p:cNvSpPr/>
          <p:nvPr/>
        </p:nvSpPr>
        <p:spPr>
          <a:xfrm>
            <a:off x="6995160" y="2359152"/>
            <a:ext cx="786384" cy="329184"/>
          </a:xfrm>
          <a:prstGeom prst="roundRect">
            <a:avLst>
              <a:gd name="adj" fmla="val 50000"/>
            </a:avLst>
          </a:prstGeom>
          <a:solidFill>
            <a:srgbClr val="FFFFFF"/>
          </a:solidFill>
          <a:ln w="12700">
            <a:solidFill>
              <a:srgbClr val="8B0000"/>
            </a:solidFill>
          </a:ln>
        </p:spPr>
        <p:txBody>
          <a:bodyPr rtlCol="0" anchor="ctr" wrap="square" lIns="0" tIns="0" rIns="0" bIns="0">
            <a:noAutofit/>
          </a:bodyPr>
          <a:lstStyle/>
          <a:p>
            <a:pPr algn="ctr"/>
            <a:r>
              <a:rPr sz="1050" b="1" i="0">
                <a:solidFill>
                  <a:srgbClr val="8B0000"/>
                </a:solidFill>
                <a:latin typeface="Times New Roman"/>
              </a:rPr>
              <a:t>Validation</a:t>
            </a:r>
          </a:p>
        </p:txBody>
      </p:sp>
      <p:sp>
        <p:nvSpPr>
          <p:cNvPr id="13" name="Rounded Rectangle 12"/>
          <p:cNvSpPr/>
          <p:nvPr/>
        </p:nvSpPr>
        <p:spPr>
          <a:xfrm>
            <a:off x="7845552" y="2359152"/>
            <a:ext cx="987552" cy="329184"/>
          </a:xfrm>
          <a:prstGeom prst="roundRect">
            <a:avLst>
              <a:gd name="adj" fmla="val 50000"/>
            </a:avLst>
          </a:prstGeom>
          <a:solidFill>
            <a:srgbClr val="FFFFFF"/>
          </a:solidFill>
          <a:ln w="12700">
            <a:solidFill>
              <a:srgbClr val="8B0000"/>
            </a:solidFill>
          </a:ln>
        </p:spPr>
        <p:txBody>
          <a:bodyPr rtlCol="0" anchor="ctr" wrap="square" lIns="0" tIns="0" rIns="0" bIns="0">
            <a:noAutofit/>
          </a:bodyPr>
          <a:lstStyle/>
          <a:p>
            <a:pPr algn="ctr"/>
            <a:r>
              <a:rPr sz="1050" b="1" i="0">
                <a:solidFill>
                  <a:srgbClr val="8B0000"/>
                </a:solidFill>
                <a:latin typeface="Times New Roman"/>
              </a:rPr>
              <a:t>Transparency</a:t>
            </a:r>
          </a:p>
        </p:txBody>
      </p:sp>
      <p:sp>
        <p:nvSpPr>
          <p:cNvPr id="14" name="TextBox 13"/>
          <p:cNvSpPr txBox="1"/>
          <p:nvPr/>
        </p:nvSpPr>
        <p:spPr>
          <a:xfrm>
            <a:off x="6126480" y="2715768"/>
            <a:ext cx="2697480" cy="329184"/>
          </a:xfrm>
          <a:prstGeom prst="rect">
            <a:avLst/>
          </a:prstGeom>
          <a:noFill/>
        </p:spPr>
        <p:txBody>
          <a:bodyPr wrap="square" lIns="45720" tIns="27432" rIns="45720" bIns="27432" anchor="ctr">
            <a:noAutofit/>
          </a:bodyPr>
          <a:lstStyle/>
          <a:p>
            <a:pPr algn="ctr"/>
            <a:r>
              <a:rPr sz="1000" b="0" i="1">
                <a:solidFill>
                  <a:srgbClr val="595959"/>
                </a:solidFill>
                <a:latin typeface="Times New Roman"/>
              </a:rPr>
              <a:t>Where single-model systems fall short</a:t>
            </a:r>
          </a:p>
        </p:txBody>
      </p:sp>
      <p:sp>
        <p:nvSpPr>
          <p:cNvPr id="15" name="Rounded Rectangle 14"/>
          <p:cNvSpPr/>
          <p:nvPr/>
        </p:nvSpPr>
        <p:spPr>
          <a:xfrm>
            <a:off x="228600" y="3273552"/>
            <a:ext cx="2834640" cy="181051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6" name="Oval 15"/>
          <p:cNvSpPr/>
          <p:nvPr/>
        </p:nvSpPr>
        <p:spPr>
          <a:xfrm>
            <a:off x="1344168" y="3401567"/>
            <a:ext cx="603504" cy="60350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7" name="Picture 16" descr=""/>
          <p:cNvPicPr>
            <a:picLocks noChangeAspect="1"/>
          </p:cNvPicPr>
          <p:nvPr/>
        </p:nvPicPr>
        <p:blipFill>
          <a:blip r:embed="rId3"/>
          <a:stretch>
            <a:fillRect/>
          </a:stretch>
        </p:blipFill>
        <p:spPr>
          <a:xfrm>
            <a:off x="1476938" y="3534338"/>
            <a:ext cx="337962" cy="337962"/>
          </a:xfrm>
          <a:prstGeom prst="rect">
            <a:avLst/>
          </a:prstGeom>
        </p:spPr>
      </p:pic>
      <p:sp>
        <p:nvSpPr>
          <p:cNvPr id="18" name="TextBox 17"/>
          <p:cNvSpPr txBox="1"/>
          <p:nvPr/>
        </p:nvSpPr>
        <p:spPr>
          <a:xfrm>
            <a:off x="320040" y="4041648"/>
            <a:ext cx="2651760" cy="347472"/>
          </a:xfrm>
          <a:prstGeom prst="rect">
            <a:avLst/>
          </a:prstGeom>
          <a:noFill/>
        </p:spPr>
        <p:txBody>
          <a:bodyPr wrap="square" lIns="45720" tIns="27432" rIns="45720" bIns="27432" anchor="ctr">
            <a:noAutofit/>
          </a:bodyPr>
          <a:lstStyle/>
          <a:p>
            <a:pPr algn="ctr"/>
            <a:r>
              <a:rPr sz="1500" b="1" i="0">
                <a:solidFill>
                  <a:srgbClr val="8B0000"/>
                </a:solidFill>
                <a:latin typeface="Times New Roman"/>
              </a:rPr>
              <a:t>Messy real-world data</a:t>
            </a:r>
          </a:p>
        </p:txBody>
      </p:sp>
      <p:sp>
        <p:nvSpPr>
          <p:cNvPr id="19" name="TextBox 18"/>
          <p:cNvSpPr txBox="1"/>
          <p:nvPr/>
        </p:nvSpPr>
        <p:spPr>
          <a:xfrm>
            <a:off x="365760" y="4389120"/>
            <a:ext cx="2560320" cy="658368"/>
          </a:xfrm>
          <a:prstGeom prst="rect">
            <a:avLst/>
          </a:prstGeom>
          <a:noFill/>
        </p:spPr>
        <p:txBody>
          <a:bodyPr wrap="square" lIns="45720" tIns="27432" rIns="45720" bIns="27432" anchor="t">
            <a:noAutofit/>
          </a:bodyPr>
          <a:lstStyle/>
          <a:p>
            <a:pPr algn="ctr"/>
            <a:r>
              <a:rPr sz="1200" b="0" i="0">
                <a:solidFill>
                  <a:srgbClr val="1F1F1F"/>
                </a:solidFill>
                <a:latin typeface="Times New Roman"/>
              </a:rPr>
              <a:t>One record can hold missing fields, mixed units, repeated observations and free-text notes.</a:t>
            </a:r>
          </a:p>
        </p:txBody>
      </p:sp>
      <p:sp>
        <p:nvSpPr>
          <p:cNvPr id="20" name="Rounded Rectangle 19"/>
          <p:cNvSpPr/>
          <p:nvPr/>
        </p:nvSpPr>
        <p:spPr>
          <a:xfrm>
            <a:off x="3154680" y="3273552"/>
            <a:ext cx="2834640" cy="181051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1" name="Oval 20"/>
          <p:cNvSpPr/>
          <p:nvPr/>
        </p:nvSpPr>
        <p:spPr>
          <a:xfrm>
            <a:off x="4270248" y="3401567"/>
            <a:ext cx="603504" cy="60350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2" name="Picture 21" descr=""/>
          <p:cNvPicPr>
            <a:picLocks noChangeAspect="1"/>
          </p:cNvPicPr>
          <p:nvPr/>
        </p:nvPicPr>
        <p:blipFill>
          <a:blip r:embed="rId4"/>
          <a:stretch>
            <a:fillRect/>
          </a:stretch>
        </p:blipFill>
        <p:spPr>
          <a:xfrm>
            <a:off x="4403018" y="3534338"/>
            <a:ext cx="337962" cy="337962"/>
          </a:xfrm>
          <a:prstGeom prst="rect">
            <a:avLst/>
          </a:prstGeom>
        </p:spPr>
      </p:pic>
      <p:sp>
        <p:nvSpPr>
          <p:cNvPr id="23" name="TextBox 22"/>
          <p:cNvSpPr txBox="1"/>
          <p:nvPr/>
        </p:nvSpPr>
        <p:spPr>
          <a:xfrm>
            <a:off x="3246120" y="4041648"/>
            <a:ext cx="2651760" cy="347472"/>
          </a:xfrm>
          <a:prstGeom prst="rect">
            <a:avLst/>
          </a:prstGeom>
          <a:noFill/>
        </p:spPr>
        <p:txBody>
          <a:bodyPr wrap="square" lIns="45720" tIns="27432" rIns="45720" bIns="27432" anchor="ctr">
            <a:noAutofit/>
          </a:bodyPr>
          <a:lstStyle/>
          <a:p>
            <a:pPr algn="ctr"/>
            <a:r>
              <a:rPr sz="1500" b="1" i="0">
                <a:solidFill>
                  <a:srgbClr val="8B0000"/>
                </a:solidFill>
                <a:latin typeface="Times New Roman"/>
              </a:rPr>
              <a:t>Opaque recommendations</a:t>
            </a:r>
          </a:p>
        </p:txBody>
      </p:sp>
      <p:sp>
        <p:nvSpPr>
          <p:cNvPr id="24" name="TextBox 23"/>
          <p:cNvSpPr txBox="1"/>
          <p:nvPr/>
        </p:nvSpPr>
        <p:spPr>
          <a:xfrm>
            <a:off x="3291840" y="4389120"/>
            <a:ext cx="2560320" cy="658368"/>
          </a:xfrm>
          <a:prstGeom prst="rect">
            <a:avLst/>
          </a:prstGeom>
          <a:noFill/>
        </p:spPr>
        <p:txBody>
          <a:bodyPr wrap="square" lIns="45720" tIns="27432" rIns="45720" bIns="27432" anchor="t">
            <a:noAutofit/>
          </a:bodyPr>
          <a:lstStyle/>
          <a:p>
            <a:pPr algn="ctr"/>
            <a:r>
              <a:rPr sz="1200" b="0" i="0">
                <a:solidFill>
                  <a:srgbClr val="1F1F1F"/>
                </a:solidFill>
                <a:latin typeface="Times New Roman"/>
              </a:rPr>
              <a:t>When one model writes the answer, nobody can see which evidence produced it [1], [2].</a:t>
            </a:r>
          </a:p>
        </p:txBody>
      </p:sp>
      <p:sp>
        <p:nvSpPr>
          <p:cNvPr id="25" name="Rounded Rectangle 24"/>
          <p:cNvSpPr/>
          <p:nvPr/>
        </p:nvSpPr>
        <p:spPr>
          <a:xfrm>
            <a:off x="6080760" y="3273552"/>
            <a:ext cx="2834640" cy="181051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6" name="Oval 25"/>
          <p:cNvSpPr/>
          <p:nvPr/>
        </p:nvSpPr>
        <p:spPr>
          <a:xfrm>
            <a:off x="7196328" y="3401567"/>
            <a:ext cx="603504" cy="60350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7" name="Picture 26" descr=""/>
          <p:cNvPicPr>
            <a:picLocks noChangeAspect="1"/>
          </p:cNvPicPr>
          <p:nvPr/>
        </p:nvPicPr>
        <p:blipFill>
          <a:blip r:embed="rId5"/>
          <a:stretch>
            <a:fillRect/>
          </a:stretch>
        </p:blipFill>
        <p:spPr>
          <a:xfrm>
            <a:off x="7329098" y="3534338"/>
            <a:ext cx="337962" cy="337962"/>
          </a:xfrm>
          <a:prstGeom prst="rect">
            <a:avLst/>
          </a:prstGeom>
        </p:spPr>
      </p:pic>
      <p:sp>
        <p:nvSpPr>
          <p:cNvPr id="28" name="TextBox 27"/>
          <p:cNvSpPr txBox="1"/>
          <p:nvPr/>
        </p:nvSpPr>
        <p:spPr>
          <a:xfrm>
            <a:off x="6172200" y="4041648"/>
            <a:ext cx="2651760" cy="347472"/>
          </a:xfrm>
          <a:prstGeom prst="rect">
            <a:avLst/>
          </a:prstGeom>
          <a:noFill/>
        </p:spPr>
        <p:txBody>
          <a:bodyPr wrap="square" lIns="45720" tIns="27432" rIns="45720" bIns="27432" anchor="ctr">
            <a:noAutofit/>
          </a:bodyPr>
          <a:lstStyle/>
          <a:p>
            <a:pPr algn="ctr"/>
            <a:r>
              <a:rPr sz="1500" b="1" i="0">
                <a:solidFill>
                  <a:srgbClr val="8B0000"/>
                </a:solidFill>
                <a:latin typeface="Times New Roman"/>
              </a:rPr>
              <a:t>Clinicians must verify</a:t>
            </a:r>
          </a:p>
        </p:txBody>
      </p:sp>
      <p:sp>
        <p:nvSpPr>
          <p:cNvPr id="29" name="TextBox 28"/>
          <p:cNvSpPr txBox="1"/>
          <p:nvPr/>
        </p:nvSpPr>
        <p:spPr>
          <a:xfrm>
            <a:off x="6217920" y="4389120"/>
            <a:ext cx="2560320" cy="658368"/>
          </a:xfrm>
          <a:prstGeom prst="rect">
            <a:avLst/>
          </a:prstGeom>
          <a:noFill/>
        </p:spPr>
        <p:txBody>
          <a:bodyPr wrap="square" lIns="45720" tIns="27432" rIns="45720" bIns="27432" anchor="t">
            <a:noAutofit/>
          </a:bodyPr>
          <a:lstStyle/>
          <a:p>
            <a:pPr algn="ctr"/>
            <a:r>
              <a:rPr sz="1200" b="0" i="0">
                <a:solidFill>
                  <a:srgbClr val="1F1F1F"/>
                </a:solidFill>
                <a:latin typeface="Times New Roman"/>
              </a:rPr>
              <a:t>Model output, rules fired, sources and versions should travel with every recommendation [7].</a:t>
            </a:r>
          </a:p>
        </p:txBody>
      </p:sp>
      <p:sp>
        <p:nvSpPr>
          <p:cNvPr id="30" name="Rounded Rectangle 29"/>
          <p:cNvSpPr/>
          <p:nvPr/>
        </p:nvSpPr>
        <p:spPr>
          <a:xfrm>
            <a:off x="228600" y="5230368"/>
            <a:ext cx="8686800" cy="676656"/>
          </a:xfrm>
          <a:prstGeom prst="roundRect">
            <a:avLst>
              <a:gd name="adj" fmla="val 18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1" name="Oval 30"/>
          <p:cNvSpPr/>
          <p:nvPr/>
        </p:nvSpPr>
        <p:spPr>
          <a:xfrm>
            <a:off x="402335" y="5358383"/>
            <a:ext cx="420624" cy="420624"/>
          </a:xfrm>
          <a:prstGeom prst="ellipse">
            <a:avLst/>
          </a:prstGeom>
          <a:solidFill>
            <a:srgbClr val="FFFFFF"/>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2" name="Picture 31" descr=""/>
          <p:cNvPicPr>
            <a:picLocks noChangeAspect="1"/>
          </p:cNvPicPr>
          <p:nvPr/>
        </p:nvPicPr>
        <p:blipFill>
          <a:blip r:embed="rId6"/>
          <a:stretch>
            <a:fillRect/>
          </a:stretch>
        </p:blipFill>
        <p:spPr>
          <a:xfrm>
            <a:off x="494873" y="5450921"/>
            <a:ext cx="235549" cy="235549"/>
          </a:xfrm>
          <a:prstGeom prst="rect">
            <a:avLst/>
          </a:prstGeom>
        </p:spPr>
      </p:pic>
      <p:sp>
        <p:nvSpPr>
          <p:cNvPr id="33" name="TextBox 32"/>
          <p:cNvSpPr txBox="1"/>
          <p:nvPr/>
        </p:nvSpPr>
        <p:spPr>
          <a:xfrm>
            <a:off x="914400" y="5230368"/>
            <a:ext cx="7863840" cy="676656"/>
          </a:xfrm>
          <a:prstGeom prst="rect">
            <a:avLst/>
          </a:prstGeom>
          <a:noFill/>
        </p:spPr>
        <p:txBody>
          <a:bodyPr wrap="square" lIns="45720" tIns="27432" rIns="45720" bIns="27432" anchor="ctr">
            <a:noAutofit/>
          </a:bodyPr>
          <a:lstStyle/>
          <a:p>
            <a:pPr algn="l"/>
            <a:r>
              <a:rPr sz="1350" b="1" i="1">
                <a:solidFill>
                  <a:srgbClr val="FFFFFF"/>
                </a:solidFill>
                <a:latin typeface="Times New Roman"/>
              </a:rPr>
              <a:t>Our goal: </a:t>
            </a:r>
            <a:r>
              <a:rPr sz="1350" b="0" i="1">
                <a:solidFill>
                  <a:srgbClr val="FFFFFF"/>
                </a:solidFill>
                <a:latin typeface="Times New Roman"/>
              </a:rPr>
              <a:t>every recommendation should carry its own record of how it was reached, so it stays traceable, auditable and clinician-reviewed.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2. Problem Statement</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810511"/>
            <a:ext cx="8686800" cy="1828800"/>
          </a:xfrm>
          <a:prstGeom prst="roundRect">
            <a:avLst>
              <a:gd name="adj" fmla="val 6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Oval 7"/>
          <p:cNvSpPr/>
          <p:nvPr/>
        </p:nvSpPr>
        <p:spPr>
          <a:xfrm>
            <a:off x="411480" y="1993392"/>
            <a:ext cx="548640" cy="548640"/>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9" name="Picture 8" descr=""/>
          <p:cNvPicPr>
            <a:picLocks noChangeAspect="1"/>
          </p:cNvPicPr>
          <p:nvPr/>
        </p:nvPicPr>
        <p:blipFill>
          <a:blip r:embed="rId2"/>
          <a:stretch>
            <a:fillRect/>
          </a:stretch>
        </p:blipFill>
        <p:spPr>
          <a:xfrm>
            <a:off x="532180" y="2114092"/>
            <a:ext cx="307238" cy="307238"/>
          </a:xfrm>
          <a:prstGeom prst="rect">
            <a:avLst/>
          </a:prstGeom>
        </p:spPr>
      </p:pic>
      <p:sp>
        <p:nvSpPr>
          <p:cNvPr id="10" name="TextBox 9"/>
          <p:cNvSpPr txBox="1"/>
          <p:nvPr/>
        </p:nvSpPr>
        <p:spPr>
          <a:xfrm>
            <a:off x="1097280" y="2011680"/>
            <a:ext cx="3657600" cy="457200"/>
          </a:xfrm>
          <a:prstGeom prst="rect">
            <a:avLst/>
          </a:prstGeom>
          <a:noFill/>
        </p:spPr>
        <p:txBody>
          <a:bodyPr wrap="square" lIns="45720" tIns="27432" rIns="45720" bIns="27432" anchor="ctr">
            <a:noAutofit/>
          </a:bodyPr>
          <a:lstStyle/>
          <a:p>
            <a:pPr algn="l"/>
            <a:r>
              <a:rPr sz="1700" b="1" i="0">
                <a:solidFill>
                  <a:srgbClr val="8B0000"/>
                </a:solidFill>
                <a:latin typeface="Times New Roman"/>
              </a:rPr>
              <a:t>Problem Statement</a:t>
            </a:r>
          </a:p>
        </p:txBody>
      </p:sp>
      <p:sp>
        <p:nvSpPr>
          <p:cNvPr id="11" name="TextBox 10"/>
          <p:cNvSpPr txBox="1"/>
          <p:nvPr/>
        </p:nvSpPr>
        <p:spPr>
          <a:xfrm>
            <a:off x="1097280" y="2468880"/>
            <a:ext cx="7635240" cy="1115568"/>
          </a:xfrm>
          <a:prstGeom prst="rect">
            <a:avLst/>
          </a:prstGeom>
          <a:noFill/>
        </p:spPr>
        <p:txBody>
          <a:bodyPr wrap="square" lIns="45720" tIns="27432" rIns="45720" bIns="27432" anchor="t">
            <a:noAutofit/>
          </a:bodyPr>
          <a:lstStyle/>
          <a:p>
            <a:pPr algn="just"/>
            <a:r>
              <a:rPr sz="1450" b="0" i="0">
                <a:solidFill>
                  <a:srgbClr val="1F1F1F"/>
                </a:solidFill>
                <a:latin typeface="Times New Roman"/>
              </a:rPr>
              <a:t>Design an implementable, modular pipeline for patient-level decision support that accepts imperfect patient data, keeps learned, rule-based and retrieved evidence separate, combines it through an explicit confidence function and gives clinicians a traceable report, while processing many patients in parallel without mixing their contexts.</a:t>
            </a:r>
          </a:p>
        </p:txBody>
      </p:sp>
      <p:sp>
        <p:nvSpPr>
          <p:cNvPr id="12" name="Rounded Rectangle 11"/>
          <p:cNvSpPr/>
          <p:nvPr/>
        </p:nvSpPr>
        <p:spPr>
          <a:xfrm>
            <a:off x="228600" y="3822192"/>
            <a:ext cx="1920240" cy="1536192"/>
          </a:xfrm>
          <a:prstGeom prst="roundRect">
            <a:avLst>
              <a:gd name="adj" fmla="val 8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3" name="Picture 12" descr=""/>
          <p:cNvPicPr>
            <a:picLocks noChangeAspect="1"/>
          </p:cNvPicPr>
          <p:nvPr/>
        </p:nvPicPr>
        <p:blipFill>
          <a:blip r:embed="rId3"/>
          <a:stretch>
            <a:fillRect/>
          </a:stretch>
        </p:blipFill>
        <p:spPr>
          <a:xfrm>
            <a:off x="1005840" y="3931920"/>
            <a:ext cx="365760" cy="365760"/>
          </a:xfrm>
          <a:prstGeom prst="rect">
            <a:avLst/>
          </a:prstGeom>
        </p:spPr>
      </p:pic>
      <p:sp>
        <p:nvSpPr>
          <p:cNvPr id="14" name="TextBox 13"/>
          <p:cNvSpPr txBox="1"/>
          <p:nvPr/>
        </p:nvSpPr>
        <p:spPr>
          <a:xfrm>
            <a:off x="283464" y="4325112"/>
            <a:ext cx="1810512" cy="438912"/>
          </a:xfrm>
          <a:prstGeom prst="rect">
            <a:avLst/>
          </a:prstGeom>
          <a:noFill/>
        </p:spPr>
        <p:txBody>
          <a:bodyPr wrap="square" lIns="45720" tIns="27432" rIns="45720" bIns="27432" anchor="ctr">
            <a:noAutofit/>
          </a:bodyPr>
          <a:lstStyle/>
          <a:p>
            <a:pPr algn="ctr"/>
            <a:r>
              <a:rPr sz="1200" b="1" i="0">
                <a:solidFill>
                  <a:srgbClr val="34507A"/>
                </a:solidFill>
                <a:latin typeface="Times New Roman"/>
              </a:rPr>
              <a:t>Imperfect patient data</a:t>
            </a:r>
          </a:p>
        </p:txBody>
      </p:sp>
      <p:sp>
        <p:nvSpPr>
          <p:cNvPr id="15" name="TextBox 14"/>
          <p:cNvSpPr txBox="1"/>
          <p:nvPr/>
        </p:nvSpPr>
        <p:spPr>
          <a:xfrm>
            <a:off x="301752" y="4764024"/>
            <a:ext cx="1773936" cy="566928"/>
          </a:xfrm>
          <a:prstGeom prst="rect">
            <a:avLst/>
          </a:prstGeom>
          <a:noFill/>
        </p:spPr>
        <p:txBody>
          <a:bodyPr wrap="square" lIns="45720" tIns="27432" rIns="45720" bIns="27432" anchor="t">
            <a:noAutofit/>
          </a:bodyPr>
          <a:lstStyle/>
          <a:p>
            <a:pPr algn="ctr"/>
            <a:r>
              <a:rPr sz="1050" b="0" i="0">
                <a:solidFill>
                  <a:srgbClr val="1F1F1F"/>
                </a:solidFill>
                <a:latin typeface="Times New Roman"/>
              </a:rPr>
              <a:t>Missing fields, mixed units, duplicates and free-text notes</a:t>
            </a:r>
          </a:p>
        </p:txBody>
      </p:sp>
      <p:cxnSp>
        <p:nvCxnSpPr>
          <p:cNvPr id="16" name="Connector 15"/>
          <p:cNvCxnSpPr/>
          <p:nvPr/>
        </p:nvCxnSpPr>
        <p:spPr>
          <a:xfrm>
            <a:off x="2185416" y="4590288"/>
            <a:ext cx="261518" cy="0"/>
          </a:xfrm>
          <a:prstGeom prst="line">
            <a:avLst/>
          </a:prstGeom>
          <a:ln w="19050">
            <a:solidFill>
              <a:srgbClr val="404040"/>
            </a:solidFill>
            <a:tailEnd type="triangle" w="med" len="med"/>
          </a:ln>
        </p:spPr>
      </p:cxnSp>
      <p:sp>
        <p:nvSpPr>
          <p:cNvPr id="17" name="Rounded Rectangle 16"/>
          <p:cNvSpPr/>
          <p:nvPr/>
        </p:nvSpPr>
        <p:spPr>
          <a:xfrm>
            <a:off x="2483510" y="3822192"/>
            <a:ext cx="1920240" cy="1536192"/>
          </a:xfrm>
          <a:prstGeom prst="roundRect">
            <a:avLst>
              <a:gd name="adj" fmla="val 8000"/>
            </a:avLst>
          </a:prstGeom>
          <a:solidFill>
            <a:srgbClr val="E5DEF6"/>
          </a:solidFill>
          <a:ln w="12700">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8" name="Picture 17" descr=""/>
          <p:cNvPicPr>
            <a:picLocks noChangeAspect="1"/>
          </p:cNvPicPr>
          <p:nvPr/>
        </p:nvPicPr>
        <p:blipFill>
          <a:blip r:embed="rId4"/>
          <a:stretch>
            <a:fillRect/>
          </a:stretch>
        </p:blipFill>
        <p:spPr>
          <a:xfrm>
            <a:off x="3260750" y="3931920"/>
            <a:ext cx="365760" cy="365760"/>
          </a:xfrm>
          <a:prstGeom prst="rect">
            <a:avLst/>
          </a:prstGeom>
        </p:spPr>
      </p:pic>
      <p:sp>
        <p:nvSpPr>
          <p:cNvPr id="19" name="TextBox 18"/>
          <p:cNvSpPr txBox="1"/>
          <p:nvPr/>
        </p:nvSpPr>
        <p:spPr>
          <a:xfrm>
            <a:off x="2538374" y="4325112"/>
            <a:ext cx="1810512" cy="438912"/>
          </a:xfrm>
          <a:prstGeom prst="rect">
            <a:avLst/>
          </a:prstGeom>
          <a:noFill/>
        </p:spPr>
        <p:txBody>
          <a:bodyPr wrap="square" lIns="45720" tIns="27432" rIns="45720" bIns="27432" anchor="ctr">
            <a:noAutofit/>
          </a:bodyPr>
          <a:lstStyle/>
          <a:p>
            <a:pPr algn="ctr"/>
            <a:r>
              <a:rPr sz="1200" b="1" i="0">
                <a:solidFill>
                  <a:srgbClr val="4E4775"/>
                </a:solidFill>
                <a:latin typeface="Times New Roman"/>
              </a:rPr>
              <a:t>Separate evidence, explicit fusion</a:t>
            </a:r>
          </a:p>
        </p:txBody>
      </p:sp>
      <p:sp>
        <p:nvSpPr>
          <p:cNvPr id="20" name="TextBox 19"/>
          <p:cNvSpPr txBox="1"/>
          <p:nvPr/>
        </p:nvSpPr>
        <p:spPr>
          <a:xfrm>
            <a:off x="2556662" y="4764024"/>
            <a:ext cx="1773936" cy="566928"/>
          </a:xfrm>
          <a:prstGeom prst="rect">
            <a:avLst/>
          </a:prstGeom>
          <a:noFill/>
        </p:spPr>
        <p:txBody>
          <a:bodyPr wrap="square" lIns="45720" tIns="27432" rIns="45720" bIns="27432" anchor="t">
            <a:noAutofit/>
          </a:bodyPr>
          <a:lstStyle/>
          <a:p>
            <a:pPr algn="ctr"/>
            <a:r>
              <a:rPr sz="1050" b="0" i="0">
                <a:solidFill>
                  <a:srgbClr val="1F1F1F"/>
                </a:solidFill>
                <a:latin typeface="Times New Roman"/>
              </a:rPr>
              <a:t>Learned, rule-based and retrieved evidence combined by one confidence function</a:t>
            </a:r>
          </a:p>
        </p:txBody>
      </p:sp>
      <p:cxnSp>
        <p:nvCxnSpPr>
          <p:cNvPr id="21" name="Connector 20"/>
          <p:cNvCxnSpPr/>
          <p:nvPr/>
        </p:nvCxnSpPr>
        <p:spPr>
          <a:xfrm>
            <a:off x="4440326" y="4590288"/>
            <a:ext cx="261518" cy="0"/>
          </a:xfrm>
          <a:prstGeom prst="line">
            <a:avLst/>
          </a:prstGeom>
          <a:ln w="19050">
            <a:solidFill>
              <a:srgbClr val="404040"/>
            </a:solidFill>
            <a:tailEnd type="triangle" w="med" len="med"/>
          </a:ln>
        </p:spPr>
      </p:cxnSp>
      <p:sp>
        <p:nvSpPr>
          <p:cNvPr id="22" name="Rounded Rectangle 21"/>
          <p:cNvSpPr/>
          <p:nvPr/>
        </p:nvSpPr>
        <p:spPr>
          <a:xfrm>
            <a:off x="4738420" y="3822192"/>
            <a:ext cx="1920240" cy="1536192"/>
          </a:xfrm>
          <a:prstGeom prst="roundRect">
            <a:avLst>
              <a:gd name="adj" fmla="val 8000"/>
            </a:avLst>
          </a:prstGeom>
          <a:solidFill>
            <a:srgbClr val="F2F2F2"/>
          </a:solidFill>
          <a:ln w="12700">
            <a:solidFill>
              <a:srgbClr val="404040"/>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3" name="Picture 22" descr=""/>
          <p:cNvPicPr>
            <a:picLocks noChangeAspect="1"/>
          </p:cNvPicPr>
          <p:nvPr/>
        </p:nvPicPr>
        <p:blipFill>
          <a:blip r:embed="rId5"/>
          <a:stretch>
            <a:fillRect/>
          </a:stretch>
        </p:blipFill>
        <p:spPr>
          <a:xfrm>
            <a:off x="5515660" y="3931920"/>
            <a:ext cx="365760" cy="365760"/>
          </a:xfrm>
          <a:prstGeom prst="rect">
            <a:avLst/>
          </a:prstGeom>
        </p:spPr>
      </p:pic>
      <p:sp>
        <p:nvSpPr>
          <p:cNvPr id="24" name="TextBox 23"/>
          <p:cNvSpPr txBox="1"/>
          <p:nvPr/>
        </p:nvSpPr>
        <p:spPr>
          <a:xfrm>
            <a:off x="4793284" y="4325112"/>
            <a:ext cx="1810512" cy="438912"/>
          </a:xfrm>
          <a:prstGeom prst="rect">
            <a:avLst/>
          </a:prstGeom>
          <a:noFill/>
        </p:spPr>
        <p:txBody>
          <a:bodyPr wrap="square" lIns="45720" tIns="27432" rIns="45720" bIns="27432" anchor="ctr">
            <a:noAutofit/>
          </a:bodyPr>
          <a:lstStyle/>
          <a:p>
            <a:pPr algn="ctr"/>
            <a:r>
              <a:rPr sz="1200" b="1" i="0">
                <a:solidFill>
                  <a:srgbClr val="404040"/>
                </a:solidFill>
                <a:latin typeface="Times New Roman"/>
              </a:rPr>
              <a:t>Many patients, isolated contexts</a:t>
            </a:r>
          </a:p>
        </p:txBody>
      </p:sp>
      <p:sp>
        <p:nvSpPr>
          <p:cNvPr id="25" name="TextBox 24"/>
          <p:cNvSpPr txBox="1"/>
          <p:nvPr/>
        </p:nvSpPr>
        <p:spPr>
          <a:xfrm>
            <a:off x="4811572" y="4764024"/>
            <a:ext cx="1773936" cy="566928"/>
          </a:xfrm>
          <a:prstGeom prst="rect">
            <a:avLst/>
          </a:prstGeom>
          <a:noFill/>
        </p:spPr>
        <p:txBody>
          <a:bodyPr wrap="square" lIns="45720" tIns="27432" rIns="45720" bIns="27432" anchor="t">
            <a:noAutofit/>
          </a:bodyPr>
          <a:lstStyle/>
          <a:p>
            <a:pPr algn="ctr"/>
            <a:r>
              <a:rPr sz="1050" b="0" i="0">
                <a:solidFill>
                  <a:srgbClr val="1F1F1F"/>
                </a:solidFill>
                <a:latin typeface="Times New Roman"/>
              </a:rPr>
              <a:t>Cases run in parallel without mixing their data</a:t>
            </a:r>
          </a:p>
        </p:txBody>
      </p:sp>
      <p:cxnSp>
        <p:nvCxnSpPr>
          <p:cNvPr id="26" name="Connector 25"/>
          <p:cNvCxnSpPr/>
          <p:nvPr/>
        </p:nvCxnSpPr>
        <p:spPr>
          <a:xfrm>
            <a:off x="6695236" y="4590288"/>
            <a:ext cx="261519" cy="0"/>
          </a:xfrm>
          <a:prstGeom prst="line">
            <a:avLst/>
          </a:prstGeom>
          <a:ln w="19050">
            <a:solidFill>
              <a:srgbClr val="404040"/>
            </a:solidFill>
            <a:tailEnd type="triangle" w="med" len="med"/>
          </a:ln>
        </p:spPr>
      </p:cxnSp>
      <p:sp>
        <p:nvSpPr>
          <p:cNvPr id="27" name="Rounded Rectangle 26"/>
          <p:cNvSpPr/>
          <p:nvPr/>
        </p:nvSpPr>
        <p:spPr>
          <a:xfrm>
            <a:off x="6993331" y="3822192"/>
            <a:ext cx="1920240" cy="1536192"/>
          </a:xfrm>
          <a:prstGeom prst="roundRect">
            <a:avLst>
              <a:gd name="adj" fmla="val 8000"/>
            </a:avLst>
          </a:prstGeom>
          <a:solidFill>
            <a:srgbClr val="E1F0DC"/>
          </a:solidFill>
          <a:ln w="12700">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8" name="Picture 27" descr=""/>
          <p:cNvPicPr>
            <a:picLocks noChangeAspect="1"/>
          </p:cNvPicPr>
          <p:nvPr/>
        </p:nvPicPr>
        <p:blipFill>
          <a:blip r:embed="rId6"/>
          <a:stretch>
            <a:fillRect/>
          </a:stretch>
        </p:blipFill>
        <p:spPr>
          <a:xfrm>
            <a:off x="7770571" y="3931920"/>
            <a:ext cx="365760" cy="365760"/>
          </a:xfrm>
          <a:prstGeom prst="rect">
            <a:avLst/>
          </a:prstGeom>
        </p:spPr>
      </p:pic>
      <p:sp>
        <p:nvSpPr>
          <p:cNvPr id="29" name="TextBox 28"/>
          <p:cNvSpPr txBox="1"/>
          <p:nvPr/>
        </p:nvSpPr>
        <p:spPr>
          <a:xfrm>
            <a:off x="7048195" y="4325112"/>
            <a:ext cx="1810512" cy="438912"/>
          </a:xfrm>
          <a:prstGeom prst="rect">
            <a:avLst/>
          </a:prstGeom>
          <a:noFill/>
        </p:spPr>
        <p:txBody>
          <a:bodyPr wrap="square" lIns="45720" tIns="27432" rIns="45720" bIns="27432" anchor="ctr">
            <a:noAutofit/>
          </a:bodyPr>
          <a:lstStyle/>
          <a:p>
            <a:pPr algn="ctr"/>
            <a:r>
              <a:rPr sz="1200" b="1" i="0">
                <a:solidFill>
                  <a:srgbClr val="3F7A3C"/>
                </a:solidFill>
                <a:latin typeface="Times New Roman"/>
              </a:rPr>
              <a:t>Traceable clinician report</a:t>
            </a:r>
          </a:p>
        </p:txBody>
      </p:sp>
      <p:sp>
        <p:nvSpPr>
          <p:cNvPr id="30" name="TextBox 29"/>
          <p:cNvSpPr txBox="1"/>
          <p:nvPr/>
        </p:nvSpPr>
        <p:spPr>
          <a:xfrm>
            <a:off x="7066483" y="4764024"/>
            <a:ext cx="1773936" cy="566928"/>
          </a:xfrm>
          <a:prstGeom prst="rect">
            <a:avLst/>
          </a:prstGeom>
          <a:noFill/>
        </p:spPr>
        <p:txBody>
          <a:bodyPr wrap="square" lIns="45720" tIns="27432" rIns="45720" bIns="27432" anchor="t">
            <a:noAutofit/>
          </a:bodyPr>
          <a:lstStyle/>
          <a:p>
            <a:pPr algn="ctr"/>
            <a:r>
              <a:rPr sz="1050" b="0" i="0">
                <a:solidFill>
                  <a:srgbClr val="1F1F1F"/>
                </a:solidFill>
                <a:latin typeface="Times New Roman"/>
              </a:rPr>
              <a:t>Each recommendation links to its features, rules and sources</a:t>
            </a:r>
          </a:p>
        </p:txBody>
      </p:sp>
      <p:sp>
        <p:nvSpPr>
          <p:cNvPr id="31" name="TextBox 30"/>
          <p:cNvSpPr txBox="1"/>
          <p:nvPr/>
        </p:nvSpPr>
        <p:spPr>
          <a:xfrm>
            <a:off x="228600" y="5449824"/>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1.1: </a:t>
            </a:r>
            <a:r>
              <a:rPr sz="1100" b="0" i="1">
                <a:solidFill>
                  <a:srgbClr val="595959"/>
                </a:solidFill>
                <a:latin typeface="Times New Roman"/>
              </a:rPr>
              <a:t>What MedIntel must achieve, from imperfect input to a traceable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3. Objectives</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847088"/>
            <a:ext cx="8686800" cy="713232"/>
          </a:xfrm>
          <a:prstGeom prst="roundRect">
            <a:avLst>
              <a:gd name="adj" fmla="val 12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Oval 7"/>
          <p:cNvSpPr/>
          <p:nvPr/>
        </p:nvSpPr>
        <p:spPr>
          <a:xfrm>
            <a:off x="356616" y="2011680"/>
            <a:ext cx="384048" cy="384048"/>
          </a:xfrm>
          <a:prstGeom prst="ellipse">
            <a:avLst/>
          </a:prstGeom>
          <a:solidFill>
            <a:srgbClr val="8B0000"/>
          </a:solidFill>
          <a:ln>
            <a:noFill/>
          </a:ln>
        </p:spPr>
        <p:txBody>
          <a:bodyPr rtlCol="0" anchor="ctr" wrap="square" lIns="0" tIns="0" rIns="0" bIns="0">
            <a:noAutofit/>
          </a:bodyPr>
          <a:lstStyle/>
          <a:p>
            <a:pPr algn="ctr"/>
            <a:r>
              <a:rPr sz="1400" b="1" i="0">
                <a:solidFill>
                  <a:srgbClr val="FFFFFF"/>
                </a:solidFill>
                <a:latin typeface="Times New Roman"/>
              </a:rPr>
              <a:t>1</a:t>
            </a:r>
          </a:p>
        </p:txBody>
      </p:sp>
      <p:pic>
        <p:nvPicPr>
          <p:cNvPr id="9" name="Picture 8" descr=""/>
          <p:cNvPicPr>
            <a:picLocks noChangeAspect="1"/>
          </p:cNvPicPr>
          <p:nvPr/>
        </p:nvPicPr>
        <p:blipFill>
          <a:blip r:embed="rId2"/>
          <a:stretch>
            <a:fillRect/>
          </a:stretch>
        </p:blipFill>
        <p:spPr>
          <a:xfrm>
            <a:off x="932688" y="2048256"/>
            <a:ext cx="310896" cy="310896"/>
          </a:xfrm>
          <a:prstGeom prst="rect">
            <a:avLst/>
          </a:prstGeom>
        </p:spPr>
      </p:pic>
      <p:sp>
        <p:nvSpPr>
          <p:cNvPr id="10" name="TextBox 9"/>
          <p:cNvSpPr txBox="1"/>
          <p:nvPr/>
        </p:nvSpPr>
        <p:spPr>
          <a:xfrm>
            <a:off x="1371600" y="1847088"/>
            <a:ext cx="6492240" cy="713232"/>
          </a:xfrm>
          <a:prstGeom prst="rect">
            <a:avLst/>
          </a:prstGeom>
          <a:noFill/>
        </p:spPr>
        <p:txBody>
          <a:bodyPr wrap="square" lIns="45720" tIns="27432" rIns="45720" bIns="27432" anchor="ctr">
            <a:noAutofit/>
          </a:bodyPr>
          <a:lstStyle/>
          <a:p>
            <a:pPr algn="l"/>
            <a:r>
              <a:rPr sz="1450" b="1" i="0">
                <a:solidFill>
                  <a:srgbClr val="8B0000"/>
                </a:solidFill>
                <a:latin typeface="Times New Roman"/>
              </a:rPr>
              <a:t>To design </a:t>
            </a:r>
            <a:r>
              <a:rPr sz="1400" b="0" i="0">
                <a:solidFill>
                  <a:srgbClr val="1F1F1F"/>
                </a:solidFill>
                <a:latin typeface="Times New Roman"/>
              </a:rPr>
              <a:t>a modular multi-agent architecture in which every agent returns a typed output contract that the other components can rely on.</a:t>
            </a:r>
          </a:p>
        </p:txBody>
      </p:sp>
      <p:sp>
        <p:nvSpPr>
          <p:cNvPr id="11" name="Rounded Rectangle 10"/>
          <p:cNvSpPr/>
          <p:nvPr/>
        </p:nvSpPr>
        <p:spPr>
          <a:xfrm>
            <a:off x="8001000" y="2066543"/>
            <a:ext cx="804672" cy="274320"/>
          </a:xfrm>
          <a:prstGeom prst="roundRect">
            <a:avLst>
              <a:gd name="adj" fmla="val 50000"/>
            </a:avLst>
          </a:prstGeom>
          <a:solidFill>
            <a:srgbClr val="8B0000"/>
          </a:solidFill>
          <a:ln>
            <a:noFill/>
          </a:ln>
        </p:spPr>
        <p:txBody>
          <a:bodyPr rtlCol="0" anchor="ctr" wrap="square" lIns="0" tIns="0" rIns="0" bIns="0">
            <a:noAutofit/>
          </a:bodyPr>
          <a:lstStyle/>
          <a:p>
            <a:pPr algn="ctr"/>
            <a:r>
              <a:rPr sz="1000" b="1" i="0">
                <a:solidFill>
                  <a:srgbClr val="FFFFFF"/>
                </a:solidFill>
                <a:latin typeface="Times New Roman"/>
              </a:rPr>
              <a:t>Stage I</a:t>
            </a:r>
          </a:p>
        </p:txBody>
      </p:sp>
      <p:sp>
        <p:nvSpPr>
          <p:cNvPr id="12" name="Rounded Rectangle 11"/>
          <p:cNvSpPr/>
          <p:nvPr/>
        </p:nvSpPr>
        <p:spPr>
          <a:xfrm>
            <a:off x="228600" y="2651759"/>
            <a:ext cx="8686800" cy="713232"/>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3" name="Oval 12"/>
          <p:cNvSpPr/>
          <p:nvPr/>
        </p:nvSpPr>
        <p:spPr>
          <a:xfrm>
            <a:off x="356616" y="2816352"/>
            <a:ext cx="384048" cy="384048"/>
          </a:xfrm>
          <a:prstGeom prst="ellipse">
            <a:avLst/>
          </a:prstGeom>
          <a:solidFill>
            <a:srgbClr val="8B0000"/>
          </a:solidFill>
          <a:ln>
            <a:noFill/>
          </a:ln>
        </p:spPr>
        <p:txBody>
          <a:bodyPr rtlCol="0" anchor="ctr" wrap="square" lIns="0" tIns="0" rIns="0" bIns="0">
            <a:noAutofit/>
          </a:bodyPr>
          <a:lstStyle/>
          <a:p>
            <a:pPr algn="ctr"/>
            <a:r>
              <a:rPr sz="1400" b="1" i="0">
                <a:solidFill>
                  <a:srgbClr val="FFFFFF"/>
                </a:solidFill>
                <a:latin typeface="Times New Roman"/>
              </a:rPr>
              <a:t>2</a:t>
            </a:r>
          </a:p>
        </p:txBody>
      </p:sp>
      <p:pic>
        <p:nvPicPr>
          <p:cNvPr id="14" name="Picture 13" descr=""/>
          <p:cNvPicPr>
            <a:picLocks noChangeAspect="1"/>
          </p:cNvPicPr>
          <p:nvPr/>
        </p:nvPicPr>
        <p:blipFill>
          <a:blip r:embed="rId3"/>
          <a:stretch>
            <a:fillRect/>
          </a:stretch>
        </p:blipFill>
        <p:spPr>
          <a:xfrm>
            <a:off x="932688" y="2852928"/>
            <a:ext cx="310896" cy="310896"/>
          </a:xfrm>
          <a:prstGeom prst="rect">
            <a:avLst/>
          </a:prstGeom>
        </p:spPr>
      </p:pic>
      <p:sp>
        <p:nvSpPr>
          <p:cNvPr id="15" name="TextBox 14"/>
          <p:cNvSpPr txBox="1"/>
          <p:nvPr/>
        </p:nvSpPr>
        <p:spPr>
          <a:xfrm>
            <a:off x="1371600" y="2651759"/>
            <a:ext cx="6492240" cy="713232"/>
          </a:xfrm>
          <a:prstGeom prst="rect">
            <a:avLst/>
          </a:prstGeom>
          <a:noFill/>
        </p:spPr>
        <p:txBody>
          <a:bodyPr wrap="square" lIns="45720" tIns="27432" rIns="45720" bIns="27432" anchor="ctr">
            <a:noAutofit/>
          </a:bodyPr>
          <a:lstStyle/>
          <a:p>
            <a:pPr algn="l"/>
            <a:r>
              <a:rPr sz="1450" b="1" i="0">
                <a:solidFill>
                  <a:srgbClr val="8B0000"/>
                </a:solidFill>
                <a:latin typeface="Times New Roman"/>
              </a:rPr>
              <a:t>To develop </a:t>
            </a:r>
            <a:r>
              <a:rPr sz="1400" b="0" i="0">
                <a:solidFill>
                  <a:srgbClr val="1F1F1F"/>
                </a:solidFill>
                <a:latin typeface="Times New Roman"/>
              </a:rPr>
              <a:t>a traceable reporting scheme that links each recommendation back to the features, rules and sources behind it.</a:t>
            </a:r>
          </a:p>
        </p:txBody>
      </p:sp>
      <p:sp>
        <p:nvSpPr>
          <p:cNvPr id="16" name="Rounded Rectangle 15"/>
          <p:cNvSpPr/>
          <p:nvPr/>
        </p:nvSpPr>
        <p:spPr>
          <a:xfrm>
            <a:off x="8001000" y="2871215"/>
            <a:ext cx="804672" cy="274320"/>
          </a:xfrm>
          <a:prstGeom prst="roundRect">
            <a:avLst>
              <a:gd name="adj" fmla="val 50000"/>
            </a:avLst>
          </a:prstGeom>
          <a:solidFill>
            <a:srgbClr val="8B0000"/>
          </a:solidFill>
          <a:ln>
            <a:noFill/>
          </a:ln>
        </p:spPr>
        <p:txBody>
          <a:bodyPr rtlCol="0" anchor="ctr" wrap="square" lIns="0" tIns="0" rIns="0" bIns="0">
            <a:noAutofit/>
          </a:bodyPr>
          <a:lstStyle/>
          <a:p>
            <a:pPr algn="ctr"/>
            <a:r>
              <a:rPr sz="1000" b="1" i="0">
                <a:solidFill>
                  <a:srgbClr val="FFFFFF"/>
                </a:solidFill>
                <a:latin typeface="Times New Roman"/>
              </a:rPr>
              <a:t>Stage I</a:t>
            </a:r>
          </a:p>
        </p:txBody>
      </p:sp>
      <p:sp>
        <p:nvSpPr>
          <p:cNvPr id="17" name="Rounded Rectangle 16"/>
          <p:cNvSpPr/>
          <p:nvPr/>
        </p:nvSpPr>
        <p:spPr>
          <a:xfrm>
            <a:off x="228600" y="3456432"/>
            <a:ext cx="8686800" cy="713232"/>
          </a:xfrm>
          <a:prstGeom prst="roundRect">
            <a:avLst>
              <a:gd name="adj" fmla="val 12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8" name="Oval 17"/>
          <p:cNvSpPr/>
          <p:nvPr/>
        </p:nvSpPr>
        <p:spPr>
          <a:xfrm>
            <a:off x="356616" y="3621024"/>
            <a:ext cx="384048" cy="384048"/>
          </a:xfrm>
          <a:prstGeom prst="ellipse">
            <a:avLst/>
          </a:prstGeom>
          <a:solidFill>
            <a:srgbClr val="8B0000"/>
          </a:solidFill>
          <a:ln>
            <a:noFill/>
          </a:ln>
        </p:spPr>
        <p:txBody>
          <a:bodyPr rtlCol="0" anchor="ctr" wrap="square" lIns="0" tIns="0" rIns="0" bIns="0">
            <a:noAutofit/>
          </a:bodyPr>
          <a:lstStyle/>
          <a:p>
            <a:pPr algn="ctr"/>
            <a:r>
              <a:rPr sz="1400" b="1" i="0">
                <a:solidFill>
                  <a:srgbClr val="FFFFFF"/>
                </a:solidFill>
                <a:latin typeface="Times New Roman"/>
              </a:rPr>
              <a:t>3</a:t>
            </a:r>
          </a:p>
        </p:txBody>
      </p:sp>
      <p:pic>
        <p:nvPicPr>
          <p:cNvPr id="19" name="Picture 18" descr=""/>
          <p:cNvPicPr>
            <a:picLocks noChangeAspect="1"/>
          </p:cNvPicPr>
          <p:nvPr/>
        </p:nvPicPr>
        <p:blipFill>
          <a:blip r:embed="rId4"/>
          <a:stretch>
            <a:fillRect/>
          </a:stretch>
        </p:blipFill>
        <p:spPr>
          <a:xfrm>
            <a:off x="932688" y="3657600"/>
            <a:ext cx="310896" cy="310896"/>
          </a:xfrm>
          <a:prstGeom prst="rect">
            <a:avLst/>
          </a:prstGeom>
        </p:spPr>
      </p:pic>
      <p:sp>
        <p:nvSpPr>
          <p:cNvPr id="20" name="TextBox 19"/>
          <p:cNvSpPr txBox="1"/>
          <p:nvPr/>
        </p:nvSpPr>
        <p:spPr>
          <a:xfrm>
            <a:off x="1371600" y="3456432"/>
            <a:ext cx="6492240" cy="713232"/>
          </a:xfrm>
          <a:prstGeom prst="rect">
            <a:avLst/>
          </a:prstGeom>
          <a:noFill/>
        </p:spPr>
        <p:txBody>
          <a:bodyPr wrap="square" lIns="45720" tIns="27432" rIns="45720" bIns="27432" anchor="ctr">
            <a:noAutofit/>
          </a:bodyPr>
          <a:lstStyle/>
          <a:p>
            <a:pPr algn="l"/>
            <a:r>
              <a:rPr sz="1450" b="1" i="0">
                <a:solidFill>
                  <a:srgbClr val="8B0000"/>
                </a:solidFill>
                <a:latin typeface="Times New Roman"/>
              </a:rPr>
              <a:t>To implement </a:t>
            </a:r>
            <a:r>
              <a:rPr sz="1400" b="0" i="0">
                <a:solidFill>
                  <a:srgbClr val="1F1F1F"/>
                </a:solidFill>
                <a:latin typeface="Times New Roman"/>
              </a:rPr>
              <a:t>a parallel prototype that analyses many patients at once while keeping each patient's context isolated.</a:t>
            </a:r>
          </a:p>
        </p:txBody>
      </p:sp>
      <p:sp>
        <p:nvSpPr>
          <p:cNvPr id="21" name="Rounded Rectangle 20"/>
          <p:cNvSpPr/>
          <p:nvPr/>
        </p:nvSpPr>
        <p:spPr>
          <a:xfrm>
            <a:off x="8001000" y="3675888"/>
            <a:ext cx="804672" cy="274320"/>
          </a:xfrm>
          <a:prstGeom prst="roundRect">
            <a:avLst>
              <a:gd name="adj" fmla="val 50000"/>
            </a:avLst>
          </a:prstGeom>
          <a:solidFill>
            <a:srgbClr val="404040"/>
          </a:solidFill>
          <a:ln>
            <a:noFill/>
          </a:ln>
        </p:spPr>
        <p:txBody>
          <a:bodyPr rtlCol="0" anchor="ctr" wrap="square" lIns="0" tIns="0" rIns="0" bIns="0">
            <a:noAutofit/>
          </a:bodyPr>
          <a:lstStyle/>
          <a:p>
            <a:pPr algn="ctr"/>
            <a:r>
              <a:rPr sz="1000" b="1" i="0">
                <a:solidFill>
                  <a:srgbClr val="FFFFFF"/>
                </a:solidFill>
                <a:latin typeface="Times New Roman"/>
              </a:rPr>
              <a:t>Stage II</a:t>
            </a:r>
          </a:p>
        </p:txBody>
      </p:sp>
      <p:sp>
        <p:nvSpPr>
          <p:cNvPr id="22" name="Rounded Rectangle 21"/>
          <p:cNvSpPr/>
          <p:nvPr/>
        </p:nvSpPr>
        <p:spPr>
          <a:xfrm>
            <a:off x="228600" y="4261104"/>
            <a:ext cx="8686800" cy="713232"/>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3" name="Oval 22"/>
          <p:cNvSpPr/>
          <p:nvPr/>
        </p:nvSpPr>
        <p:spPr>
          <a:xfrm>
            <a:off x="356616" y="4425696"/>
            <a:ext cx="384048" cy="384048"/>
          </a:xfrm>
          <a:prstGeom prst="ellipse">
            <a:avLst/>
          </a:prstGeom>
          <a:solidFill>
            <a:srgbClr val="8B0000"/>
          </a:solidFill>
          <a:ln>
            <a:noFill/>
          </a:ln>
        </p:spPr>
        <p:txBody>
          <a:bodyPr rtlCol="0" anchor="ctr" wrap="square" lIns="0" tIns="0" rIns="0" bIns="0">
            <a:noAutofit/>
          </a:bodyPr>
          <a:lstStyle/>
          <a:p>
            <a:pPr algn="ctr"/>
            <a:r>
              <a:rPr sz="1400" b="1" i="0">
                <a:solidFill>
                  <a:srgbClr val="FFFFFF"/>
                </a:solidFill>
                <a:latin typeface="Times New Roman"/>
              </a:rPr>
              <a:t>4</a:t>
            </a:r>
          </a:p>
        </p:txBody>
      </p:sp>
      <p:pic>
        <p:nvPicPr>
          <p:cNvPr id="24" name="Picture 23" descr=""/>
          <p:cNvPicPr>
            <a:picLocks noChangeAspect="1"/>
          </p:cNvPicPr>
          <p:nvPr/>
        </p:nvPicPr>
        <p:blipFill>
          <a:blip r:embed="rId5"/>
          <a:stretch>
            <a:fillRect/>
          </a:stretch>
        </p:blipFill>
        <p:spPr>
          <a:xfrm>
            <a:off x="932688" y="4462272"/>
            <a:ext cx="310896" cy="310896"/>
          </a:xfrm>
          <a:prstGeom prst="rect">
            <a:avLst/>
          </a:prstGeom>
        </p:spPr>
      </p:pic>
      <p:sp>
        <p:nvSpPr>
          <p:cNvPr id="25" name="TextBox 24"/>
          <p:cNvSpPr txBox="1"/>
          <p:nvPr/>
        </p:nvSpPr>
        <p:spPr>
          <a:xfrm>
            <a:off x="1371600" y="4261104"/>
            <a:ext cx="6492240" cy="713232"/>
          </a:xfrm>
          <a:prstGeom prst="rect">
            <a:avLst/>
          </a:prstGeom>
          <a:noFill/>
        </p:spPr>
        <p:txBody>
          <a:bodyPr wrap="square" lIns="45720" tIns="27432" rIns="45720" bIns="27432" anchor="ctr">
            <a:noAutofit/>
          </a:bodyPr>
          <a:lstStyle/>
          <a:p>
            <a:pPr algn="l"/>
            <a:r>
              <a:rPr sz="1450" b="1" i="0">
                <a:solidFill>
                  <a:srgbClr val="8B0000"/>
                </a:solidFill>
                <a:latin typeface="Times New Roman"/>
              </a:rPr>
              <a:t>To evaluate </a:t>
            </a:r>
            <a:r>
              <a:rPr sz="1400" b="0" i="0">
                <a:solidFill>
                  <a:srgbClr val="1F1F1F"/>
                </a:solidFill>
                <a:latin typeface="Times New Roman"/>
              </a:rPr>
              <a:t>the system in stages against baselines, using ablation studies and calibration checks.</a:t>
            </a:r>
          </a:p>
        </p:txBody>
      </p:sp>
      <p:sp>
        <p:nvSpPr>
          <p:cNvPr id="26" name="Rounded Rectangle 25"/>
          <p:cNvSpPr/>
          <p:nvPr/>
        </p:nvSpPr>
        <p:spPr>
          <a:xfrm>
            <a:off x="8001000" y="4480560"/>
            <a:ext cx="804672" cy="274320"/>
          </a:xfrm>
          <a:prstGeom prst="roundRect">
            <a:avLst>
              <a:gd name="adj" fmla="val 50000"/>
            </a:avLst>
          </a:prstGeom>
          <a:solidFill>
            <a:srgbClr val="404040"/>
          </a:solidFill>
          <a:ln>
            <a:noFill/>
          </a:ln>
        </p:spPr>
        <p:txBody>
          <a:bodyPr rtlCol="0" anchor="ctr" wrap="square" lIns="0" tIns="0" rIns="0" bIns="0">
            <a:noAutofit/>
          </a:bodyPr>
          <a:lstStyle/>
          <a:p>
            <a:pPr algn="ctr"/>
            <a:r>
              <a:rPr sz="1000" b="1" i="0">
                <a:solidFill>
                  <a:srgbClr val="FFFFFF"/>
                </a:solidFill>
                <a:latin typeface="Times New Roman"/>
              </a:rPr>
              <a:t>Stage II</a:t>
            </a:r>
          </a:p>
        </p:txBody>
      </p:sp>
      <p:sp>
        <p:nvSpPr>
          <p:cNvPr id="27" name="Rounded Rectangle 26"/>
          <p:cNvSpPr/>
          <p:nvPr/>
        </p:nvSpPr>
        <p:spPr>
          <a:xfrm>
            <a:off x="228600" y="5065776"/>
            <a:ext cx="8686800" cy="713232"/>
          </a:xfrm>
          <a:prstGeom prst="roundRect">
            <a:avLst>
              <a:gd name="adj" fmla="val 12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8" name="Oval 27"/>
          <p:cNvSpPr/>
          <p:nvPr/>
        </p:nvSpPr>
        <p:spPr>
          <a:xfrm>
            <a:off x="356616" y="5230368"/>
            <a:ext cx="384048" cy="384048"/>
          </a:xfrm>
          <a:prstGeom prst="ellipse">
            <a:avLst/>
          </a:prstGeom>
          <a:solidFill>
            <a:srgbClr val="8B0000"/>
          </a:solidFill>
          <a:ln>
            <a:noFill/>
          </a:ln>
        </p:spPr>
        <p:txBody>
          <a:bodyPr rtlCol="0" anchor="ctr" wrap="square" lIns="0" tIns="0" rIns="0" bIns="0">
            <a:noAutofit/>
          </a:bodyPr>
          <a:lstStyle/>
          <a:p>
            <a:pPr algn="ctr"/>
            <a:r>
              <a:rPr sz="1400" b="1" i="0">
                <a:solidFill>
                  <a:srgbClr val="FFFFFF"/>
                </a:solidFill>
                <a:latin typeface="Times New Roman"/>
              </a:rPr>
              <a:t>5</a:t>
            </a:r>
          </a:p>
        </p:txBody>
      </p:sp>
      <p:pic>
        <p:nvPicPr>
          <p:cNvPr id="29" name="Picture 28" descr=""/>
          <p:cNvPicPr>
            <a:picLocks noChangeAspect="1"/>
          </p:cNvPicPr>
          <p:nvPr/>
        </p:nvPicPr>
        <p:blipFill>
          <a:blip r:embed="rId6"/>
          <a:stretch>
            <a:fillRect/>
          </a:stretch>
        </p:blipFill>
        <p:spPr>
          <a:xfrm>
            <a:off x="932688" y="5266944"/>
            <a:ext cx="310896" cy="310896"/>
          </a:xfrm>
          <a:prstGeom prst="rect">
            <a:avLst/>
          </a:prstGeom>
        </p:spPr>
      </p:pic>
      <p:sp>
        <p:nvSpPr>
          <p:cNvPr id="30" name="TextBox 29"/>
          <p:cNvSpPr txBox="1"/>
          <p:nvPr/>
        </p:nvSpPr>
        <p:spPr>
          <a:xfrm>
            <a:off x="1371600" y="5065776"/>
            <a:ext cx="6492240" cy="713232"/>
          </a:xfrm>
          <a:prstGeom prst="rect">
            <a:avLst/>
          </a:prstGeom>
          <a:noFill/>
        </p:spPr>
        <p:txBody>
          <a:bodyPr wrap="square" lIns="45720" tIns="27432" rIns="45720" bIns="27432" anchor="ctr">
            <a:noAutofit/>
          </a:bodyPr>
          <a:lstStyle/>
          <a:p>
            <a:pPr algn="l"/>
            <a:r>
              <a:rPr sz="1450" b="1" i="0">
                <a:solidFill>
                  <a:srgbClr val="8B0000"/>
                </a:solidFill>
                <a:latin typeface="Times New Roman"/>
              </a:rPr>
              <a:t>To establish </a:t>
            </a:r>
            <a:r>
              <a:rPr sz="1400" b="0" i="0">
                <a:solidFill>
                  <a:srgbClr val="1F1F1F"/>
                </a:solidFill>
                <a:latin typeface="Times New Roman"/>
              </a:rPr>
              <a:t>a clinician review loop so that only validated outcomes are re-indexed into the knowledge store.</a:t>
            </a:r>
          </a:p>
        </p:txBody>
      </p:sp>
      <p:sp>
        <p:nvSpPr>
          <p:cNvPr id="31" name="Rounded Rectangle 30"/>
          <p:cNvSpPr/>
          <p:nvPr/>
        </p:nvSpPr>
        <p:spPr>
          <a:xfrm>
            <a:off x="8001000" y="5285232"/>
            <a:ext cx="804672" cy="274320"/>
          </a:xfrm>
          <a:prstGeom prst="roundRect">
            <a:avLst>
              <a:gd name="adj" fmla="val 50000"/>
            </a:avLst>
          </a:prstGeom>
          <a:solidFill>
            <a:srgbClr val="404040"/>
          </a:solidFill>
          <a:ln>
            <a:noFill/>
          </a:ln>
        </p:spPr>
        <p:txBody>
          <a:bodyPr rtlCol="0" anchor="ctr" wrap="square" lIns="0" tIns="0" rIns="0" bIns="0">
            <a:noAutofit/>
          </a:bodyPr>
          <a:lstStyle/>
          <a:p>
            <a:pPr algn="ctr"/>
            <a:r>
              <a:rPr sz="1000" b="1" i="0">
                <a:solidFill>
                  <a:srgbClr val="FFFFFF"/>
                </a:solidFill>
                <a:latin typeface="Times New Roman"/>
              </a:rPr>
              <a:t>Stage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4. Literature Survey</a:t>
            </a:r>
          </a:p>
        </p:txBody>
      </p:sp>
      <p:cxnSp>
        <p:nvCxnSpPr>
          <p:cNvPr id="6" name="Connector 5"/>
          <p:cNvCxnSpPr/>
          <p:nvPr/>
        </p:nvCxnSpPr>
        <p:spPr>
          <a:xfrm>
            <a:off x="182880" y="1664208"/>
            <a:ext cx="8778240" cy="0"/>
          </a:xfrm>
          <a:prstGeom prst="line">
            <a:avLst/>
          </a:prstGeom>
          <a:ln w="12700">
            <a:solidFill>
              <a:srgbClr val="8B0000"/>
            </a:solidFill>
          </a:ln>
        </p:spPr>
      </p:cxnSp>
      <p:graphicFrame>
        <p:nvGraphicFramePr>
          <p:cNvPr id="7" name="Literature table"/>
          <p:cNvGraphicFramePr>
            <a:graphicFrameLocks noGrp="1"/>
          </p:cNvGraphicFramePr>
          <p:nvPr/>
        </p:nvGraphicFramePr>
        <p:xfrm>
          <a:off x="228600" y="1783080"/>
          <a:ext cx="8686800" cy="3749040"/>
        </p:xfrm>
        <a:graphic>
          <a:graphicData uri="http://schemas.openxmlformats.org/drawingml/2006/table">
            <a:tbl>
              <a:tblPr firstRow="1" bandRow="1">
                <a:tableStyleId>{5C22544A-7EE6-4342-B048-85BDC9FD1C3A}</a:tableStyleId>
              </a:tblPr>
              <a:tblGrid>
                <a:gridCol w="1371600"/>
                <a:gridCol w="548640"/>
                <a:gridCol w="2606040"/>
                <a:gridCol w="1965960"/>
                <a:gridCol w="2194560"/>
              </a:tblGrid>
              <a:tr h="347472">
                <a:tc>
                  <a:txBody>
                    <a:bodyPr wrap="square" lIns="64008" tIns="18288" rIns="64008" bIns="18288" anchor="ctr">
                      <a:noAutofit/>
                    </a:bodyPr>
                    <a:lstStyle/>
                    <a:p>
                      <a:pPr algn="l"/>
                      <a:r>
                        <a:rPr sz="1200" b="1" i="0">
                          <a:solidFill>
                            <a:srgbClr val="FFFFFF"/>
                          </a:solidFill>
                          <a:latin typeface="Times New Roman"/>
                        </a:rPr>
                        <a:t>Author [Ref.]</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Year</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Strength</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Approach</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Key limitation</a:t>
                      </a:r>
                    </a:p>
                  </a:txBody>
                  <a:tcPr>
                    <a:lnL w="0">
                      <a:noFill/>
                    </a:lnL>
                    <a:lnR w="0">
                      <a:noFill/>
                    </a:lnR>
                    <a:lnT w="0">
                      <a:noFill/>
                    </a:lnT>
                    <a:lnB w="0">
                      <a:noFill/>
                    </a:lnB>
                    <a:solidFill>
                      <a:srgbClr val="8B0000"/>
                    </a:solidFill>
                  </a:tcPr>
                </a:tc>
              </a:tr>
              <a:tr h="566928">
                <a:tc>
                  <a:txBody>
                    <a:bodyPr wrap="square" lIns="64008" tIns="18288" rIns="64008" bIns="18288" anchor="ctr">
                      <a:noAutofit/>
                    </a:bodyPr>
                    <a:lstStyle/>
                    <a:p>
                      <a:pPr algn="l"/>
                      <a:r>
                        <a:rPr sz="1100" b="1" i="0">
                          <a:solidFill>
                            <a:srgbClr val="1F1F1F"/>
                          </a:solidFill>
                          <a:latin typeface="Times New Roman"/>
                        </a:rPr>
                        <a:t>Öğdü et al. [1]</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ctr"/>
                      <a:r>
                        <a:rPr sz="1100" b="1" i="0">
                          <a:solidFill>
                            <a:srgbClr val="8B0000"/>
                          </a:solidFill>
                          <a:latin typeface="Times New Roman"/>
                        </a:rPr>
                        <a:t>2025</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3F7A3C"/>
                          </a:solidFill>
                          <a:latin typeface="Times New Roman"/>
                        </a:rPr>
                        <a:t>Fuses biomedical RAG with live web evidence; an adaptive loop re-checks low-confidence answers (94% on MedQA)</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1F1F1F"/>
                          </a:solidFill>
                          <a:latin typeface="Times New Roman"/>
                        </a:rPr>
                        <a:t>Adaptive multi-agent LLM CDSS with biomedical RAG and data fusion</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1">
                          <a:solidFill>
                            <a:srgbClr val="B04848"/>
                          </a:solidFill>
                          <a:latin typeface="Times New Roman"/>
                        </a:rPr>
                        <a:t>Hard to trace which component produced a recommendation</a:t>
                      </a:r>
                    </a:p>
                  </a:txBody>
                  <a:tcPr>
                    <a:lnL w="0">
                      <a:noFill/>
                    </a:lnL>
                    <a:lnR w="0">
                      <a:noFill/>
                    </a:lnR>
                    <a:lnT w="0">
                      <a:noFill/>
                    </a:lnT>
                    <a:lnB w="9525">
                      <a:solidFill>
                        <a:srgbClr val="BFBFBF"/>
                      </a:solidFill>
                    </a:lnB>
                    <a:solidFill>
                      <a:srgbClr val="FFFFFF"/>
                    </a:solidFill>
                  </a:tcPr>
                </a:tc>
              </a:tr>
              <a:tr h="566928">
                <a:tc>
                  <a:txBody>
                    <a:bodyPr wrap="square" lIns="64008" tIns="18288" rIns="64008" bIns="18288" anchor="ctr">
                      <a:noAutofit/>
                    </a:bodyPr>
                    <a:lstStyle/>
                    <a:p>
                      <a:pPr algn="l"/>
                      <a:r>
                        <a:rPr sz="1100" b="1" i="0">
                          <a:solidFill>
                            <a:srgbClr val="1F1F1F"/>
                          </a:solidFill>
                          <a:latin typeface="Times New Roman"/>
                        </a:rPr>
                        <a:t>Tang et al. [2]</a:t>
                      </a:r>
                    </a:p>
                    <a:p>
                      <a:pPr algn="l"/>
                      <a:r>
                        <a:rPr sz="1000" b="0" i="1">
                          <a:solidFill>
                            <a:srgbClr val="595959"/>
                          </a:solidFill>
                          <a:latin typeface="Times New Roman"/>
                        </a:rPr>
                        <a:t>MedAgents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ctr"/>
                      <a:r>
                        <a:rPr sz="1100" b="1" i="0">
                          <a:solidFill>
                            <a:srgbClr val="8B0000"/>
                          </a:solidFill>
                          <a:latin typeface="Times New Roman"/>
                        </a:rPr>
                        <a:t>2024</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3F7A3C"/>
                          </a:solidFill>
                          <a:latin typeface="Times New Roman"/>
                        </a:rPr>
                        <a:t>Training-free: role-playing LLM experts discuss and reach consensus (83.7% on MedQA with GPT-4)</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1F1F1F"/>
                          </a:solidFill>
                          <a:latin typeface="Times New Roman"/>
                        </a:rPr>
                        <a:t>Role-based LLM agents that discuss and reach consensus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1">
                          <a:solidFill>
                            <a:srgbClr val="B04848"/>
                          </a:solidFill>
                          <a:latin typeface="Times New Roman"/>
                        </a:rPr>
                        <a:t>No dedicated ML model or deterministic rules</a:t>
                      </a:r>
                    </a:p>
                  </a:txBody>
                  <a:tcPr>
                    <a:lnL w="0">
                      <a:noFill/>
                    </a:lnL>
                    <a:lnR w="0">
                      <a:noFill/>
                    </a:lnR>
                    <a:lnT w="0">
                      <a:noFill/>
                    </a:lnT>
                    <a:lnB w="9525">
                      <a:solidFill>
                        <a:srgbClr val="BFBFBF"/>
                      </a:solidFill>
                    </a:lnB>
                    <a:solidFill>
                      <a:srgbClr val="FBF3F3"/>
                    </a:solidFill>
                  </a:tcPr>
                </a:tc>
              </a:tr>
              <a:tr h="566928">
                <a:tc>
                  <a:txBody>
                    <a:bodyPr wrap="square" lIns="64008" tIns="18288" rIns="64008" bIns="18288" anchor="ctr">
                      <a:noAutofit/>
                    </a:bodyPr>
                    <a:lstStyle/>
                    <a:p>
                      <a:pPr algn="l"/>
                      <a:r>
                        <a:rPr sz="1100" b="1" i="0">
                          <a:solidFill>
                            <a:srgbClr val="1F1F1F"/>
                          </a:solidFill>
                          <a:latin typeface="Times New Roman"/>
                        </a:rPr>
                        <a:t>Lu et al. [3]</a:t>
                      </a:r>
                    </a:p>
                    <a:p>
                      <a:pPr algn="l"/>
                      <a:r>
                        <a:rPr sz="1000" b="0" i="1">
                          <a:solidFill>
                            <a:srgbClr val="595959"/>
                          </a:solidFill>
                          <a:latin typeface="Times New Roman"/>
                        </a:rPr>
                        <a:t>ClinicalRAG</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ctr"/>
                      <a:r>
                        <a:rPr sz="1100" b="1" i="0">
                          <a:solidFill>
                            <a:srgbClr val="8B0000"/>
                          </a:solidFill>
                          <a:latin typeface="Times New Roman"/>
                        </a:rPr>
                        <a:t>2024</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3F7A3C"/>
                          </a:solidFill>
                          <a:latin typeface="Times New Roman"/>
                        </a:rPr>
                        <a:t>Adds structured and unstructured medical knowledge during generation to reduce hallucination</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1F1F1F"/>
                          </a:solidFill>
                          <a:latin typeface="Times New Roman"/>
                        </a:rPr>
                        <a:t>Multi-agent pipeline with heterogeneous knowledge retrieval</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1">
                          <a:solidFill>
                            <a:srgbClr val="B04848"/>
                          </a:solidFill>
                          <a:latin typeface="Times New Roman"/>
                        </a:rPr>
                        <a:t>Tabular ML and rules lack a common interface with retrieval</a:t>
                      </a:r>
                    </a:p>
                  </a:txBody>
                  <a:tcPr>
                    <a:lnL w="0">
                      <a:noFill/>
                    </a:lnL>
                    <a:lnR w="0">
                      <a:noFill/>
                    </a:lnR>
                    <a:lnT w="0">
                      <a:noFill/>
                    </a:lnT>
                    <a:lnB w="9525">
                      <a:solidFill>
                        <a:srgbClr val="BFBFBF"/>
                      </a:solidFill>
                    </a:lnB>
                    <a:solidFill>
                      <a:srgbClr val="FFFFFF"/>
                    </a:solidFill>
                  </a:tcPr>
                </a:tc>
              </a:tr>
              <a:tr h="566928">
                <a:tc>
                  <a:txBody>
                    <a:bodyPr wrap="square" lIns="64008" tIns="18288" rIns="64008" bIns="18288" anchor="ctr">
                      <a:noAutofit/>
                    </a:bodyPr>
                    <a:lstStyle/>
                    <a:p>
                      <a:pPr algn="l"/>
                      <a:r>
                        <a:rPr sz="1100" b="1" i="0">
                          <a:solidFill>
                            <a:srgbClr val="1F1F1F"/>
                          </a:solidFill>
                          <a:latin typeface="Times New Roman"/>
                        </a:rPr>
                        <a:t>Zuo et al. [4]</a:t>
                      </a:r>
                    </a:p>
                    <a:p>
                      <a:pPr algn="l"/>
                      <a:r>
                        <a:rPr sz="1000" b="0" i="1">
                          <a:solidFill>
                            <a:srgbClr val="595959"/>
                          </a:solidFill>
                          <a:latin typeface="Times New Roman"/>
                        </a:rPr>
                        <a:t>KG4Diagnosis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ctr"/>
                      <a:r>
                        <a:rPr sz="1100" b="1" i="0">
                          <a:solidFill>
                            <a:srgbClr val="8B0000"/>
                          </a:solidFill>
                          <a:latin typeface="Times New Roman"/>
                        </a:rPr>
                        <a:t>2025</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3F7A3C"/>
                          </a:solidFill>
                          <a:latin typeface="Times New Roman"/>
                        </a:rPr>
                        <a:t>GP-to-specialist agent hierarchy mirrors real referral and covers 362 diseases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1F1F1F"/>
                          </a:solidFill>
                          <a:latin typeface="Times New Roman"/>
                        </a:rPr>
                        <a:t>Hierarchical LLM agents with a medical knowledge graph</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1">
                          <a:solidFill>
                            <a:srgbClr val="B04848"/>
                          </a:solidFill>
                          <a:latin typeface="Times New Roman"/>
                        </a:rPr>
                        <a:t>Knowledge graph adds knowledge-engineering requirements</a:t>
                      </a:r>
                    </a:p>
                  </a:txBody>
                  <a:tcPr>
                    <a:lnL w="0">
                      <a:noFill/>
                    </a:lnL>
                    <a:lnR w="0">
                      <a:noFill/>
                    </a:lnR>
                    <a:lnT w="0">
                      <a:noFill/>
                    </a:lnT>
                    <a:lnB w="9525">
                      <a:solidFill>
                        <a:srgbClr val="BFBFBF"/>
                      </a:solidFill>
                    </a:lnB>
                    <a:solidFill>
                      <a:srgbClr val="FBF3F3"/>
                    </a:solidFill>
                  </a:tcPr>
                </a:tc>
              </a:tr>
              <a:tr h="566928">
                <a:tc>
                  <a:txBody>
                    <a:bodyPr wrap="square" lIns="64008" tIns="18288" rIns="64008" bIns="18288" anchor="ctr">
                      <a:noAutofit/>
                    </a:bodyPr>
                    <a:lstStyle/>
                    <a:p>
                      <a:pPr algn="l"/>
                      <a:r>
                        <a:rPr sz="1100" b="1" i="0">
                          <a:solidFill>
                            <a:srgbClr val="1F1F1F"/>
                          </a:solidFill>
                          <a:latin typeface="Times New Roman"/>
                        </a:rPr>
                        <a:t>Abdullahi et al. [5]</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ctr"/>
                      <a:r>
                        <a:rPr sz="1100" b="1" i="0">
                          <a:solidFill>
                            <a:srgbClr val="8B0000"/>
                          </a:solidFill>
                          <a:latin typeface="Times New Roman"/>
                        </a:rPr>
                        <a:t>2024</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3F7A3C"/>
                          </a:solidFill>
                          <a:latin typeface="Times New Roman"/>
                        </a:rPr>
                        <a:t>Transparent PubMed retrieval ranks rare diagnoses without labelled training data</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0">
                          <a:solidFill>
                            <a:srgbClr val="1F1F1F"/>
                          </a:solidFill>
                          <a:latin typeface="Times New Roman"/>
                        </a:rPr>
                        <a:t>Ensemble of retrieval-based and predictive diagnosis</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0" i="1">
                          <a:solidFill>
                            <a:srgbClr val="B04848"/>
                          </a:solidFill>
                          <a:latin typeface="Times New Roman"/>
                        </a:rPr>
                        <a:t>Focus is diagnostic ranking, not an auditable per-patient pipeline</a:t>
                      </a:r>
                    </a:p>
                  </a:txBody>
                  <a:tcPr>
                    <a:lnL w="0">
                      <a:noFill/>
                    </a:lnL>
                    <a:lnR w="0">
                      <a:noFill/>
                    </a:lnR>
                    <a:lnT w="0">
                      <a:noFill/>
                    </a:lnT>
                    <a:lnB w="9525">
                      <a:solidFill>
                        <a:srgbClr val="BFBFBF"/>
                      </a:solidFill>
                    </a:lnB>
                    <a:solidFill>
                      <a:srgbClr val="FFFFFF"/>
                    </a:solidFill>
                  </a:tcPr>
                </a:tc>
              </a:tr>
              <a:tr h="566928">
                <a:tc>
                  <a:txBody>
                    <a:bodyPr wrap="square" lIns="64008" tIns="18288" rIns="64008" bIns="18288" anchor="ctr">
                      <a:noAutofit/>
                    </a:bodyPr>
                    <a:lstStyle/>
                    <a:p>
                      <a:pPr algn="l"/>
                      <a:r>
                        <a:rPr sz="1100" b="1" i="0">
                          <a:solidFill>
                            <a:srgbClr val="1F1F1F"/>
                          </a:solidFill>
                          <a:latin typeface="Times New Roman"/>
                        </a:rPr>
                        <a:t>Li et al. [10]</a:t>
                      </a:r>
                    </a:p>
                    <a:p>
                      <a:pPr algn="l"/>
                      <a:r>
                        <a:rPr sz="1000" b="0" i="1">
                          <a:solidFill>
                            <a:srgbClr val="595959"/>
                          </a:solidFill>
                          <a:latin typeface="Times New Roman"/>
                        </a:rPr>
                        <a:t>MACD</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ctr"/>
                      <a:r>
                        <a:rPr sz="1100" b="1" i="0">
                          <a:solidFill>
                            <a:srgbClr val="8B0000"/>
                          </a:solidFill>
                          <a:latin typeface="Times New Roman"/>
                        </a:rPr>
                        <a:t>2025</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3F7A3C"/>
                          </a:solidFill>
                          <a:latin typeface="Times New Roman"/>
                        </a:rPr>
                        <a:t>Agents learn reusable diagnostic knowledge; up to 22.3% gain over clinical guidelines on 4,390 cases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0">
                          <a:solidFill>
                            <a:srgbClr val="1F1F1F"/>
                          </a:solidFill>
                          <a:latin typeface="Times New Roman"/>
                        </a:rPr>
                        <a:t>Multi-agent diagnosis with self-learned knowledge</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0" i="1">
                          <a:solidFill>
                            <a:srgbClr val="B04848"/>
                          </a:solidFill>
                          <a:latin typeface="Times New Roman"/>
                        </a:rPr>
                        <a:t>Governance of self-learned knowledge not fully addressed</a:t>
                      </a:r>
                    </a:p>
                  </a:txBody>
                  <a:tcPr>
                    <a:lnL w="0">
                      <a:noFill/>
                    </a:lnL>
                    <a:lnR w="0">
                      <a:noFill/>
                    </a:lnR>
                    <a:lnT w="0">
                      <a:noFill/>
                    </a:lnT>
                    <a:lnB w="9525">
                      <a:solidFill>
                        <a:srgbClr val="BFBFBF"/>
                      </a:solidFill>
                    </a:lnB>
                    <a:solidFill>
                      <a:srgbClr val="FBF3F3"/>
                    </a:solidFill>
                  </a:tcPr>
                </a:tc>
              </a:tr>
            </a:tbl>
          </a:graphicData>
        </a:graphic>
      </p:graphicFrame>
      <p:sp>
        <p:nvSpPr>
          <p:cNvPr id="8" name="TextBox 7"/>
          <p:cNvSpPr txBox="1"/>
          <p:nvPr/>
        </p:nvSpPr>
        <p:spPr>
          <a:xfrm>
            <a:off x="228600" y="5669280"/>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Table 1.1: </a:t>
            </a:r>
            <a:r>
              <a:rPr sz="1100" b="0" i="1">
                <a:solidFill>
                  <a:srgbClr val="595959"/>
                </a:solidFill>
                <a:latin typeface="Times New Roman"/>
              </a:rPr>
              <a:t>Six works closest to MedIntel, out of the twelve reviewed (full comparison in the project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5. Research Gap</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828800"/>
            <a:ext cx="2971800" cy="1024128"/>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Oval 7"/>
          <p:cNvSpPr/>
          <p:nvPr/>
        </p:nvSpPr>
        <p:spPr>
          <a:xfrm>
            <a:off x="338328" y="1911095"/>
            <a:ext cx="420624" cy="42062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9" name="Picture 8" descr=""/>
          <p:cNvPicPr>
            <a:picLocks noChangeAspect="1"/>
          </p:cNvPicPr>
          <p:nvPr/>
        </p:nvPicPr>
        <p:blipFill>
          <a:blip r:embed="rId2"/>
          <a:stretch>
            <a:fillRect/>
          </a:stretch>
        </p:blipFill>
        <p:spPr>
          <a:xfrm>
            <a:off x="430865" y="2003633"/>
            <a:ext cx="235549" cy="235549"/>
          </a:xfrm>
          <a:prstGeom prst="rect">
            <a:avLst/>
          </a:prstGeom>
        </p:spPr>
      </p:pic>
      <p:sp>
        <p:nvSpPr>
          <p:cNvPr id="10" name="TextBox 9"/>
          <p:cNvSpPr txBox="1"/>
          <p:nvPr/>
        </p:nvSpPr>
        <p:spPr>
          <a:xfrm>
            <a:off x="841248" y="1920240"/>
            <a:ext cx="2286000" cy="384048"/>
          </a:xfrm>
          <a:prstGeom prst="rect">
            <a:avLst/>
          </a:prstGeom>
          <a:noFill/>
        </p:spPr>
        <p:txBody>
          <a:bodyPr wrap="square" lIns="45720" tIns="27432" rIns="45720" bIns="27432" anchor="ctr">
            <a:noAutofit/>
          </a:bodyPr>
          <a:lstStyle/>
          <a:p>
            <a:pPr algn="l"/>
            <a:r>
              <a:rPr sz="1350" b="1" i="0">
                <a:solidFill>
                  <a:srgbClr val="8B0000"/>
                </a:solidFill>
                <a:latin typeface="Times New Roman"/>
              </a:rPr>
              <a:t>Untraceable outputs</a:t>
            </a:r>
          </a:p>
        </p:txBody>
      </p:sp>
      <p:sp>
        <p:nvSpPr>
          <p:cNvPr id="11" name="TextBox 10"/>
          <p:cNvSpPr txBox="1"/>
          <p:nvPr/>
        </p:nvSpPr>
        <p:spPr>
          <a:xfrm>
            <a:off x="841248" y="2258567"/>
            <a:ext cx="2304288"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Single models and chained LLM agents do not link a recommendation to the feature, rule or source behind it [1], [2].</a:t>
            </a:r>
          </a:p>
        </p:txBody>
      </p:sp>
      <p:sp>
        <p:nvSpPr>
          <p:cNvPr id="12" name="Rounded Rectangle 11"/>
          <p:cNvSpPr/>
          <p:nvPr/>
        </p:nvSpPr>
        <p:spPr>
          <a:xfrm>
            <a:off x="228600" y="2944367"/>
            <a:ext cx="2971800" cy="1024128"/>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3" name="Oval 12"/>
          <p:cNvSpPr/>
          <p:nvPr/>
        </p:nvSpPr>
        <p:spPr>
          <a:xfrm>
            <a:off x="338328" y="3026663"/>
            <a:ext cx="420624" cy="42062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4" name="Picture 13" descr=""/>
          <p:cNvPicPr>
            <a:picLocks noChangeAspect="1"/>
          </p:cNvPicPr>
          <p:nvPr/>
        </p:nvPicPr>
        <p:blipFill>
          <a:blip r:embed="rId3"/>
          <a:stretch>
            <a:fillRect/>
          </a:stretch>
        </p:blipFill>
        <p:spPr>
          <a:xfrm>
            <a:off x="430865" y="3119201"/>
            <a:ext cx="235549" cy="235549"/>
          </a:xfrm>
          <a:prstGeom prst="rect">
            <a:avLst/>
          </a:prstGeom>
        </p:spPr>
      </p:pic>
      <p:sp>
        <p:nvSpPr>
          <p:cNvPr id="15" name="TextBox 14"/>
          <p:cNvSpPr txBox="1"/>
          <p:nvPr/>
        </p:nvSpPr>
        <p:spPr>
          <a:xfrm>
            <a:off x="841248" y="3035807"/>
            <a:ext cx="2286000" cy="384048"/>
          </a:xfrm>
          <a:prstGeom prst="rect">
            <a:avLst/>
          </a:prstGeom>
          <a:noFill/>
        </p:spPr>
        <p:txBody>
          <a:bodyPr wrap="square" lIns="45720" tIns="27432" rIns="45720" bIns="27432" anchor="ctr">
            <a:noAutofit/>
          </a:bodyPr>
          <a:lstStyle/>
          <a:p>
            <a:pPr algn="l"/>
            <a:r>
              <a:rPr sz="1350" b="1" i="0">
                <a:solidFill>
                  <a:srgbClr val="8B0000"/>
                </a:solidFill>
                <a:latin typeface="Times New Roman"/>
              </a:rPr>
              <a:t>No common interface</a:t>
            </a:r>
          </a:p>
        </p:txBody>
      </p:sp>
      <p:sp>
        <p:nvSpPr>
          <p:cNvPr id="16" name="TextBox 15"/>
          <p:cNvSpPr txBox="1"/>
          <p:nvPr/>
        </p:nvSpPr>
        <p:spPr>
          <a:xfrm>
            <a:off x="841248" y="3374135"/>
            <a:ext cx="2304288"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Tabular ML, deterministic rules, retrieval and LLM synthesis do not meet at one interface for each patient [3], [5].</a:t>
            </a:r>
          </a:p>
        </p:txBody>
      </p:sp>
      <p:sp>
        <p:nvSpPr>
          <p:cNvPr id="17" name="Rounded Rectangle 16"/>
          <p:cNvSpPr/>
          <p:nvPr/>
        </p:nvSpPr>
        <p:spPr>
          <a:xfrm>
            <a:off x="228600" y="4059936"/>
            <a:ext cx="2971800" cy="1024128"/>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8" name="Oval 17"/>
          <p:cNvSpPr/>
          <p:nvPr/>
        </p:nvSpPr>
        <p:spPr>
          <a:xfrm>
            <a:off x="338328" y="4142232"/>
            <a:ext cx="420624" cy="42062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9" name="Picture 18" descr=""/>
          <p:cNvPicPr>
            <a:picLocks noChangeAspect="1"/>
          </p:cNvPicPr>
          <p:nvPr/>
        </p:nvPicPr>
        <p:blipFill>
          <a:blip r:embed="rId4"/>
          <a:stretch>
            <a:fillRect/>
          </a:stretch>
        </p:blipFill>
        <p:spPr>
          <a:xfrm>
            <a:off x="430865" y="4234769"/>
            <a:ext cx="235549" cy="235549"/>
          </a:xfrm>
          <a:prstGeom prst="rect">
            <a:avLst/>
          </a:prstGeom>
        </p:spPr>
      </p:pic>
      <p:sp>
        <p:nvSpPr>
          <p:cNvPr id="20" name="TextBox 19"/>
          <p:cNvSpPr txBox="1"/>
          <p:nvPr/>
        </p:nvSpPr>
        <p:spPr>
          <a:xfrm>
            <a:off x="841248" y="4151376"/>
            <a:ext cx="2286000" cy="384048"/>
          </a:xfrm>
          <a:prstGeom prst="rect">
            <a:avLst/>
          </a:prstGeom>
          <a:noFill/>
        </p:spPr>
        <p:txBody>
          <a:bodyPr wrap="square" lIns="45720" tIns="27432" rIns="45720" bIns="27432" anchor="ctr">
            <a:noAutofit/>
          </a:bodyPr>
          <a:lstStyle/>
          <a:p>
            <a:pPr algn="l"/>
            <a:r>
              <a:rPr sz="1350" b="1" i="0">
                <a:solidFill>
                  <a:srgbClr val="8B0000"/>
                </a:solidFill>
                <a:latin typeface="Times New Roman"/>
              </a:rPr>
              <a:t>Incomplete evaluation</a:t>
            </a:r>
          </a:p>
        </p:txBody>
      </p:sp>
      <p:sp>
        <p:nvSpPr>
          <p:cNvPr id="21" name="TextBox 20"/>
          <p:cNvSpPr txBox="1"/>
          <p:nvPr/>
        </p:nvSpPr>
        <p:spPr>
          <a:xfrm>
            <a:off x="841248" y="4489704"/>
            <a:ext cx="2304288"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Few studies show what each component adds or whether the confidence is calibrated [3], [4], [7].</a:t>
            </a:r>
          </a:p>
        </p:txBody>
      </p:sp>
      <p:pic>
        <p:nvPicPr>
          <p:cNvPr id="22" name="Picture 21" descr="Comparison of single-model CDSS, RAG-based CDSS and the multi-agent evidence-separated MedIntel approach"/>
          <p:cNvPicPr>
            <a:picLocks noChangeAspect="1"/>
          </p:cNvPicPr>
          <p:nvPr/>
        </p:nvPicPr>
        <p:blipFill>
          <a:blip r:embed="rId5"/>
          <a:stretch>
            <a:fillRect/>
          </a:stretch>
        </p:blipFill>
        <p:spPr>
          <a:xfrm>
            <a:off x="3401568" y="1810511"/>
            <a:ext cx="5513832" cy="3289920"/>
          </a:xfrm>
          <a:prstGeom prst="rect">
            <a:avLst/>
          </a:prstGeom>
        </p:spPr>
      </p:pic>
      <p:sp>
        <p:nvSpPr>
          <p:cNvPr id="23" name="TextBox 22"/>
          <p:cNvSpPr txBox="1"/>
          <p:nvPr/>
        </p:nvSpPr>
        <p:spPr>
          <a:xfrm>
            <a:off x="3401568" y="5093208"/>
            <a:ext cx="5513832" cy="237744"/>
          </a:xfrm>
          <a:prstGeom prst="rect">
            <a:avLst/>
          </a:prstGeom>
          <a:noFill/>
        </p:spPr>
        <p:txBody>
          <a:bodyPr wrap="square" lIns="45720" tIns="27432" rIns="45720" bIns="27432" anchor="ctr">
            <a:noAutofit/>
          </a:bodyPr>
          <a:lstStyle/>
          <a:p>
            <a:pPr algn="ctr"/>
            <a:r>
              <a:rPr sz="1000" b="1" i="1">
                <a:solidFill>
                  <a:srgbClr val="404040"/>
                </a:solidFill>
                <a:latin typeface="Times New Roman"/>
              </a:rPr>
              <a:t>Fig. 1.2: </a:t>
            </a:r>
            <a:r>
              <a:rPr sz="1000" b="0" i="1">
                <a:solidFill>
                  <a:srgbClr val="595959"/>
                </a:solidFill>
                <a:latin typeface="Times New Roman"/>
              </a:rPr>
              <a:t>Single-model, RAG-based [6] and evidence-separated multi-agent [1], [2] CDSS designs</a:t>
            </a:r>
          </a:p>
        </p:txBody>
      </p:sp>
      <p:sp>
        <p:nvSpPr>
          <p:cNvPr id="24" name="Rounded Rectangle 23"/>
          <p:cNvSpPr/>
          <p:nvPr/>
        </p:nvSpPr>
        <p:spPr>
          <a:xfrm>
            <a:off x="228600" y="5376672"/>
            <a:ext cx="8686800" cy="566928"/>
          </a:xfrm>
          <a:prstGeom prst="roundRect">
            <a:avLst>
              <a:gd name="adj" fmla="val 18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5" name="Oval 24"/>
          <p:cNvSpPr/>
          <p:nvPr/>
        </p:nvSpPr>
        <p:spPr>
          <a:xfrm>
            <a:off x="402335" y="5449823"/>
            <a:ext cx="420624" cy="420624"/>
          </a:xfrm>
          <a:prstGeom prst="ellipse">
            <a:avLst/>
          </a:prstGeom>
          <a:solidFill>
            <a:srgbClr val="FFFFFF"/>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6" name="Picture 25" descr=""/>
          <p:cNvPicPr>
            <a:picLocks noChangeAspect="1"/>
          </p:cNvPicPr>
          <p:nvPr/>
        </p:nvPicPr>
        <p:blipFill>
          <a:blip r:embed="rId6"/>
          <a:stretch>
            <a:fillRect/>
          </a:stretch>
        </p:blipFill>
        <p:spPr>
          <a:xfrm>
            <a:off x="494873" y="5542361"/>
            <a:ext cx="235549" cy="235549"/>
          </a:xfrm>
          <a:prstGeom prst="rect">
            <a:avLst/>
          </a:prstGeom>
        </p:spPr>
      </p:pic>
      <p:sp>
        <p:nvSpPr>
          <p:cNvPr id="27" name="TextBox 26"/>
          <p:cNvSpPr txBox="1"/>
          <p:nvPr/>
        </p:nvSpPr>
        <p:spPr>
          <a:xfrm>
            <a:off x="914400" y="5376672"/>
            <a:ext cx="7863840" cy="566928"/>
          </a:xfrm>
          <a:prstGeom prst="rect">
            <a:avLst/>
          </a:prstGeom>
          <a:noFill/>
        </p:spPr>
        <p:txBody>
          <a:bodyPr wrap="square" lIns="45720" tIns="27432" rIns="45720" bIns="27432" anchor="ctr">
            <a:noAutofit/>
          </a:bodyPr>
          <a:lstStyle/>
          <a:p>
            <a:pPr algn="l"/>
            <a:r>
              <a:rPr sz="1300" b="1" i="1">
                <a:solidFill>
                  <a:srgbClr val="FFFFFF"/>
                </a:solidFill>
                <a:latin typeface="Times New Roman"/>
              </a:rPr>
              <a:t>MedIntel addresses all three: </a:t>
            </a:r>
            <a:r>
              <a:rPr sz="1300" b="0" i="1">
                <a:solidFill>
                  <a:srgbClr val="FFFFFF"/>
                </a:solidFill>
                <a:latin typeface="Times New Roman"/>
              </a:rPr>
              <a:t>separate evidence production, explicit fusion and clinician-controlled knowledge updates.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6. Proposed Architecture</a:t>
            </a:r>
          </a:p>
        </p:txBody>
      </p:sp>
      <p:cxnSp>
        <p:nvCxnSpPr>
          <p:cNvPr id="6" name="Connector 5"/>
          <p:cNvCxnSpPr/>
          <p:nvPr/>
        </p:nvCxnSpPr>
        <p:spPr>
          <a:xfrm>
            <a:off x="182880" y="1664208"/>
            <a:ext cx="8778240" cy="0"/>
          </a:xfrm>
          <a:prstGeom prst="line">
            <a:avLst/>
          </a:prstGeom>
          <a:ln w="12700">
            <a:solidFill>
              <a:srgbClr val="8B0000"/>
            </a:solidFill>
          </a:ln>
        </p:spPr>
      </p:cxnSp>
      <p:pic>
        <p:nvPicPr>
          <p:cNvPr id="7" name="Picture 6" descr="MedIntel system architecture block diagram"/>
          <p:cNvPicPr>
            <a:picLocks noChangeAspect="1"/>
          </p:cNvPicPr>
          <p:nvPr/>
        </p:nvPicPr>
        <p:blipFill>
          <a:blip r:embed="rId2"/>
          <a:stretch>
            <a:fillRect/>
          </a:stretch>
        </p:blipFill>
        <p:spPr>
          <a:xfrm>
            <a:off x="548640" y="1773936"/>
            <a:ext cx="8046720" cy="3589526"/>
          </a:xfrm>
          <a:prstGeom prst="rect">
            <a:avLst/>
          </a:prstGeom>
        </p:spPr>
      </p:pic>
      <p:sp>
        <p:nvSpPr>
          <p:cNvPr id="8" name="Oval 7"/>
          <p:cNvSpPr/>
          <p:nvPr/>
        </p:nvSpPr>
        <p:spPr>
          <a:xfrm>
            <a:off x="2617378" y="1967850"/>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1</a:t>
            </a:r>
          </a:p>
        </p:txBody>
      </p:sp>
      <p:sp>
        <p:nvSpPr>
          <p:cNvPr id="9" name="Oval 8"/>
          <p:cNvSpPr/>
          <p:nvPr/>
        </p:nvSpPr>
        <p:spPr>
          <a:xfrm>
            <a:off x="4733665" y="1750547"/>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2</a:t>
            </a:r>
          </a:p>
        </p:txBody>
      </p:sp>
      <p:sp>
        <p:nvSpPr>
          <p:cNvPr id="10" name="Oval 9"/>
          <p:cNvSpPr/>
          <p:nvPr/>
        </p:nvSpPr>
        <p:spPr>
          <a:xfrm>
            <a:off x="6837883" y="1750547"/>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3</a:t>
            </a:r>
          </a:p>
        </p:txBody>
      </p:sp>
      <p:sp>
        <p:nvSpPr>
          <p:cNvPr id="11" name="Oval 10"/>
          <p:cNvSpPr/>
          <p:nvPr/>
        </p:nvSpPr>
        <p:spPr>
          <a:xfrm>
            <a:off x="4733665" y="2643904"/>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4</a:t>
            </a:r>
          </a:p>
        </p:txBody>
      </p:sp>
      <p:sp>
        <p:nvSpPr>
          <p:cNvPr id="12" name="Oval 11"/>
          <p:cNvSpPr/>
          <p:nvPr/>
        </p:nvSpPr>
        <p:spPr>
          <a:xfrm>
            <a:off x="6600504" y="2619760"/>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5</a:t>
            </a:r>
          </a:p>
        </p:txBody>
      </p:sp>
      <p:sp>
        <p:nvSpPr>
          <p:cNvPr id="13" name="Oval 12"/>
          <p:cNvSpPr/>
          <p:nvPr/>
        </p:nvSpPr>
        <p:spPr>
          <a:xfrm>
            <a:off x="4890576" y="3561407"/>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6</a:t>
            </a:r>
          </a:p>
        </p:txBody>
      </p:sp>
      <p:sp>
        <p:nvSpPr>
          <p:cNvPr id="14" name="Oval 13"/>
          <p:cNvSpPr/>
          <p:nvPr/>
        </p:nvSpPr>
        <p:spPr>
          <a:xfrm>
            <a:off x="4604918" y="4511102"/>
            <a:ext cx="256032" cy="256032"/>
          </a:xfrm>
          <a:prstGeom prst="ellipse">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7</a:t>
            </a:r>
          </a:p>
        </p:txBody>
      </p:sp>
      <p:sp>
        <p:nvSpPr>
          <p:cNvPr id="15" name="Rounded Rectangle 14"/>
          <p:cNvSpPr/>
          <p:nvPr/>
        </p:nvSpPr>
        <p:spPr>
          <a:xfrm>
            <a:off x="411480" y="2971800"/>
            <a:ext cx="3703320" cy="2395728"/>
          </a:xfrm>
          <a:prstGeom prst="roundRect">
            <a:avLst>
              <a:gd name="adj" fmla="val 5000"/>
            </a:avLst>
          </a:prstGeom>
          <a:solidFill>
            <a:srgbClr val="FFFFFF"/>
          </a:solidFill>
          <a:ln w="9525">
            <a:solidFill>
              <a:srgbClr val="BFBFBF"/>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6" name="TextBox 15"/>
          <p:cNvSpPr txBox="1"/>
          <p:nvPr/>
        </p:nvSpPr>
        <p:spPr>
          <a:xfrm>
            <a:off x="502920" y="3017520"/>
            <a:ext cx="3566160" cy="292608"/>
          </a:xfrm>
          <a:prstGeom prst="rect">
            <a:avLst/>
          </a:prstGeom>
          <a:noFill/>
        </p:spPr>
        <p:txBody>
          <a:bodyPr wrap="square" lIns="45720" tIns="27432" rIns="45720" bIns="27432" anchor="ctr">
            <a:noAutofit/>
          </a:bodyPr>
          <a:lstStyle/>
          <a:p>
            <a:pPr algn="l"/>
            <a:r>
              <a:rPr sz="1250" b="1" i="0">
                <a:solidFill>
                  <a:srgbClr val="8B0000"/>
                </a:solidFill>
                <a:latin typeface="Times New Roman"/>
              </a:rPr>
              <a:t>Seven pipeline stages</a:t>
            </a:r>
          </a:p>
        </p:txBody>
      </p:sp>
      <p:sp>
        <p:nvSpPr>
          <p:cNvPr id="17" name="Oval 16"/>
          <p:cNvSpPr/>
          <p:nvPr/>
        </p:nvSpPr>
        <p:spPr>
          <a:xfrm>
            <a:off x="553212" y="3396995"/>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1</a:t>
            </a:r>
          </a:p>
        </p:txBody>
      </p:sp>
      <p:sp>
        <p:nvSpPr>
          <p:cNvPr id="18" name="TextBox 17"/>
          <p:cNvSpPr txBox="1"/>
          <p:nvPr/>
        </p:nvSpPr>
        <p:spPr>
          <a:xfrm>
            <a:off x="841248" y="338328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Data ingestion &amp; validation</a:t>
            </a:r>
          </a:p>
        </p:txBody>
      </p:sp>
      <p:sp>
        <p:nvSpPr>
          <p:cNvPr id="19" name="Oval 18"/>
          <p:cNvSpPr/>
          <p:nvPr/>
        </p:nvSpPr>
        <p:spPr>
          <a:xfrm>
            <a:off x="553212" y="3671315"/>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2</a:t>
            </a:r>
          </a:p>
        </p:txBody>
      </p:sp>
      <p:sp>
        <p:nvSpPr>
          <p:cNvPr id="20" name="TextBox 19"/>
          <p:cNvSpPr txBox="1"/>
          <p:nvPr/>
        </p:nvSpPr>
        <p:spPr>
          <a:xfrm>
            <a:off x="841248" y="365760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ML analysis (XGBoost [14])</a:t>
            </a:r>
          </a:p>
        </p:txBody>
      </p:sp>
      <p:sp>
        <p:nvSpPr>
          <p:cNvPr id="21" name="Oval 20"/>
          <p:cNvSpPr/>
          <p:nvPr/>
        </p:nvSpPr>
        <p:spPr>
          <a:xfrm>
            <a:off x="553212" y="3945635"/>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3</a:t>
            </a:r>
          </a:p>
        </p:txBody>
      </p:sp>
      <p:sp>
        <p:nvSpPr>
          <p:cNvPr id="22" name="TextBox 21"/>
          <p:cNvSpPr txBox="1"/>
          <p:nvPr/>
        </p:nvSpPr>
        <p:spPr>
          <a:xfrm>
            <a:off x="841248" y="393192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Rule-based validation</a:t>
            </a:r>
          </a:p>
        </p:txBody>
      </p:sp>
      <p:sp>
        <p:nvSpPr>
          <p:cNvPr id="23" name="Oval 22"/>
          <p:cNvSpPr/>
          <p:nvPr/>
        </p:nvSpPr>
        <p:spPr>
          <a:xfrm>
            <a:off x="553212" y="4219956"/>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4</a:t>
            </a:r>
          </a:p>
        </p:txBody>
      </p:sp>
      <p:sp>
        <p:nvSpPr>
          <p:cNvPr id="24" name="TextBox 23"/>
          <p:cNvSpPr txBox="1"/>
          <p:nvPr/>
        </p:nvSpPr>
        <p:spPr>
          <a:xfrm>
            <a:off x="841248" y="420624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Knowledge retrieval (GraphRAG [17])</a:t>
            </a:r>
          </a:p>
        </p:txBody>
      </p:sp>
      <p:sp>
        <p:nvSpPr>
          <p:cNvPr id="25" name="Oval 24"/>
          <p:cNvSpPr/>
          <p:nvPr/>
        </p:nvSpPr>
        <p:spPr>
          <a:xfrm>
            <a:off x="553212" y="4494276"/>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5</a:t>
            </a:r>
          </a:p>
        </p:txBody>
      </p:sp>
      <p:sp>
        <p:nvSpPr>
          <p:cNvPr id="26" name="TextBox 25"/>
          <p:cNvSpPr txBox="1"/>
          <p:nvPr/>
        </p:nvSpPr>
        <p:spPr>
          <a:xfrm>
            <a:off x="841248" y="448056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Clinical context synthesis (LLM [16])</a:t>
            </a:r>
          </a:p>
        </p:txBody>
      </p:sp>
      <p:sp>
        <p:nvSpPr>
          <p:cNvPr id="27" name="Oval 26"/>
          <p:cNvSpPr/>
          <p:nvPr/>
        </p:nvSpPr>
        <p:spPr>
          <a:xfrm>
            <a:off x="553212" y="4768596"/>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6</a:t>
            </a:r>
          </a:p>
        </p:txBody>
      </p:sp>
      <p:sp>
        <p:nvSpPr>
          <p:cNvPr id="28" name="TextBox 27"/>
          <p:cNvSpPr txBox="1"/>
          <p:nvPr/>
        </p:nvSpPr>
        <p:spPr>
          <a:xfrm>
            <a:off x="841248" y="475488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Decision fusion &amp; confidence scoring</a:t>
            </a:r>
          </a:p>
        </p:txBody>
      </p:sp>
      <p:sp>
        <p:nvSpPr>
          <p:cNvPr id="29" name="Oval 28"/>
          <p:cNvSpPr/>
          <p:nvPr/>
        </p:nvSpPr>
        <p:spPr>
          <a:xfrm>
            <a:off x="553212" y="5042916"/>
            <a:ext cx="210312" cy="210312"/>
          </a:xfrm>
          <a:prstGeom prst="ellipse">
            <a:avLst/>
          </a:prstGeom>
          <a:solidFill>
            <a:srgbClr val="8B0000"/>
          </a:solidFill>
          <a:ln>
            <a:noFill/>
          </a:ln>
        </p:spPr>
        <p:txBody>
          <a:bodyPr rtlCol="0" anchor="ctr" wrap="square" lIns="0" tIns="0" rIns="0" bIns="0">
            <a:noAutofit/>
          </a:bodyPr>
          <a:lstStyle/>
          <a:p>
            <a:pPr algn="ctr"/>
            <a:r>
              <a:rPr sz="900" b="1" i="0">
                <a:solidFill>
                  <a:srgbClr val="FFFFFF"/>
                </a:solidFill>
                <a:latin typeface="Times New Roman"/>
              </a:rPr>
              <a:t>7</a:t>
            </a:r>
          </a:p>
        </p:txBody>
      </p:sp>
      <p:sp>
        <p:nvSpPr>
          <p:cNvPr id="30" name="TextBox 29"/>
          <p:cNvSpPr txBox="1"/>
          <p:nvPr/>
        </p:nvSpPr>
        <p:spPr>
          <a:xfrm>
            <a:off x="841248" y="5029200"/>
            <a:ext cx="3200400" cy="246888"/>
          </a:xfrm>
          <a:prstGeom prst="rect">
            <a:avLst/>
          </a:prstGeom>
          <a:noFill/>
        </p:spPr>
        <p:txBody>
          <a:bodyPr wrap="square" lIns="45720" tIns="27432" rIns="45720" bIns="27432" anchor="ctr">
            <a:noAutofit/>
          </a:bodyPr>
          <a:lstStyle/>
          <a:p>
            <a:pPr algn="l"/>
            <a:r>
              <a:rPr sz="1150" b="0" i="0">
                <a:solidFill>
                  <a:srgbClr val="1F1F1F"/>
                </a:solidFill>
                <a:latin typeface="Times New Roman"/>
              </a:rPr>
              <a:t>Explanation &amp; audit report</a:t>
            </a:r>
          </a:p>
        </p:txBody>
      </p:sp>
      <p:sp>
        <p:nvSpPr>
          <p:cNvPr id="31" name="TextBox 30"/>
          <p:cNvSpPr txBox="1"/>
          <p:nvPr/>
        </p:nvSpPr>
        <p:spPr>
          <a:xfrm>
            <a:off x="228600" y="5385816"/>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1.3: </a:t>
            </a:r>
            <a:r>
              <a:rPr sz="1100" b="0" i="1">
                <a:solidFill>
                  <a:srgbClr val="595959"/>
                </a:solidFill>
                <a:latin typeface="Times New Roman"/>
              </a:rPr>
              <a:t>MedIntel system architecture; numbers mark the seven pipeline stages</a:t>
            </a:r>
          </a:p>
        </p:txBody>
      </p:sp>
      <p:sp>
        <p:nvSpPr>
          <p:cNvPr id="32" name="TextBox 31"/>
          <p:cNvSpPr txBox="1"/>
          <p:nvPr/>
        </p:nvSpPr>
        <p:spPr>
          <a:xfrm>
            <a:off x="228600" y="5650992"/>
            <a:ext cx="8686800" cy="329184"/>
          </a:xfrm>
          <a:prstGeom prst="rect">
            <a:avLst/>
          </a:prstGeom>
          <a:noFill/>
        </p:spPr>
        <p:txBody>
          <a:bodyPr wrap="square" lIns="45720" tIns="27432" rIns="45720" bIns="27432" anchor="ctr">
            <a:noAutofit/>
          </a:bodyPr>
          <a:lstStyle/>
          <a:p>
            <a:pPr algn="ctr"/>
            <a:r>
              <a:rPr sz="1250" b="0" i="1">
                <a:solidFill>
                  <a:srgbClr val="8B0000"/>
                </a:solidFill>
                <a:latin typeface="Times New Roman"/>
              </a:rPr>
              <a:t>Typed agent outputs are fused into one scored recommendation, and the clinician reviews every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7. The Seven Pipeline Stages</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810511"/>
            <a:ext cx="1965960" cy="1783080"/>
          </a:xfrm>
          <a:prstGeom prst="roundRect">
            <a:avLst>
              <a:gd name="adj" fmla="val 7000"/>
            </a:avLst>
          </a:prstGeom>
          <a:solidFill>
            <a:srgbClr val="DBE8F5"/>
          </a:solidFill>
          <a:ln w="15875">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Oval 7"/>
          <p:cNvSpPr/>
          <p:nvPr/>
        </p:nvSpPr>
        <p:spPr>
          <a:xfrm>
            <a:off x="320040" y="1901952"/>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1</a:t>
            </a:r>
          </a:p>
        </p:txBody>
      </p:sp>
      <p:pic>
        <p:nvPicPr>
          <p:cNvPr id="9" name="Picture 8" descr=""/>
          <p:cNvPicPr>
            <a:picLocks noChangeAspect="1"/>
          </p:cNvPicPr>
          <p:nvPr/>
        </p:nvPicPr>
        <p:blipFill>
          <a:blip r:embed="rId2"/>
          <a:stretch>
            <a:fillRect/>
          </a:stretch>
        </p:blipFill>
        <p:spPr>
          <a:xfrm>
            <a:off x="1737360" y="1901952"/>
            <a:ext cx="329184" cy="329184"/>
          </a:xfrm>
          <a:prstGeom prst="rect">
            <a:avLst/>
          </a:prstGeom>
        </p:spPr>
      </p:pic>
      <p:sp>
        <p:nvSpPr>
          <p:cNvPr id="10" name="TextBox 9"/>
          <p:cNvSpPr txBox="1"/>
          <p:nvPr/>
        </p:nvSpPr>
        <p:spPr>
          <a:xfrm>
            <a:off x="320040" y="2240280"/>
            <a:ext cx="1783080" cy="438912"/>
          </a:xfrm>
          <a:prstGeom prst="rect">
            <a:avLst/>
          </a:prstGeom>
          <a:noFill/>
        </p:spPr>
        <p:txBody>
          <a:bodyPr wrap="square" lIns="45720" tIns="27432" rIns="45720" bIns="27432" anchor="ctr">
            <a:noAutofit/>
          </a:bodyPr>
          <a:lstStyle/>
          <a:p>
            <a:pPr algn="l"/>
            <a:r>
              <a:rPr sz="1250" b="1" i="0">
                <a:solidFill>
                  <a:srgbClr val="34507A"/>
                </a:solidFill>
                <a:latin typeface="Times New Roman"/>
              </a:rPr>
              <a:t>Data Ingestion &amp; Validation</a:t>
            </a:r>
          </a:p>
        </p:txBody>
      </p:sp>
      <p:sp>
        <p:nvSpPr>
          <p:cNvPr id="11" name="TextBox 10"/>
          <p:cNvSpPr txBox="1"/>
          <p:nvPr/>
        </p:nvSpPr>
        <p:spPr>
          <a:xfrm>
            <a:off x="320040" y="2660904"/>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CSV records checked for types, missing fields, duplicates and units</a:t>
            </a:r>
          </a:p>
        </p:txBody>
      </p:sp>
      <p:sp>
        <p:nvSpPr>
          <p:cNvPr id="12" name="Rounded Rectangle 11"/>
          <p:cNvSpPr/>
          <p:nvPr/>
        </p:nvSpPr>
        <p:spPr>
          <a:xfrm>
            <a:off x="320040" y="3273552"/>
            <a:ext cx="1783080" cy="246888"/>
          </a:xfrm>
          <a:prstGeom prst="roundRect">
            <a:avLst>
              <a:gd name="adj" fmla="val 50000"/>
            </a:avLst>
          </a:prstGeom>
          <a:solidFill>
            <a:srgbClr val="FFFFFF"/>
          </a:solidFill>
          <a:ln w="9525">
            <a:solidFill>
              <a:srgbClr val="34507A"/>
            </a:solidFill>
          </a:ln>
        </p:spPr>
        <p:txBody>
          <a:bodyPr rtlCol="0" anchor="ctr" wrap="square" lIns="18288" tIns="0" rIns="18288" bIns="0">
            <a:noAutofit/>
          </a:bodyPr>
          <a:lstStyle/>
          <a:p>
            <a:pPr algn="ctr"/>
            <a:r>
              <a:rPr sz="950" b="1" i="0">
                <a:solidFill>
                  <a:srgbClr val="34507A"/>
                </a:solidFill>
                <a:latin typeface="Times New Roman"/>
              </a:rPr>
              <a:t>pandas + pydantic</a:t>
            </a:r>
          </a:p>
        </p:txBody>
      </p:sp>
      <p:cxnSp>
        <p:nvCxnSpPr>
          <p:cNvPr id="13" name="Connector 12"/>
          <p:cNvCxnSpPr/>
          <p:nvPr/>
        </p:nvCxnSpPr>
        <p:spPr>
          <a:xfrm>
            <a:off x="2221991" y="2702052"/>
            <a:ext cx="219457" cy="0"/>
          </a:xfrm>
          <a:prstGeom prst="line">
            <a:avLst/>
          </a:prstGeom>
          <a:ln w="22225">
            <a:solidFill>
              <a:srgbClr val="404040"/>
            </a:solidFill>
            <a:tailEnd type="triangle" w="med" len="med"/>
          </a:ln>
        </p:spPr>
      </p:cxnSp>
      <p:sp>
        <p:nvSpPr>
          <p:cNvPr id="14" name="Rounded Rectangle 13"/>
          <p:cNvSpPr/>
          <p:nvPr/>
        </p:nvSpPr>
        <p:spPr>
          <a:xfrm>
            <a:off x="2468879" y="1810511"/>
            <a:ext cx="1965960" cy="1783080"/>
          </a:xfrm>
          <a:prstGeom prst="roundRect">
            <a:avLst>
              <a:gd name="adj" fmla="val 7000"/>
            </a:avLst>
          </a:prstGeom>
          <a:solidFill>
            <a:srgbClr val="DBE8F5"/>
          </a:solidFill>
          <a:ln w="15875">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5" name="Oval 14"/>
          <p:cNvSpPr/>
          <p:nvPr/>
        </p:nvSpPr>
        <p:spPr>
          <a:xfrm>
            <a:off x="2560320" y="1901952"/>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2</a:t>
            </a:r>
          </a:p>
        </p:txBody>
      </p:sp>
      <p:pic>
        <p:nvPicPr>
          <p:cNvPr id="16" name="Picture 15" descr=""/>
          <p:cNvPicPr>
            <a:picLocks noChangeAspect="1"/>
          </p:cNvPicPr>
          <p:nvPr/>
        </p:nvPicPr>
        <p:blipFill>
          <a:blip r:embed="rId3"/>
          <a:stretch>
            <a:fillRect/>
          </a:stretch>
        </p:blipFill>
        <p:spPr>
          <a:xfrm>
            <a:off x="3977639" y="1901952"/>
            <a:ext cx="329184" cy="329184"/>
          </a:xfrm>
          <a:prstGeom prst="rect">
            <a:avLst/>
          </a:prstGeom>
        </p:spPr>
      </p:pic>
      <p:sp>
        <p:nvSpPr>
          <p:cNvPr id="17" name="TextBox 16"/>
          <p:cNvSpPr txBox="1"/>
          <p:nvPr/>
        </p:nvSpPr>
        <p:spPr>
          <a:xfrm>
            <a:off x="2560320" y="2240280"/>
            <a:ext cx="1783080" cy="438912"/>
          </a:xfrm>
          <a:prstGeom prst="rect">
            <a:avLst/>
          </a:prstGeom>
          <a:noFill/>
        </p:spPr>
        <p:txBody>
          <a:bodyPr wrap="square" lIns="45720" tIns="27432" rIns="45720" bIns="27432" anchor="ctr">
            <a:noAutofit/>
          </a:bodyPr>
          <a:lstStyle/>
          <a:p>
            <a:pPr algn="l"/>
            <a:r>
              <a:rPr sz="1250" b="1" i="0">
                <a:solidFill>
                  <a:srgbClr val="34507A"/>
                </a:solidFill>
                <a:latin typeface="Times New Roman"/>
              </a:rPr>
              <a:t>ML Analysis</a:t>
            </a:r>
          </a:p>
        </p:txBody>
      </p:sp>
      <p:sp>
        <p:nvSpPr>
          <p:cNvPr id="18" name="TextBox 17"/>
          <p:cNvSpPr txBox="1"/>
          <p:nvPr/>
        </p:nvSpPr>
        <p:spPr>
          <a:xfrm>
            <a:off x="2560320" y="2660904"/>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Classifier finds learned patterns in structured features</a:t>
            </a:r>
          </a:p>
        </p:txBody>
      </p:sp>
      <p:sp>
        <p:nvSpPr>
          <p:cNvPr id="19" name="Rounded Rectangle 18"/>
          <p:cNvSpPr/>
          <p:nvPr/>
        </p:nvSpPr>
        <p:spPr>
          <a:xfrm>
            <a:off x="2560320" y="3273552"/>
            <a:ext cx="1783080" cy="246888"/>
          </a:xfrm>
          <a:prstGeom prst="roundRect">
            <a:avLst>
              <a:gd name="adj" fmla="val 50000"/>
            </a:avLst>
          </a:prstGeom>
          <a:solidFill>
            <a:srgbClr val="FFFFFF"/>
          </a:solidFill>
          <a:ln w="9525">
            <a:solidFill>
              <a:srgbClr val="34507A"/>
            </a:solidFill>
          </a:ln>
        </p:spPr>
        <p:txBody>
          <a:bodyPr rtlCol="0" anchor="ctr" wrap="square" lIns="18288" tIns="0" rIns="18288" bIns="0">
            <a:noAutofit/>
          </a:bodyPr>
          <a:lstStyle/>
          <a:p>
            <a:pPr algn="ctr"/>
            <a:r>
              <a:rPr sz="950" b="1" i="0">
                <a:solidFill>
                  <a:srgbClr val="34507A"/>
                </a:solidFill>
                <a:latin typeface="Times New Roman"/>
              </a:rPr>
              <a:t>XGBoost [14] / scikit-learn</a:t>
            </a:r>
          </a:p>
        </p:txBody>
      </p:sp>
      <p:cxnSp>
        <p:nvCxnSpPr>
          <p:cNvPr id="20" name="Connector 19"/>
          <p:cNvCxnSpPr/>
          <p:nvPr/>
        </p:nvCxnSpPr>
        <p:spPr>
          <a:xfrm>
            <a:off x="4462272" y="2702052"/>
            <a:ext cx="219455" cy="0"/>
          </a:xfrm>
          <a:prstGeom prst="line">
            <a:avLst/>
          </a:prstGeom>
          <a:ln w="22225">
            <a:solidFill>
              <a:srgbClr val="404040"/>
            </a:solidFill>
            <a:tailEnd type="triangle" w="med" len="med"/>
          </a:ln>
        </p:spPr>
      </p:cxnSp>
      <p:sp>
        <p:nvSpPr>
          <p:cNvPr id="21" name="Rounded Rectangle 20"/>
          <p:cNvSpPr/>
          <p:nvPr/>
        </p:nvSpPr>
        <p:spPr>
          <a:xfrm>
            <a:off x="4709159" y="1810511"/>
            <a:ext cx="1965960" cy="1783080"/>
          </a:xfrm>
          <a:prstGeom prst="roundRect">
            <a:avLst>
              <a:gd name="adj" fmla="val 7000"/>
            </a:avLst>
          </a:prstGeom>
          <a:solidFill>
            <a:srgbClr val="E1F0DC"/>
          </a:solidFill>
          <a:ln w="15875">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2" name="Oval 21"/>
          <p:cNvSpPr/>
          <p:nvPr/>
        </p:nvSpPr>
        <p:spPr>
          <a:xfrm>
            <a:off x="4800600" y="1901952"/>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3</a:t>
            </a:r>
          </a:p>
        </p:txBody>
      </p:sp>
      <p:pic>
        <p:nvPicPr>
          <p:cNvPr id="23" name="Picture 22" descr=""/>
          <p:cNvPicPr>
            <a:picLocks noChangeAspect="1"/>
          </p:cNvPicPr>
          <p:nvPr/>
        </p:nvPicPr>
        <p:blipFill>
          <a:blip r:embed="rId4"/>
          <a:stretch>
            <a:fillRect/>
          </a:stretch>
        </p:blipFill>
        <p:spPr>
          <a:xfrm>
            <a:off x="6217919" y="1901952"/>
            <a:ext cx="329184" cy="329184"/>
          </a:xfrm>
          <a:prstGeom prst="rect">
            <a:avLst/>
          </a:prstGeom>
        </p:spPr>
      </p:pic>
      <p:sp>
        <p:nvSpPr>
          <p:cNvPr id="24" name="TextBox 23"/>
          <p:cNvSpPr txBox="1"/>
          <p:nvPr/>
        </p:nvSpPr>
        <p:spPr>
          <a:xfrm>
            <a:off x="4800599" y="2240280"/>
            <a:ext cx="1783080" cy="438912"/>
          </a:xfrm>
          <a:prstGeom prst="rect">
            <a:avLst/>
          </a:prstGeom>
          <a:noFill/>
        </p:spPr>
        <p:txBody>
          <a:bodyPr wrap="square" lIns="45720" tIns="27432" rIns="45720" bIns="27432" anchor="ctr">
            <a:noAutofit/>
          </a:bodyPr>
          <a:lstStyle/>
          <a:p>
            <a:pPr algn="l"/>
            <a:r>
              <a:rPr sz="1250" b="1" i="0">
                <a:solidFill>
                  <a:srgbClr val="3F7A3C"/>
                </a:solidFill>
                <a:latin typeface="Times New Roman"/>
              </a:rPr>
              <a:t>Rule-Based Validation</a:t>
            </a:r>
          </a:p>
        </p:txBody>
      </p:sp>
      <p:sp>
        <p:nvSpPr>
          <p:cNvPr id="25" name="TextBox 24"/>
          <p:cNvSpPr txBox="1"/>
          <p:nvPr/>
        </p:nvSpPr>
        <p:spPr>
          <a:xfrm>
            <a:off x="4800599" y="2660904"/>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Deterministic thresholds applied to the case</a:t>
            </a:r>
          </a:p>
        </p:txBody>
      </p:sp>
      <p:sp>
        <p:nvSpPr>
          <p:cNvPr id="26" name="Rounded Rectangle 25"/>
          <p:cNvSpPr/>
          <p:nvPr/>
        </p:nvSpPr>
        <p:spPr>
          <a:xfrm>
            <a:off x="4800599" y="3273552"/>
            <a:ext cx="1783080" cy="246888"/>
          </a:xfrm>
          <a:prstGeom prst="roundRect">
            <a:avLst>
              <a:gd name="adj" fmla="val 50000"/>
            </a:avLst>
          </a:prstGeom>
          <a:solidFill>
            <a:srgbClr val="FFFFFF"/>
          </a:solidFill>
          <a:ln w="9525">
            <a:solidFill>
              <a:srgbClr val="3F7A3C"/>
            </a:solidFill>
          </a:ln>
        </p:spPr>
        <p:txBody>
          <a:bodyPr rtlCol="0" anchor="ctr" wrap="square" lIns="18288" tIns="0" rIns="18288" bIns="0">
            <a:noAutofit/>
          </a:bodyPr>
          <a:lstStyle/>
          <a:p>
            <a:pPr algn="ctr"/>
            <a:r>
              <a:rPr sz="950" b="1" i="0">
                <a:solidFill>
                  <a:srgbClr val="3F7A3C"/>
                </a:solidFill>
                <a:latin typeface="Times New Roman"/>
              </a:rPr>
              <a:t>Versioned JSON rulebase</a:t>
            </a:r>
          </a:p>
        </p:txBody>
      </p:sp>
      <p:cxnSp>
        <p:nvCxnSpPr>
          <p:cNvPr id="27" name="Connector 26"/>
          <p:cNvCxnSpPr/>
          <p:nvPr/>
        </p:nvCxnSpPr>
        <p:spPr>
          <a:xfrm>
            <a:off x="6702551" y="2702052"/>
            <a:ext cx="219456" cy="0"/>
          </a:xfrm>
          <a:prstGeom prst="line">
            <a:avLst/>
          </a:prstGeom>
          <a:ln w="22225">
            <a:solidFill>
              <a:srgbClr val="404040"/>
            </a:solidFill>
            <a:tailEnd type="triangle" w="med" len="med"/>
          </a:ln>
        </p:spPr>
      </p:cxnSp>
      <p:sp>
        <p:nvSpPr>
          <p:cNvPr id="28" name="Rounded Rectangle 27"/>
          <p:cNvSpPr/>
          <p:nvPr/>
        </p:nvSpPr>
        <p:spPr>
          <a:xfrm>
            <a:off x="6949440" y="1810511"/>
            <a:ext cx="1965960" cy="1783080"/>
          </a:xfrm>
          <a:prstGeom prst="roundRect">
            <a:avLst>
              <a:gd name="adj" fmla="val 7000"/>
            </a:avLst>
          </a:prstGeom>
          <a:solidFill>
            <a:srgbClr val="F7DCDC"/>
          </a:solidFill>
          <a:ln w="15875">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9" name="Oval 28"/>
          <p:cNvSpPr/>
          <p:nvPr/>
        </p:nvSpPr>
        <p:spPr>
          <a:xfrm>
            <a:off x="7040879" y="1901952"/>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4</a:t>
            </a:r>
          </a:p>
        </p:txBody>
      </p:sp>
      <p:pic>
        <p:nvPicPr>
          <p:cNvPr id="30" name="Picture 29" descr=""/>
          <p:cNvPicPr>
            <a:picLocks noChangeAspect="1"/>
          </p:cNvPicPr>
          <p:nvPr/>
        </p:nvPicPr>
        <p:blipFill>
          <a:blip r:embed="rId5"/>
          <a:stretch>
            <a:fillRect/>
          </a:stretch>
        </p:blipFill>
        <p:spPr>
          <a:xfrm>
            <a:off x="8458200" y="1901952"/>
            <a:ext cx="329184" cy="329184"/>
          </a:xfrm>
          <a:prstGeom prst="rect">
            <a:avLst/>
          </a:prstGeom>
        </p:spPr>
      </p:pic>
      <p:sp>
        <p:nvSpPr>
          <p:cNvPr id="31" name="TextBox 30"/>
          <p:cNvSpPr txBox="1"/>
          <p:nvPr/>
        </p:nvSpPr>
        <p:spPr>
          <a:xfrm>
            <a:off x="7040879" y="2240280"/>
            <a:ext cx="1783080" cy="438912"/>
          </a:xfrm>
          <a:prstGeom prst="rect">
            <a:avLst/>
          </a:prstGeom>
          <a:noFill/>
        </p:spPr>
        <p:txBody>
          <a:bodyPr wrap="square" lIns="45720" tIns="27432" rIns="45720" bIns="27432" anchor="ctr">
            <a:noAutofit/>
          </a:bodyPr>
          <a:lstStyle/>
          <a:p>
            <a:pPr algn="l"/>
            <a:r>
              <a:rPr sz="1250" b="1" i="0">
                <a:solidFill>
                  <a:srgbClr val="B04848"/>
                </a:solidFill>
                <a:latin typeface="Times New Roman"/>
              </a:rPr>
              <a:t>Knowledge Retrieval</a:t>
            </a:r>
          </a:p>
        </p:txBody>
      </p:sp>
      <p:sp>
        <p:nvSpPr>
          <p:cNvPr id="32" name="TextBox 31"/>
          <p:cNvSpPr txBox="1"/>
          <p:nvPr/>
        </p:nvSpPr>
        <p:spPr>
          <a:xfrm>
            <a:off x="7040879" y="2660904"/>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Vector search plus graph traversal (GraphRAG [17])</a:t>
            </a:r>
          </a:p>
        </p:txBody>
      </p:sp>
      <p:sp>
        <p:nvSpPr>
          <p:cNvPr id="33" name="Rounded Rectangle 32"/>
          <p:cNvSpPr/>
          <p:nvPr/>
        </p:nvSpPr>
        <p:spPr>
          <a:xfrm>
            <a:off x="7040879" y="3273552"/>
            <a:ext cx="1783080" cy="246888"/>
          </a:xfrm>
          <a:prstGeom prst="roundRect">
            <a:avLst>
              <a:gd name="adj" fmla="val 50000"/>
            </a:avLst>
          </a:prstGeom>
          <a:solidFill>
            <a:srgbClr val="FFFFFF"/>
          </a:solidFill>
          <a:ln w="9525">
            <a:solidFill>
              <a:srgbClr val="B04848"/>
            </a:solidFill>
          </a:ln>
        </p:spPr>
        <p:txBody>
          <a:bodyPr rtlCol="0" anchor="ctr" wrap="square" lIns="18288" tIns="0" rIns="18288" bIns="0">
            <a:noAutofit/>
          </a:bodyPr>
          <a:lstStyle/>
          <a:p>
            <a:pPr algn="ctr"/>
            <a:r>
              <a:rPr sz="950" b="1" i="0">
                <a:solidFill>
                  <a:srgbClr val="B04848"/>
                </a:solidFill>
                <a:latin typeface="Times New Roman"/>
              </a:rPr>
              <a:t>FAISS + Neo4j</a:t>
            </a:r>
          </a:p>
        </p:txBody>
      </p:sp>
      <p:sp>
        <p:nvSpPr>
          <p:cNvPr id="34" name="Rounded Rectangle 33"/>
          <p:cNvSpPr/>
          <p:nvPr/>
        </p:nvSpPr>
        <p:spPr>
          <a:xfrm>
            <a:off x="228600" y="3849624"/>
            <a:ext cx="1965960" cy="1783080"/>
          </a:xfrm>
          <a:prstGeom prst="roundRect">
            <a:avLst>
              <a:gd name="adj" fmla="val 7000"/>
            </a:avLst>
          </a:prstGeom>
          <a:solidFill>
            <a:srgbClr val="DBE8F5"/>
          </a:solidFill>
          <a:ln w="15875">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5" name="Oval 34"/>
          <p:cNvSpPr/>
          <p:nvPr/>
        </p:nvSpPr>
        <p:spPr>
          <a:xfrm>
            <a:off x="320040" y="3941063"/>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5</a:t>
            </a:r>
          </a:p>
        </p:txBody>
      </p:sp>
      <p:pic>
        <p:nvPicPr>
          <p:cNvPr id="36" name="Picture 35" descr=""/>
          <p:cNvPicPr>
            <a:picLocks noChangeAspect="1"/>
          </p:cNvPicPr>
          <p:nvPr/>
        </p:nvPicPr>
        <p:blipFill>
          <a:blip r:embed="rId6"/>
          <a:stretch>
            <a:fillRect/>
          </a:stretch>
        </p:blipFill>
        <p:spPr>
          <a:xfrm>
            <a:off x="1737360" y="3941063"/>
            <a:ext cx="329184" cy="329184"/>
          </a:xfrm>
          <a:prstGeom prst="rect">
            <a:avLst/>
          </a:prstGeom>
        </p:spPr>
      </p:pic>
      <p:sp>
        <p:nvSpPr>
          <p:cNvPr id="37" name="TextBox 36"/>
          <p:cNvSpPr txBox="1"/>
          <p:nvPr/>
        </p:nvSpPr>
        <p:spPr>
          <a:xfrm>
            <a:off x="320040" y="4279392"/>
            <a:ext cx="1783080" cy="438912"/>
          </a:xfrm>
          <a:prstGeom prst="rect">
            <a:avLst/>
          </a:prstGeom>
          <a:noFill/>
        </p:spPr>
        <p:txBody>
          <a:bodyPr wrap="square" lIns="45720" tIns="27432" rIns="45720" bIns="27432" anchor="ctr">
            <a:noAutofit/>
          </a:bodyPr>
          <a:lstStyle/>
          <a:p>
            <a:pPr algn="l"/>
            <a:r>
              <a:rPr sz="1250" b="1" i="0">
                <a:solidFill>
                  <a:srgbClr val="34507A"/>
                </a:solidFill>
                <a:latin typeface="Times New Roman"/>
              </a:rPr>
              <a:t>Clinical Context Synthesis</a:t>
            </a:r>
          </a:p>
        </p:txBody>
      </p:sp>
      <p:sp>
        <p:nvSpPr>
          <p:cNvPr id="38" name="TextBox 37"/>
          <p:cNvSpPr txBox="1"/>
          <p:nvPr/>
        </p:nvSpPr>
        <p:spPr>
          <a:xfrm>
            <a:off x="320040" y="4700016"/>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LLM reconciles agent outputs and names conflicts</a:t>
            </a:r>
          </a:p>
        </p:txBody>
      </p:sp>
      <p:sp>
        <p:nvSpPr>
          <p:cNvPr id="39" name="Rounded Rectangle 38"/>
          <p:cNvSpPr/>
          <p:nvPr/>
        </p:nvSpPr>
        <p:spPr>
          <a:xfrm>
            <a:off x="320040" y="5312663"/>
            <a:ext cx="1783080" cy="246888"/>
          </a:xfrm>
          <a:prstGeom prst="roundRect">
            <a:avLst>
              <a:gd name="adj" fmla="val 50000"/>
            </a:avLst>
          </a:prstGeom>
          <a:solidFill>
            <a:srgbClr val="FFFFFF"/>
          </a:solidFill>
          <a:ln w="9525">
            <a:solidFill>
              <a:srgbClr val="34507A"/>
            </a:solidFill>
          </a:ln>
        </p:spPr>
        <p:txBody>
          <a:bodyPr rtlCol="0" anchor="ctr" wrap="square" lIns="18288" tIns="0" rIns="18288" bIns="0">
            <a:noAutofit/>
          </a:bodyPr>
          <a:lstStyle/>
          <a:p>
            <a:pPr algn="ctr"/>
            <a:r>
              <a:rPr sz="950" b="1" i="0">
                <a:solidFill>
                  <a:srgbClr val="34507A"/>
                </a:solidFill>
                <a:latin typeface="Times New Roman"/>
              </a:rPr>
              <a:t>Meditron-7B [16] via Ollama</a:t>
            </a:r>
          </a:p>
        </p:txBody>
      </p:sp>
      <p:cxnSp>
        <p:nvCxnSpPr>
          <p:cNvPr id="40" name="Connector 39"/>
          <p:cNvCxnSpPr/>
          <p:nvPr/>
        </p:nvCxnSpPr>
        <p:spPr>
          <a:xfrm>
            <a:off x="2221991" y="4741163"/>
            <a:ext cx="219457" cy="0"/>
          </a:xfrm>
          <a:prstGeom prst="line">
            <a:avLst/>
          </a:prstGeom>
          <a:ln w="22225">
            <a:solidFill>
              <a:srgbClr val="404040"/>
            </a:solidFill>
            <a:tailEnd type="triangle" w="med" len="med"/>
          </a:ln>
        </p:spPr>
      </p:cxnSp>
      <p:sp>
        <p:nvSpPr>
          <p:cNvPr id="41" name="Rounded Rectangle 40"/>
          <p:cNvSpPr/>
          <p:nvPr/>
        </p:nvSpPr>
        <p:spPr>
          <a:xfrm>
            <a:off x="2468879" y="3849624"/>
            <a:ext cx="1965960" cy="1783080"/>
          </a:xfrm>
          <a:prstGeom prst="roundRect">
            <a:avLst>
              <a:gd name="adj" fmla="val 7000"/>
            </a:avLst>
          </a:prstGeom>
          <a:solidFill>
            <a:srgbClr val="E5DEF6"/>
          </a:solidFill>
          <a:ln w="15875">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2" name="Oval 41"/>
          <p:cNvSpPr/>
          <p:nvPr/>
        </p:nvSpPr>
        <p:spPr>
          <a:xfrm>
            <a:off x="2560320" y="3941063"/>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6</a:t>
            </a:r>
          </a:p>
        </p:txBody>
      </p:sp>
      <p:pic>
        <p:nvPicPr>
          <p:cNvPr id="43" name="Picture 42" descr=""/>
          <p:cNvPicPr>
            <a:picLocks noChangeAspect="1"/>
          </p:cNvPicPr>
          <p:nvPr/>
        </p:nvPicPr>
        <p:blipFill>
          <a:blip r:embed="rId7"/>
          <a:stretch>
            <a:fillRect/>
          </a:stretch>
        </p:blipFill>
        <p:spPr>
          <a:xfrm>
            <a:off x="3977639" y="3941063"/>
            <a:ext cx="329184" cy="329184"/>
          </a:xfrm>
          <a:prstGeom prst="rect">
            <a:avLst/>
          </a:prstGeom>
        </p:spPr>
      </p:pic>
      <p:sp>
        <p:nvSpPr>
          <p:cNvPr id="44" name="TextBox 43"/>
          <p:cNvSpPr txBox="1"/>
          <p:nvPr/>
        </p:nvSpPr>
        <p:spPr>
          <a:xfrm>
            <a:off x="2560320" y="4279392"/>
            <a:ext cx="1783080" cy="438912"/>
          </a:xfrm>
          <a:prstGeom prst="rect">
            <a:avLst/>
          </a:prstGeom>
          <a:noFill/>
        </p:spPr>
        <p:txBody>
          <a:bodyPr wrap="square" lIns="45720" tIns="27432" rIns="45720" bIns="27432" anchor="ctr">
            <a:noAutofit/>
          </a:bodyPr>
          <a:lstStyle/>
          <a:p>
            <a:pPr algn="l"/>
            <a:r>
              <a:rPr sz="1250" b="1" i="0">
                <a:solidFill>
                  <a:srgbClr val="4E4775"/>
                </a:solidFill>
                <a:latin typeface="Times New Roman"/>
              </a:rPr>
              <a:t>Decision Fusion &amp; Confidence</a:t>
            </a:r>
          </a:p>
        </p:txBody>
      </p:sp>
      <p:sp>
        <p:nvSpPr>
          <p:cNvPr id="45" name="TextBox 44"/>
          <p:cNvSpPr txBox="1"/>
          <p:nvPr/>
        </p:nvSpPr>
        <p:spPr>
          <a:xfrm>
            <a:off x="2560320" y="4700016"/>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Explicit confidence equation combines all evidence</a:t>
            </a:r>
          </a:p>
        </p:txBody>
      </p:sp>
      <p:sp>
        <p:nvSpPr>
          <p:cNvPr id="46" name="Rounded Rectangle 45"/>
          <p:cNvSpPr/>
          <p:nvPr/>
        </p:nvSpPr>
        <p:spPr>
          <a:xfrm>
            <a:off x="2560320" y="5312663"/>
            <a:ext cx="1783080" cy="246888"/>
          </a:xfrm>
          <a:prstGeom prst="roundRect">
            <a:avLst>
              <a:gd name="adj" fmla="val 50000"/>
            </a:avLst>
          </a:prstGeom>
          <a:solidFill>
            <a:srgbClr val="FFFFFF"/>
          </a:solidFill>
          <a:ln w="9525">
            <a:solidFill>
              <a:srgbClr val="4E4775"/>
            </a:solidFill>
          </a:ln>
        </p:spPr>
        <p:txBody>
          <a:bodyPr rtlCol="0" anchor="ctr" wrap="square" lIns="18288" tIns="0" rIns="18288" bIns="0">
            <a:noAutofit/>
          </a:bodyPr>
          <a:lstStyle/>
          <a:p>
            <a:pPr algn="ctr"/>
            <a:r>
              <a:rPr sz="950" b="1" i="0">
                <a:solidFill>
                  <a:srgbClr val="4E4775"/>
                </a:solidFill>
                <a:latin typeface="Times New Roman"/>
              </a:rPr>
              <a:t>C = αM + βR + γK − λD</a:t>
            </a:r>
          </a:p>
        </p:txBody>
      </p:sp>
      <p:cxnSp>
        <p:nvCxnSpPr>
          <p:cNvPr id="47" name="Connector 46"/>
          <p:cNvCxnSpPr/>
          <p:nvPr/>
        </p:nvCxnSpPr>
        <p:spPr>
          <a:xfrm>
            <a:off x="4462272" y="4741163"/>
            <a:ext cx="219455" cy="0"/>
          </a:xfrm>
          <a:prstGeom prst="line">
            <a:avLst/>
          </a:prstGeom>
          <a:ln w="22225">
            <a:solidFill>
              <a:srgbClr val="404040"/>
            </a:solidFill>
            <a:tailEnd type="triangle" w="med" len="med"/>
          </a:ln>
        </p:spPr>
      </p:cxnSp>
      <p:sp>
        <p:nvSpPr>
          <p:cNvPr id="48" name="Rounded Rectangle 47"/>
          <p:cNvSpPr/>
          <p:nvPr/>
        </p:nvSpPr>
        <p:spPr>
          <a:xfrm>
            <a:off x="4709159" y="3849624"/>
            <a:ext cx="1965960" cy="1783080"/>
          </a:xfrm>
          <a:prstGeom prst="roundRect">
            <a:avLst>
              <a:gd name="adj" fmla="val 7000"/>
            </a:avLst>
          </a:prstGeom>
          <a:solidFill>
            <a:srgbClr val="DBE8F5"/>
          </a:solidFill>
          <a:ln w="15875">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9" name="Oval 48"/>
          <p:cNvSpPr/>
          <p:nvPr/>
        </p:nvSpPr>
        <p:spPr>
          <a:xfrm>
            <a:off x="4800600" y="3941063"/>
            <a:ext cx="310896" cy="310896"/>
          </a:xfrm>
          <a:prstGeom prst="ellipse">
            <a:avLst/>
          </a:prstGeom>
          <a:solidFill>
            <a:srgbClr val="8B0000"/>
          </a:solidFill>
          <a:ln>
            <a:noFill/>
          </a:ln>
        </p:spPr>
        <p:txBody>
          <a:bodyPr rtlCol="0" anchor="ctr" wrap="square" lIns="0" tIns="0" rIns="0" bIns="0">
            <a:noAutofit/>
          </a:bodyPr>
          <a:lstStyle/>
          <a:p>
            <a:pPr algn="ctr"/>
            <a:r>
              <a:rPr sz="1200" b="1" i="0">
                <a:solidFill>
                  <a:srgbClr val="FFFFFF"/>
                </a:solidFill>
                <a:latin typeface="Times New Roman"/>
              </a:rPr>
              <a:t>7</a:t>
            </a:r>
          </a:p>
        </p:txBody>
      </p:sp>
      <p:pic>
        <p:nvPicPr>
          <p:cNvPr id="50" name="Picture 49" descr=""/>
          <p:cNvPicPr>
            <a:picLocks noChangeAspect="1"/>
          </p:cNvPicPr>
          <p:nvPr/>
        </p:nvPicPr>
        <p:blipFill>
          <a:blip r:embed="rId8"/>
          <a:stretch>
            <a:fillRect/>
          </a:stretch>
        </p:blipFill>
        <p:spPr>
          <a:xfrm>
            <a:off x="6217919" y="3941063"/>
            <a:ext cx="329184" cy="329184"/>
          </a:xfrm>
          <a:prstGeom prst="rect">
            <a:avLst/>
          </a:prstGeom>
        </p:spPr>
      </p:pic>
      <p:sp>
        <p:nvSpPr>
          <p:cNvPr id="51" name="TextBox 50"/>
          <p:cNvSpPr txBox="1"/>
          <p:nvPr/>
        </p:nvSpPr>
        <p:spPr>
          <a:xfrm>
            <a:off x="4800599" y="4279392"/>
            <a:ext cx="1783080" cy="438912"/>
          </a:xfrm>
          <a:prstGeom prst="rect">
            <a:avLst/>
          </a:prstGeom>
          <a:noFill/>
        </p:spPr>
        <p:txBody>
          <a:bodyPr wrap="square" lIns="45720" tIns="27432" rIns="45720" bIns="27432" anchor="ctr">
            <a:noAutofit/>
          </a:bodyPr>
          <a:lstStyle/>
          <a:p>
            <a:pPr algn="l"/>
            <a:r>
              <a:rPr sz="1250" b="1" i="0">
                <a:solidFill>
                  <a:srgbClr val="34507A"/>
                </a:solidFill>
                <a:latin typeface="Times New Roman"/>
              </a:rPr>
              <a:t>Explanation &amp; Audit</a:t>
            </a:r>
          </a:p>
        </p:txBody>
      </p:sp>
      <p:sp>
        <p:nvSpPr>
          <p:cNvPr id="52" name="TextBox 51"/>
          <p:cNvSpPr txBox="1"/>
          <p:nvPr/>
        </p:nvSpPr>
        <p:spPr>
          <a:xfrm>
            <a:off x="4800599" y="4700016"/>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Structured report with full audit trail</a:t>
            </a:r>
          </a:p>
        </p:txBody>
      </p:sp>
      <p:sp>
        <p:nvSpPr>
          <p:cNvPr id="53" name="Rounded Rectangle 52"/>
          <p:cNvSpPr/>
          <p:nvPr/>
        </p:nvSpPr>
        <p:spPr>
          <a:xfrm>
            <a:off x="4800599" y="5312663"/>
            <a:ext cx="1783080" cy="246888"/>
          </a:xfrm>
          <a:prstGeom prst="roundRect">
            <a:avLst>
              <a:gd name="adj" fmla="val 50000"/>
            </a:avLst>
          </a:prstGeom>
          <a:solidFill>
            <a:srgbClr val="FFFFFF"/>
          </a:solidFill>
          <a:ln w="9525">
            <a:solidFill>
              <a:srgbClr val="34507A"/>
            </a:solidFill>
          </a:ln>
        </p:spPr>
        <p:txBody>
          <a:bodyPr rtlCol="0" anchor="ctr" wrap="square" lIns="18288" tIns="0" rIns="18288" bIns="0">
            <a:noAutofit/>
          </a:bodyPr>
          <a:lstStyle/>
          <a:p>
            <a:pPr algn="ctr"/>
            <a:r>
              <a:rPr sz="950" b="1" i="0">
                <a:solidFill>
                  <a:srgbClr val="34507A"/>
                </a:solidFill>
                <a:latin typeface="Times New Roman"/>
              </a:rPr>
              <a:t>DecisionReport + AuditRecord</a:t>
            </a:r>
          </a:p>
        </p:txBody>
      </p:sp>
      <p:cxnSp>
        <p:nvCxnSpPr>
          <p:cNvPr id="54" name="Connector 53"/>
          <p:cNvCxnSpPr/>
          <p:nvPr/>
        </p:nvCxnSpPr>
        <p:spPr>
          <a:xfrm>
            <a:off x="6702551" y="4741163"/>
            <a:ext cx="219456" cy="0"/>
          </a:xfrm>
          <a:prstGeom prst="line">
            <a:avLst/>
          </a:prstGeom>
          <a:ln w="22225">
            <a:solidFill>
              <a:srgbClr val="404040"/>
            </a:solidFill>
            <a:tailEnd type="triangle" w="med" len="med"/>
          </a:ln>
        </p:spPr>
      </p:cxnSp>
      <p:sp>
        <p:nvSpPr>
          <p:cNvPr id="55" name="Rounded Rectangle 54"/>
          <p:cNvSpPr/>
          <p:nvPr/>
        </p:nvSpPr>
        <p:spPr>
          <a:xfrm>
            <a:off x="6949440" y="3849624"/>
            <a:ext cx="1965960" cy="1783080"/>
          </a:xfrm>
          <a:prstGeom prst="roundRect">
            <a:avLst>
              <a:gd name="adj" fmla="val 7000"/>
            </a:avLst>
          </a:prstGeom>
          <a:solidFill>
            <a:srgbClr val="E1F0DC"/>
          </a:solidFill>
          <a:ln w="15875">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6" name="Oval 55"/>
          <p:cNvSpPr/>
          <p:nvPr/>
        </p:nvSpPr>
        <p:spPr>
          <a:xfrm>
            <a:off x="7040879" y="3941063"/>
            <a:ext cx="310896" cy="310896"/>
          </a:xfrm>
          <a:prstGeom prst="ellipse">
            <a:avLst/>
          </a:prstGeom>
          <a:solidFill>
            <a:srgbClr val="3F7A3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57" name="Picture 56" descr=""/>
          <p:cNvPicPr>
            <a:picLocks noChangeAspect="1"/>
          </p:cNvPicPr>
          <p:nvPr/>
        </p:nvPicPr>
        <p:blipFill>
          <a:blip r:embed="rId9"/>
          <a:stretch>
            <a:fillRect/>
          </a:stretch>
        </p:blipFill>
        <p:spPr>
          <a:xfrm>
            <a:off x="7109277" y="4009461"/>
            <a:ext cx="174101" cy="174101"/>
          </a:xfrm>
          <a:prstGeom prst="rect">
            <a:avLst/>
          </a:prstGeom>
        </p:spPr>
      </p:pic>
      <p:pic>
        <p:nvPicPr>
          <p:cNvPr id="58" name="Picture 57" descr=""/>
          <p:cNvPicPr>
            <a:picLocks noChangeAspect="1"/>
          </p:cNvPicPr>
          <p:nvPr/>
        </p:nvPicPr>
        <p:blipFill>
          <a:blip r:embed="rId10"/>
          <a:stretch>
            <a:fillRect/>
          </a:stretch>
        </p:blipFill>
        <p:spPr>
          <a:xfrm>
            <a:off x="8458200" y="3941063"/>
            <a:ext cx="329184" cy="329184"/>
          </a:xfrm>
          <a:prstGeom prst="rect">
            <a:avLst/>
          </a:prstGeom>
        </p:spPr>
      </p:pic>
      <p:sp>
        <p:nvSpPr>
          <p:cNvPr id="59" name="TextBox 58"/>
          <p:cNvSpPr txBox="1"/>
          <p:nvPr/>
        </p:nvSpPr>
        <p:spPr>
          <a:xfrm>
            <a:off x="7040879" y="4279392"/>
            <a:ext cx="1783080" cy="438912"/>
          </a:xfrm>
          <a:prstGeom prst="rect">
            <a:avLst/>
          </a:prstGeom>
          <a:noFill/>
        </p:spPr>
        <p:txBody>
          <a:bodyPr wrap="square" lIns="45720" tIns="27432" rIns="45720" bIns="27432" anchor="ctr">
            <a:noAutofit/>
          </a:bodyPr>
          <a:lstStyle/>
          <a:p>
            <a:pPr algn="l"/>
            <a:r>
              <a:rPr sz="1250" b="1" i="0">
                <a:solidFill>
                  <a:srgbClr val="3F7A3C"/>
                </a:solidFill>
                <a:latin typeface="Times New Roman"/>
              </a:rPr>
              <a:t>Clinician Review</a:t>
            </a:r>
          </a:p>
        </p:txBody>
      </p:sp>
      <p:sp>
        <p:nvSpPr>
          <p:cNvPr id="60" name="TextBox 59"/>
          <p:cNvSpPr txBox="1"/>
          <p:nvPr/>
        </p:nvSpPr>
        <p:spPr>
          <a:xfrm>
            <a:off x="7040879" y="4700016"/>
            <a:ext cx="1783080" cy="585216"/>
          </a:xfrm>
          <a:prstGeom prst="rect">
            <a:avLst/>
          </a:prstGeom>
          <a:noFill/>
        </p:spPr>
        <p:txBody>
          <a:bodyPr wrap="square" lIns="45720" tIns="27432" rIns="45720" bIns="27432" anchor="t">
            <a:noAutofit/>
          </a:bodyPr>
          <a:lstStyle/>
          <a:p>
            <a:pPr algn="l"/>
            <a:r>
              <a:rPr sz="1000" b="0" i="0">
                <a:solidFill>
                  <a:srgbClr val="1F1F1F"/>
                </a:solidFill>
                <a:latin typeface="Times New Roman"/>
              </a:rPr>
              <a:t>Every report is reviewed; the clinician keeps the final decision</a:t>
            </a:r>
          </a:p>
        </p:txBody>
      </p:sp>
      <p:sp>
        <p:nvSpPr>
          <p:cNvPr id="61" name="Rounded Rectangle 60"/>
          <p:cNvSpPr/>
          <p:nvPr/>
        </p:nvSpPr>
        <p:spPr>
          <a:xfrm>
            <a:off x="7040879" y="5312663"/>
            <a:ext cx="1783080" cy="246888"/>
          </a:xfrm>
          <a:prstGeom prst="roundRect">
            <a:avLst>
              <a:gd name="adj" fmla="val 50000"/>
            </a:avLst>
          </a:prstGeom>
          <a:solidFill>
            <a:srgbClr val="FFFFFF"/>
          </a:solidFill>
          <a:ln w="9525">
            <a:solidFill>
              <a:srgbClr val="3F7A3C"/>
            </a:solidFill>
          </a:ln>
        </p:spPr>
        <p:txBody>
          <a:bodyPr rtlCol="0" anchor="ctr" wrap="square" lIns="18288" tIns="0" rIns="18288" bIns="0">
            <a:noAutofit/>
          </a:bodyPr>
          <a:lstStyle/>
          <a:p>
            <a:pPr algn="ctr"/>
            <a:r>
              <a:rPr sz="950" b="1" i="0">
                <a:solidFill>
                  <a:srgbClr val="3F7A3C"/>
                </a:solidFill>
                <a:latin typeface="Times New Roman"/>
              </a:rPr>
              <a:t>Streamlit dashboard</a:t>
            </a:r>
          </a:p>
        </p:txBody>
      </p:sp>
      <p:sp>
        <p:nvSpPr>
          <p:cNvPr id="62" name="Freeform 61"/>
          <p:cNvSpPr/>
          <p:nvPr/>
        </p:nvSpPr>
        <p:spPr>
          <a:xfrm>
            <a:off x="1211580" y="3593591"/>
            <a:ext cx="6720839" cy="256033"/>
          </a:xfrm>
          <a:custGeom>
            <a:avLst/>
            <a:gdLst/>
            <a:ahLst/>
            <a:cxnLst/>
            <a:rect l="l" t="t" r="r" b="b"/>
            <a:pathLst>
              <a:path w="6720839" h="256033">
                <a:moveTo>
                  <a:pt x="6720839" y="0"/>
                </a:moveTo>
                <a:lnTo>
                  <a:pt x="6720839" y="128016"/>
                </a:lnTo>
                <a:lnTo>
                  <a:pt x="0" y="128016"/>
                </a:lnTo>
                <a:lnTo>
                  <a:pt x="0" y="256033"/>
                </a:lnTo>
              </a:path>
            </a:pathLst>
          </a:custGeom>
          <a:noFill/>
          <a:ln w="22225">
            <a:solidFill>
              <a:srgbClr val="404040"/>
            </a:solidFill>
            <a:tailEnd type="triangle" w="med" len="med"/>
          </a:ln>
        </p:spPr>
        <p:txBody>
          <a:bodyPr rtlCol="0" anchor="ctr"/>
          <a:lstStyle/>
          <a:p>
            <a:pPr algn="ctr"/>
          </a:p>
        </p:txBody>
      </p:sp>
      <p:sp>
        <p:nvSpPr>
          <p:cNvPr id="63" name="TextBox 62"/>
          <p:cNvSpPr txBox="1"/>
          <p:nvPr/>
        </p:nvSpPr>
        <p:spPr>
          <a:xfrm>
            <a:off x="228600" y="5696712"/>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1.4: </a:t>
            </a:r>
            <a:r>
              <a:rPr sz="1100" b="0" i="1">
                <a:solidFill>
                  <a:srgbClr val="595959"/>
                </a:solidFill>
                <a:latin typeface="Times New Roman"/>
              </a:rPr>
              <a:t>The seven pipeline stages and the tool planned for each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8. Agents &amp; Output Contracts</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TextBox 6"/>
          <p:cNvSpPr txBox="1"/>
          <p:nvPr/>
        </p:nvSpPr>
        <p:spPr>
          <a:xfrm>
            <a:off x="274320" y="1719072"/>
            <a:ext cx="2286000" cy="274320"/>
          </a:xfrm>
          <a:prstGeom prst="rect">
            <a:avLst/>
          </a:prstGeom>
          <a:noFill/>
        </p:spPr>
        <p:txBody>
          <a:bodyPr wrap="square" lIns="45720" tIns="27432" rIns="45720" bIns="27432" anchor="ctr">
            <a:noAutofit/>
          </a:bodyPr>
          <a:lstStyle/>
          <a:p>
            <a:pPr algn="l"/>
            <a:r>
              <a:rPr sz="1050" b="1" i="0">
                <a:solidFill>
                  <a:srgbClr val="595959"/>
                </a:solidFill>
                <a:latin typeface="Times New Roman"/>
              </a:rPr>
              <a:t>AGENT</a:t>
            </a:r>
          </a:p>
        </p:txBody>
      </p:sp>
      <p:sp>
        <p:nvSpPr>
          <p:cNvPr id="8" name="TextBox 7"/>
          <p:cNvSpPr txBox="1"/>
          <p:nvPr/>
        </p:nvSpPr>
        <p:spPr>
          <a:xfrm>
            <a:off x="2834640" y="1719072"/>
            <a:ext cx="2286000" cy="274320"/>
          </a:xfrm>
          <a:prstGeom prst="rect">
            <a:avLst/>
          </a:prstGeom>
          <a:noFill/>
        </p:spPr>
        <p:txBody>
          <a:bodyPr wrap="square" lIns="45720" tIns="27432" rIns="45720" bIns="27432" anchor="ctr">
            <a:noAutofit/>
          </a:bodyPr>
          <a:lstStyle/>
          <a:p>
            <a:pPr algn="l"/>
            <a:r>
              <a:rPr sz="1050" b="1" i="0">
                <a:solidFill>
                  <a:srgbClr val="595959"/>
                </a:solidFill>
                <a:latin typeface="Times New Roman"/>
              </a:rPr>
              <a:t>INPUT</a:t>
            </a:r>
          </a:p>
        </p:txBody>
      </p:sp>
      <p:sp>
        <p:nvSpPr>
          <p:cNvPr id="9" name="TextBox 8"/>
          <p:cNvSpPr txBox="1"/>
          <p:nvPr/>
        </p:nvSpPr>
        <p:spPr>
          <a:xfrm>
            <a:off x="5532120" y="1719072"/>
            <a:ext cx="2286000" cy="274320"/>
          </a:xfrm>
          <a:prstGeom prst="rect">
            <a:avLst/>
          </a:prstGeom>
          <a:noFill/>
        </p:spPr>
        <p:txBody>
          <a:bodyPr wrap="square" lIns="45720" tIns="27432" rIns="45720" bIns="27432" anchor="ctr">
            <a:noAutofit/>
          </a:bodyPr>
          <a:lstStyle/>
          <a:p>
            <a:pPr algn="l"/>
            <a:r>
              <a:rPr sz="1050" b="1" i="0">
                <a:solidFill>
                  <a:srgbClr val="595959"/>
                </a:solidFill>
                <a:latin typeface="Times New Roman"/>
              </a:rPr>
              <a:t>OUTPUT CONTRACT</a:t>
            </a:r>
          </a:p>
        </p:txBody>
      </p:sp>
      <p:sp>
        <p:nvSpPr>
          <p:cNvPr id="10" name="Rounded Rectangle 9"/>
          <p:cNvSpPr/>
          <p:nvPr/>
        </p:nvSpPr>
        <p:spPr>
          <a:xfrm>
            <a:off x="228600" y="2011680"/>
            <a:ext cx="2514600" cy="493776"/>
          </a:xfrm>
          <a:prstGeom prst="roundRect">
            <a:avLst>
              <a:gd name="adj" fmla="val 15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1" name="Picture 10" descr=""/>
          <p:cNvPicPr>
            <a:picLocks noChangeAspect="1"/>
          </p:cNvPicPr>
          <p:nvPr/>
        </p:nvPicPr>
        <p:blipFill>
          <a:blip r:embed="rId2"/>
          <a:stretch>
            <a:fillRect/>
          </a:stretch>
        </p:blipFill>
        <p:spPr>
          <a:xfrm>
            <a:off x="329184" y="2103120"/>
            <a:ext cx="310896" cy="310896"/>
          </a:xfrm>
          <a:prstGeom prst="rect">
            <a:avLst/>
          </a:prstGeom>
        </p:spPr>
      </p:pic>
      <p:sp>
        <p:nvSpPr>
          <p:cNvPr id="12" name="TextBox 11"/>
          <p:cNvSpPr txBox="1"/>
          <p:nvPr/>
        </p:nvSpPr>
        <p:spPr>
          <a:xfrm>
            <a:off x="713232" y="2011680"/>
            <a:ext cx="2011680" cy="493776"/>
          </a:xfrm>
          <a:prstGeom prst="rect">
            <a:avLst/>
          </a:prstGeom>
          <a:noFill/>
        </p:spPr>
        <p:txBody>
          <a:bodyPr wrap="square" lIns="45720" tIns="27432" rIns="45720" bIns="27432" anchor="ctr">
            <a:noAutofit/>
          </a:bodyPr>
          <a:lstStyle/>
          <a:p>
            <a:pPr algn="l"/>
            <a:r>
              <a:rPr sz="1200" b="1" i="0">
                <a:solidFill>
                  <a:srgbClr val="34507A"/>
                </a:solidFill>
                <a:latin typeface="Times New Roman"/>
              </a:rPr>
              <a:t>ML Analysis Agent</a:t>
            </a:r>
          </a:p>
        </p:txBody>
      </p:sp>
      <p:sp>
        <p:nvSpPr>
          <p:cNvPr id="13" name="TextBox 12"/>
          <p:cNvSpPr txBox="1"/>
          <p:nvPr/>
        </p:nvSpPr>
        <p:spPr>
          <a:xfrm>
            <a:off x="2834640" y="2011680"/>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Validated patient features</a:t>
            </a:r>
          </a:p>
        </p:txBody>
      </p:sp>
      <p:cxnSp>
        <p:nvCxnSpPr>
          <p:cNvPr id="14" name="Connector 13"/>
          <p:cNvCxnSpPr/>
          <p:nvPr/>
        </p:nvCxnSpPr>
        <p:spPr>
          <a:xfrm>
            <a:off x="5074920" y="2258568"/>
            <a:ext cx="365760" cy="0"/>
          </a:xfrm>
          <a:prstGeom prst="line">
            <a:avLst/>
          </a:prstGeom>
          <a:ln w="22225">
            <a:solidFill>
              <a:srgbClr val="8B0000"/>
            </a:solidFill>
            <a:tailEnd type="triangle" w="med" len="med"/>
          </a:ln>
        </p:spPr>
      </p:cxnSp>
      <p:sp>
        <p:nvSpPr>
          <p:cNvPr id="15" name="Rounded Rectangle 14"/>
          <p:cNvSpPr/>
          <p:nvPr/>
        </p:nvSpPr>
        <p:spPr>
          <a:xfrm>
            <a:off x="5486400" y="2011680"/>
            <a:ext cx="3429000" cy="493776"/>
          </a:xfrm>
          <a:prstGeom prst="roundRect">
            <a:avLst>
              <a:gd name="adj" fmla="val 15000"/>
            </a:avLst>
          </a:prstGeom>
          <a:solidFill>
            <a:srgbClr val="FFFFFF"/>
          </a:solidFill>
          <a:ln w="12700">
            <a:solidFill>
              <a:srgbClr val="34507A"/>
            </a:solidFill>
          </a:ln>
        </p:spPr>
        <p:txBody>
          <a:bodyPr rtlCol="0" anchor="ctr" wrap="square" tIns="18288" rIns="73152" bIns="18288">
            <a:noAutofit/>
          </a:bodyPr>
          <a:lstStyle/>
          <a:p>
            <a:pPr algn="l"/>
            <a:r>
              <a:rPr sz="1150" b="1" i="0">
                <a:solidFill>
                  <a:srgbClr val="34507A"/>
                </a:solidFill>
                <a:latin typeface="Times New Roman"/>
              </a:rPr>
              <a:t>MLResult: </a:t>
            </a:r>
            <a:r>
              <a:rPr sz="1100" b="0" i="0">
                <a:solidFill>
                  <a:srgbClr val="1F1F1F"/>
                </a:solidFill>
                <a:latin typeface="Times New Roman"/>
              </a:rPr>
              <a:t>prediction, probabilities, SHAP importance [15], model version</a:t>
            </a:r>
          </a:p>
        </p:txBody>
      </p:sp>
      <p:sp>
        <p:nvSpPr>
          <p:cNvPr id="16" name="Rounded Rectangle 15"/>
          <p:cNvSpPr/>
          <p:nvPr/>
        </p:nvSpPr>
        <p:spPr>
          <a:xfrm>
            <a:off x="228600" y="2578608"/>
            <a:ext cx="2514600" cy="493776"/>
          </a:xfrm>
          <a:prstGeom prst="roundRect">
            <a:avLst>
              <a:gd name="adj" fmla="val 15000"/>
            </a:avLst>
          </a:prstGeom>
          <a:solidFill>
            <a:srgbClr val="E1F0DC"/>
          </a:solidFill>
          <a:ln w="12700">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7" name="Picture 16" descr=""/>
          <p:cNvPicPr>
            <a:picLocks noChangeAspect="1"/>
          </p:cNvPicPr>
          <p:nvPr/>
        </p:nvPicPr>
        <p:blipFill>
          <a:blip r:embed="rId3"/>
          <a:stretch>
            <a:fillRect/>
          </a:stretch>
        </p:blipFill>
        <p:spPr>
          <a:xfrm>
            <a:off x="329184" y="2670048"/>
            <a:ext cx="310896" cy="310896"/>
          </a:xfrm>
          <a:prstGeom prst="rect">
            <a:avLst/>
          </a:prstGeom>
        </p:spPr>
      </p:pic>
      <p:sp>
        <p:nvSpPr>
          <p:cNvPr id="18" name="TextBox 17"/>
          <p:cNvSpPr txBox="1"/>
          <p:nvPr/>
        </p:nvSpPr>
        <p:spPr>
          <a:xfrm>
            <a:off x="713232" y="2578608"/>
            <a:ext cx="2011680" cy="493776"/>
          </a:xfrm>
          <a:prstGeom prst="rect">
            <a:avLst/>
          </a:prstGeom>
          <a:noFill/>
        </p:spPr>
        <p:txBody>
          <a:bodyPr wrap="square" lIns="45720" tIns="27432" rIns="45720" bIns="27432" anchor="ctr">
            <a:noAutofit/>
          </a:bodyPr>
          <a:lstStyle/>
          <a:p>
            <a:pPr algn="l"/>
            <a:r>
              <a:rPr sz="1200" b="1" i="0">
                <a:solidFill>
                  <a:srgbClr val="3F7A3C"/>
                </a:solidFill>
                <a:latin typeface="Times New Roman"/>
              </a:rPr>
              <a:t>Rule Validation Agent</a:t>
            </a:r>
          </a:p>
        </p:txBody>
      </p:sp>
      <p:sp>
        <p:nvSpPr>
          <p:cNvPr id="19" name="TextBox 18"/>
          <p:cNvSpPr txBox="1"/>
          <p:nvPr/>
        </p:nvSpPr>
        <p:spPr>
          <a:xfrm>
            <a:off x="2834640" y="2578608"/>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Patient features + active rulebase</a:t>
            </a:r>
          </a:p>
        </p:txBody>
      </p:sp>
      <p:cxnSp>
        <p:nvCxnSpPr>
          <p:cNvPr id="20" name="Connector 19"/>
          <p:cNvCxnSpPr/>
          <p:nvPr/>
        </p:nvCxnSpPr>
        <p:spPr>
          <a:xfrm>
            <a:off x="5074920" y="2825496"/>
            <a:ext cx="365760" cy="0"/>
          </a:xfrm>
          <a:prstGeom prst="line">
            <a:avLst/>
          </a:prstGeom>
          <a:ln w="22225">
            <a:solidFill>
              <a:srgbClr val="8B0000"/>
            </a:solidFill>
            <a:tailEnd type="triangle" w="med" len="med"/>
          </a:ln>
        </p:spPr>
      </p:cxnSp>
      <p:sp>
        <p:nvSpPr>
          <p:cNvPr id="21" name="Rounded Rectangle 20"/>
          <p:cNvSpPr/>
          <p:nvPr/>
        </p:nvSpPr>
        <p:spPr>
          <a:xfrm>
            <a:off x="5486400" y="2578608"/>
            <a:ext cx="3429000" cy="493776"/>
          </a:xfrm>
          <a:prstGeom prst="roundRect">
            <a:avLst>
              <a:gd name="adj" fmla="val 15000"/>
            </a:avLst>
          </a:prstGeom>
          <a:solidFill>
            <a:srgbClr val="FFFFFF"/>
          </a:solidFill>
          <a:ln w="12700">
            <a:solidFill>
              <a:srgbClr val="3F7A3C"/>
            </a:solidFill>
          </a:ln>
        </p:spPr>
        <p:txBody>
          <a:bodyPr rtlCol="0" anchor="ctr" wrap="square" tIns="18288" rIns="73152" bIns="18288">
            <a:noAutofit/>
          </a:bodyPr>
          <a:lstStyle/>
          <a:p>
            <a:pPr algn="l"/>
            <a:r>
              <a:rPr sz="1150" b="1" i="0">
                <a:solidFill>
                  <a:srgbClr val="3F7A3C"/>
                </a:solidFill>
                <a:latin typeface="Times New Roman"/>
              </a:rPr>
              <a:t>RuleResult: </a:t>
            </a:r>
            <a:r>
              <a:rPr sz="1100" b="0" i="0">
                <a:solidFill>
                  <a:srgbClr val="1F1F1F"/>
                </a:solidFill>
                <a:latin typeface="Times New Roman"/>
              </a:rPr>
              <a:t>triggered rules, action, reason, rulebase version</a:t>
            </a:r>
          </a:p>
        </p:txBody>
      </p:sp>
      <p:sp>
        <p:nvSpPr>
          <p:cNvPr id="22" name="Rounded Rectangle 21"/>
          <p:cNvSpPr/>
          <p:nvPr/>
        </p:nvSpPr>
        <p:spPr>
          <a:xfrm>
            <a:off x="228600" y="3145536"/>
            <a:ext cx="2514600" cy="493776"/>
          </a:xfrm>
          <a:prstGeom prst="roundRect">
            <a:avLst>
              <a:gd name="adj" fmla="val 15000"/>
            </a:avLst>
          </a:prstGeom>
          <a:solidFill>
            <a:srgbClr val="F7DCDC"/>
          </a:solidFill>
          <a:ln w="12700">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3" name="Picture 22" descr=""/>
          <p:cNvPicPr>
            <a:picLocks noChangeAspect="1"/>
          </p:cNvPicPr>
          <p:nvPr/>
        </p:nvPicPr>
        <p:blipFill>
          <a:blip r:embed="rId4"/>
          <a:stretch>
            <a:fillRect/>
          </a:stretch>
        </p:blipFill>
        <p:spPr>
          <a:xfrm>
            <a:off x="329184" y="3236976"/>
            <a:ext cx="310896" cy="310896"/>
          </a:xfrm>
          <a:prstGeom prst="rect">
            <a:avLst/>
          </a:prstGeom>
        </p:spPr>
      </p:pic>
      <p:sp>
        <p:nvSpPr>
          <p:cNvPr id="24" name="TextBox 23"/>
          <p:cNvSpPr txBox="1"/>
          <p:nvPr/>
        </p:nvSpPr>
        <p:spPr>
          <a:xfrm>
            <a:off x="713232" y="3145536"/>
            <a:ext cx="2011680" cy="493776"/>
          </a:xfrm>
          <a:prstGeom prst="rect">
            <a:avLst/>
          </a:prstGeom>
          <a:noFill/>
        </p:spPr>
        <p:txBody>
          <a:bodyPr wrap="square" lIns="45720" tIns="27432" rIns="45720" bIns="27432" anchor="ctr">
            <a:noAutofit/>
          </a:bodyPr>
          <a:lstStyle/>
          <a:p>
            <a:pPr algn="l"/>
            <a:r>
              <a:rPr sz="1200" b="1" i="0">
                <a:solidFill>
                  <a:srgbClr val="B04848"/>
                </a:solidFill>
                <a:latin typeface="Times New Roman"/>
              </a:rPr>
              <a:t>Knowledge Retrieval Agent</a:t>
            </a:r>
          </a:p>
        </p:txBody>
      </p:sp>
      <p:sp>
        <p:nvSpPr>
          <p:cNvPr id="25" name="TextBox 24"/>
          <p:cNvSpPr txBox="1"/>
          <p:nvPr/>
        </p:nvSpPr>
        <p:spPr>
          <a:xfrm>
            <a:off x="2834640" y="3145536"/>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Clinical query + FAISS &amp; Neo4j index</a:t>
            </a:r>
          </a:p>
        </p:txBody>
      </p:sp>
      <p:cxnSp>
        <p:nvCxnSpPr>
          <p:cNvPr id="26" name="Connector 25"/>
          <p:cNvCxnSpPr/>
          <p:nvPr/>
        </p:nvCxnSpPr>
        <p:spPr>
          <a:xfrm>
            <a:off x="5074920" y="3392424"/>
            <a:ext cx="365760" cy="0"/>
          </a:xfrm>
          <a:prstGeom prst="line">
            <a:avLst/>
          </a:prstGeom>
          <a:ln w="22225">
            <a:solidFill>
              <a:srgbClr val="8B0000"/>
            </a:solidFill>
            <a:tailEnd type="triangle" w="med" len="med"/>
          </a:ln>
        </p:spPr>
      </p:cxnSp>
      <p:sp>
        <p:nvSpPr>
          <p:cNvPr id="27" name="Rounded Rectangle 26"/>
          <p:cNvSpPr/>
          <p:nvPr/>
        </p:nvSpPr>
        <p:spPr>
          <a:xfrm>
            <a:off x="5486400" y="3145536"/>
            <a:ext cx="3429000" cy="493776"/>
          </a:xfrm>
          <a:prstGeom prst="roundRect">
            <a:avLst>
              <a:gd name="adj" fmla="val 15000"/>
            </a:avLst>
          </a:prstGeom>
          <a:solidFill>
            <a:srgbClr val="FFFFFF"/>
          </a:solidFill>
          <a:ln w="12700">
            <a:solidFill>
              <a:srgbClr val="B04848"/>
            </a:solidFill>
          </a:ln>
        </p:spPr>
        <p:txBody>
          <a:bodyPr rtlCol="0" anchor="ctr" wrap="square" tIns="18288" rIns="73152" bIns="18288">
            <a:noAutofit/>
          </a:bodyPr>
          <a:lstStyle/>
          <a:p>
            <a:pPr algn="l"/>
            <a:r>
              <a:rPr sz="1150" b="1" i="0">
                <a:solidFill>
                  <a:srgbClr val="B04848"/>
                </a:solidFill>
                <a:latin typeface="Times New Roman"/>
              </a:rPr>
              <a:t>EvidenceItem list: </a:t>
            </a:r>
            <a:r>
              <a:rPr sz="1100" b="0" i="0">
                <a:solidFill>
                  <a:srgbClr val="1F1F1F"/>
                </a:solidFill>
                <a:latin typeface="Times New Roman"/>
              </a:rPr>
              <a:t>source id, passage, similarity score</a:t>
            </a:r>
          </a:p>
        </p:txBody>
      </p:sp>
      <p:sp>
        <p:nvSpPr>
          <p:cNvPr id="28" name="Rounded Rectangle 27"/>
          <p:cNvSpPr/>
          <p:nvPr/>
        </p:nvSpPr>
        <p:spPr>
          <a:xfrm>
            <a:off x="228600" y="3712463"/>
            <a:ext cx="2514600" cy="493776"/>
          </a:xfrm>
          <a:prstGeom prst="roundRect">
            <a:avLst>
              <a:gd name="adj" fmla="val 15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9" name="Picture 28" descr=""/>
          <p:cNvPicPr>
            <a:picLocks noChangeAspect="1"/>
          </p:cNvPicPr>
          <p:nvPr/>
        </p:nvPicPr>
        <p:blipFill>
          <a:blip r:embed="rId5"/>
          <a:stretch>
            <a:fillRect/>
          </a:stretch>
        </p:blipFill>
        <p:spPr>
          <a:xfrm>
            <a:off x="329184" y="3803903"/>
            <a:ext cx="310896" cy="310896"/>
          </a:xfrm>
          <a:prstGeom prst="rect">
            <a:avLst/>
          </a:prstGeom>
        </p:spPr>
      </p:pic>
      <p:sp>
        <p:nvSpPr>
          <p:cNvPr id="30" name="TextBox 29"/>
          <p:cNvSpPr txBox="1"/>
          <p:nvPr/>
        </p:nvSpPr>
        <p:spPr>
          <a:xfrm>
            <a:off x="713232" y="3712463"/>
            <a:ext cx="2011680" cy="493776"/>
          </a:xfrm>
          <a:prstGeom prst="rect">
            <a:avLst/>
          </a:prstGeom>
          <a:noFill/>
        </p:spPr>
        <p:txBody>
          <a:bodyPr wrap="square" lIns="45720" tIns="27432" rIns="45720" bIns="27432" anchor="ctr">
            <a:noAutofit/>
          </a:bodyPr>
          <a:lstStyle/>
          <a:p>
            <a:pPr algn="l"/>
            <a:r>
              <a:rPr sz="1200" b="1" i="0">
                <a:solidFill>
                  <a:srgbClr val="34507A"/>
                </a:solidFill>
                <a:latin typeface="Times New Roman"/>
              </a:rPr>
              <a:t>Clinical Context Agent</a:t>
            </a:r>
          </a:p>
        </p:txBody>
      </p:sp>
      <p:sp>
        <p:nvSpPr>
          <p:cNvPr id="31" name="TextBox 30"/>
          <p:cNvSpPr txBox="1"/>
          <p:nvPr/>
        </p:nvSpPr>
        <p:spPr>
          <a:xfrm>
            <a:off x="2834640" y="3712463"/>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MLResult + RuleResult + EvidenceItems</a:t>
            </a:r>
          </a:p>
        </p:txBody>
      </p:sp>
      <p:cxnSp>
        <p:nvCxnSpPr>
          <p:cNvPr id="32" name="Connector 31"/>
          <p:cNvCxnSpPr/>
          <p:nvPr/>
        </p:nvCxnSpPr>
        <p:spPr>
          <a:xfrm>
            <a:off x="5074920" y="3959351"/>
            <a:ext cx="365760" cy="0"/>
          </a:xfrm>
          <a:prstGeom prst="line">
            <a:avLst/>
          </a:prstGeom>
          <a:ln w="22225">
            <a:solidFill>
              <a:srgbClr val="8B0000"/>
            </a:solidFill>
            <a:tailEnd type="triangle" w="med" len="med"/>
          </a:ln>
        </p:spPr>
      </p:cxnSp>
      <p:sp>
        <p:nvSpPr>
          <p:cNvPr id="33" name="Rounded Rectangle 32"/>
          <p:cNvSpPr/>
          <p:nvPr/>
        </p:nvSpPr>
        <p:spPr>
          <a:xfrm>
            <a:off x="5486400" y="3712463"/>
            <a:ext cx="3429000" cy="493776"/>
          </a:xfrm>
          <a:prstGeom prst="roundRect">
            <a:avLst>
              <a:gd name="adj" fmla="val 15000"/>
            </a:avLst>
          </a:prstGeom>
          <a:solidFill>
            <a:srgbClr val="FFFFFF"/>
          </a:solidFill>
          <a:ln w="12700">
            <a:solidFill>
              <a:srgbClr val="34507A"/>
            </a:solidFill>
          </a:ln>
        </p:spPr>
        <p:txBody>
          <a:bodyPr rtlCol="0" anchor="ctr" wrap="square" tIns="18288" rIns="73152" bIns="18288">
            <a:noAutofit/>
          </a:bodyPr>
          <a:lstStyle/>
          <a:p>
            <a:pPr algn="l"/>
            <a:r>
              <a:rPr sz="1150" b="1" i="0">
                <a:solidFill>
                  <a:srgbClr val="34507A"/>
                </a:solidFill>
                <a:latin typeface="Times New Roman"/>
              </a:rPr>
              <a:t>ContextSummary: </a:t>
            </a:r>
            <a:r>
              <a:rPr sz="1100" b="0" i="0">
                <a:solidFill>
                  <a:srgbClr val="1F1F1F"/>
                </a:solidFill>
                <a:latin typeface="Times New Roman"/>
              </a:rPr>
              <a:t>summary, conflicts, unsupported statements</a:t>
            </a:r>
          </a:p>
        </p:txBody>
      </p:sp>
      <p:sp>
        <p:nvSpPr>
          <p:cNvPr id="34" name="Rounded Rectangle 33"/>
          <p:cNvSpPr/>
          <p:nvPr/>
        </p:nvSpPr>
        <p:spPr>
          <a:xfrm>
            <a:off x="228600" y="4279392"/>
            <a:ext cx="2514600" cy="493776"/>
          </a:xfrm>
          <a:prstGeom prst="roundRect">
            <a:avLst>
              <a:gd name="adj" fmla="val 15000"/>
            </a:avLst>
          </a:prstGeom>
          <a:solidFill>
            <a:srgbClr val="E5DEF6"/>
          </a:solidFill>
          <a:ln w="12700">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5" name="Picture 34" descr=""/>
          <p:cNvPicPr>
            <a:picLocks noChangeAspect="1"/>
          </p:cNvPicPr>
          <p:nvPr/>
        </p:nvPicPr>
        <p:blipFill>
          <a:blip r:embed="rId6"/>
          <a:stretch>
            <a:fillRect/>
          </a:stretch>
        </p:blipFill>
        <p:spPr>
          <a:xfrm>
            <a:off x="329184" y="4370832"/>
            <a:ext cx="310896" cy="310896"/>
          </a:xfrm>
          <a:prstGeom prst="rect">
            <a:avLst/>
          </a:prstGeom>
        </p:spPr>
      </p:pic>
      <p:sp>
        <p:nvSpPr>
          <p:cNvPr id="36" name="TextBox 35"/>
          <p:cNvSpPr txBox="1"/>
          <p:nvPr/>
        </p:nvSpPr>
        <p:spPr>
          <a:xfrm>
            <a:off x="713232" y="4279392"/>
            <a:ext cx="2011680" cy="493776"/>
          </a:xfrm>
          <a:prstGeom prst="rect">
            <a:avLst/>
          </a:prstGeom>
          <a:noFill/>
        </p:spPr>
        <p:txBody>
          <a:bodyPr wrap="square" lIns="45720" tIns="27432" rIns="45720" bIns="27432" anchor="ctr">
            <a:noAutofit/>
          </a:bodyPr>
          <a:lstStyle/>
          <a:p>
            <a:pPr algn="l"/>
            <a:r>
              <a:rPr sz="1200" b="1" i="0">
                <a:solidFill>
                  <a:srgbClr val="4E4775"/>
                </a:solidFill>
                <a:latin typeface="Times New Roman"/>
              </a:rPr>
              <a:t>Decision Fusion Engine</a:t>
            </a:r>
          </a:p>
        </p:txBody>
      </p:sp>
      <p:sp>
        <p:nvSpPr>
          <p:cNvPr id="37" name="TextBox 36"/>
          <p:cNvSpPr txBox="1"/>
          <p:nvPr/>
        </p:nvSpPr>
        <p:spPr>
          <a:xfrm>
            <a:off x="2834640" y="4279392"/>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All of the outputs above</a:t>
            </a:r>
          </a:p>
        </p:txBody>
      </p:sp>
      <p:cxnSp>
        <p:nvCxnSpPr>
          <p:cNvPr id="38" name="Connector 37"/>
          <p:cNvCxnSpPr/>
          <p:nvPr/>
        </p:nvCxnSpPr>
        <p:spPr>
          <a:xfrm>
            <a:off x="5074920" y="4526280"/>
            <a:ext cx="365760" cy="0"/>
          </a:xfrm>
          <a:prstGeom prst="line">
            <a:avLst/>
          </a:prstGeom>
          <a:ln w="22225">
            <a:solidFill>
              <a:srgbClr val="8B0000"/>
            </a:solidFill>
            <a:tailEnd type="triangle" w="med" len="med"/>
          </a:ln>
        </p:spPr>
      </p:cxnSp>
      <p:sp>
        <p:nvSpPr>
          <p:cNvPr id="39" name="Rounded Rectangle 38"/>
          <p:cNvSpPr/>
          <p:nvPr/>
        </p:nvSpPr>
        <p:spPr>
          <a:xfrm>
            <a:off x="5486400" y="4279392"/>
            <a:ext cx="3429000" cy="493776"/>
          </a:xfrm>
          <a:prstGeom prst="roundRect">
            <a:avLst>
              <a:gd name="adj" fmla="val 15000"/>
            </a:avLst>
          </a:prstGeom>
          <a:solidFill>
            <a:srgbClr val="FFFFFF"/>
          </a:solidFill>
          <a:ln w="12700">
            <a:solidFill>
              <a:srgbClr val="4E4775"/>
            </a:solidFill>
          </a:ln>
        </p:spPr>
        <p:txBody>
          <a:bodyPr rtlCol="0" anchor="ctr" wrap="square" tIns="18288" rIns="73152" bIns="18288">
            <a:noAutofit/>
          </a:bodyPr>
          <a:lstStyle/>
          <a:p>
            <a:pPr algn="l"/>
            <a:r>
              <a:rPr sz="1150" b="1" i="0">
                <a:solidFill>
                  <a:srgbClr val="4E4775"/>
                </a:solidFill>
                <a:latin typeface="Times New Roman"/>
              </a:rPr>
              <a:t>FusionResult: </a:t>
            </a:r>
            <a:r>
              <a:rPr sz="1100" b="0" i="0">
                <a:solidFill>
                  <a:srgbClr val="1F1F1F"/>
                </a:solidFill>
                <a:latin typeface="Times New Roman"/>
              </a:rPr>
              <a:t>decision, confidence C, disagreement D</a:t>
            </a:r>
          </a:p>
        </p:txBody>
      </p:sp>
      <p:sp>
        <p:nvSpPr>
          <p:cNvPr id="40" name="Rounded Rectangle 39"/>
          <p:cNvSpPr/>
          <p:nvPr/>
        </p:nvSpPr>
        <p:spPr>
          <a:xfrm>
            <a:off x="228600" y="4846320"/>
            <a:ext cx="2514600" cy="493776"/>
          </a:xfrm>
          <a:prstGeom prst="roundRect">
            <a:avLst>
              <a:gd name="adj" fmla="val 15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41" name="Picture 40" descr=""/>
          <p:cNvPicPr>
            <a:picLocks noChangeAspect="1"/>
          </p:cNvPicPr>
          <p:nvPr/>
        </p:nvPicPr>
        <p:blipFill>
          <a:blip r:embed="rId7"/>
          <a:stretch>
            <a:fillRect/>
          </a:stretch>
        </p:blipFill>
        <p:spPr>
          <a:xfrm>
            <a:off x="329184" y="4937759"/>
            <a:ext cx="310896" cy="310896"/>
          </a:xfrm>
          <a:prstGeom prst="rect">
            <a:avLst/>
          </a:prstGeom>
        </p:spPr>
      </p:pic>
      <p:sp>
        <p:nvSpPr>
          <p:cNvPr id="42" name="TextBox 41"/>
          <p:cNvSpPr txBox="1"/>
          <p:nvPr/>
        </p:nvSpPr>
        <p:spPr>
          <a:xfrm>
            <a:off x="713232" y="4846320"/>
            <a:ext cx="2011680" cy="493776"/>
          </a:xfrm>
          <a:prstGeom prst="rect">
            <a:avLst/>
          </a:prstGeom>
          <a:noFill/>
        </p:spPr>
        <p:txBody>
          <a:bodyPr wrap="square" lIns="45720" tIns="27432" rIns="45720" bIns="27432" anchor="ctr">
            <a:noAutofit/>
          </a:bodyPr>
          <a:lstStyle/>
          <a:p>
            <a:pPr algn="l"/>
            <a:r>
              <a:rPr sz="1200" b="1" i="0">
                <a:solidFill>
                  <a:srgbClr val="34507A"/>
                </a:solidFill>
                <a:latin typeface="Times New Roman"/>
              </a:rPr>
              <a:t>Explanation &amp; Audit</a:t>
            </a:r>
          </a:p>
        </p:txBody>
      </p:sp>
      <p:sp>
        <p:nvSpPr>
          <p:cNvPr id="43" name="TextBox 42"/>
          <p:cNvSpPr txBox="1"/>
          <p:nvPr/>
        </p:nvSpPr>
        <p:spPr>
          <a:xfrm>
            <a:off x="2834640" y="4846320"/>
            <a:ext cx="2240280" cy="493776"/>
          </a:xfrm>
          <a:prstGeom prst="rect">
            <a:avLst/>
          </a:prstGeom>
          <a:noFill/>
        </p:spPr>
        <p:txBody>
          <a:bodyPr wrap="square" lIns="45720" tIns="27432" rIns="45720" bIns="27432" anchor="ctr">
            <a:noAutofit/>
          </a:bodyPr>
          <a:lstStyle/>
          <a:p>
            <a:pPr algn="l"/>
            <a:r>
              <a:rPr sz="1150" b="0" i="0">
                <a:solidFill>
                  <a:srgbClr val="1F1F1F"/>
                </a:solidFill>
                <a:latin typeface="Times New Roman"/>
              </a:rPr>
              <a:t>FusionResult + all evidence</a:t>
            </a:r>
          </a:p>
        </p:txBody>
      </p:sp>
      <p:cxnSp>
        <p:nvCxnSpPr>
          <p:cNvPr id="44" name="Connector 43"/>
          <p:cNvCxnSpPr/>
          <p:nvPr/>
        </p:nvCxnSpPr>
        <p:spPr>
          <a:xfrm>
            <a:off x="5074920" y="5093207"/>
            <a:ext cx="365760" cy="0"/>
          </a:xfrm>
          <a:prstGeom prst="line">
            <a:avLst/>
          </a:prstGeom>
          <a:ln w="22225">
            <a:solidFill>
              <a:srgbClr val="8B0000"/>
            </a:solidFill>
            <a:tailEnd type="triangle" w="med" len="med"/>
          </a:ln>
        </p:spPr>
      </p:cxnSp>
      <p:sp>
        <p:nvSpPr>
          <p:cNvPr id="45" name="Rounded Rectangle 44"/>
          <p:cNvSpPr/>
          <p:nvPr/>
        </p:nvSpPr>
        <p:spPr>
          <a:xfrm>
            <a:off x="5486400" y="4846320"/>
            <a:ext cx="3429000" cy="493776"/>
          </a:xfrm>
          <a:prstGeom prst="roundRect">
            <a:avLst>
              <a:gd name="adj" fmla="val 15000"/>
            </a:avLst>
          </a:prstGeom>
          <a:solidFill>
            <a:srgbClr val="FFFFFF"/>
          </a:solidFill>
          <a:ln w="12700">
            <a:solidFill>
              <a:srgbClr val="34507A"/>
            </a:solidFill>
          </a:ln>
        </p:spPr>
        <p:txBody>
          <a:bodyPr rtlCol="0" anchor="ctr" wrap="square" tIns="18288" rIns="73152" bIns="18288">
            <a:noAutofit/>
          </a:bodyPr>
          <a:lstStyle/>
          <a:p>
            <a:pPr algn="l"/>
            <a:r>
              <a:rPr sz="1150" b="1" i="0">
                <a:solidFill>
                  <a:srgbClr val="34507A"/>
                </a:solidFill>
                <a:latin typeface="Times New Roman"/>
              </a:rPr>
              <a:t>DecisionReport + AuditRecord: </a:t>
            </a:r>
            <a:r>
              <a:rPr sz="1100" b="0" i="0">
                <a:solidFill>
                  <a:srgbClr val="1F1F1F"/>
                </a:solidFill>
                <a:latin typeface="Times New Roman"/>
              </a:rPr>
              <a:t>with versions and timestamp</a:t>
            </a:r>
          </a:p>
        </p:txBody>
      </p:sp>
      <p:pic>
        <p:nvPicPr>
          <p:cNvPr id="46" name="Picture 45" descr=""/>
          <p:cNvPicPr>
            <a:picLocks noChangeAspect="1"/>
          </p:cNvPicPr>
          <p:nvPr/>
        </p:nvPicPr>
        <p:blipFill>
          <a:blip r:embed="rId8"/>
          <a:stretch>
            <a:fillRect/>
          </a:stretch>
        </p:blipFill>
        <p:spPr>
          <a:xfrm>
            <a:off x="1417320" y="5413248"/>
            <a:ext cx="237744" cy="237744"/>
          </a:xfrm>
          <a:prstGeom prst="rect">
            <a:avLst/>
          </a:prstGeom>
        </p:spPr>
      </p:pic>
      <p:sp>
        <p:nvSpPr>
          <p:cNvPr id="47" name="TextBox 46"/>
          <p:cNvSpPr txBox="1"/>
          <p:nvPr/>
        </p:nvSpPr>
        <p:spPr>
          <a:xfrm>
            <a:off x="1719072" y="5367528"/>
            <a:ext cx="6400800" cy="329184"/>
          </a:xfrm>
          <a:prstGeom prst="rect">
            <a:avLst/>
          </a:prstGeom>
          <a:noFill/>
        </p:spPr>
        <p:txBody>
          <a:bodyPr wrap="square" lIns="45720" tIns="27432" rIns="45720" bIns="27432" anchor="ctr">
            <a:noAutofit/>
          </a:bodyPr>
          <a:lstStyle/>
          <a:p>
            <a:pPr algn="l"/>
            <a:r>
              <a:rPr sz="1250" b="0" i="1">
                <a:solidFill>
                  <a:srgbClr val="8B0000"/>
                </a:solidFill>
                <a:latin typeface="Times New Roman"/>
              </a:rPr>
              <a:t>Every output is typed, so any agent can be replaced without redesigning the others.</a:t>
            </a:r>
          </a:p>
        </p:txBody>
      </p:sp>
      <p:sp>
        <p:nvSpPr>
          <p:cNvPr id="48" name="TextBox 47"/>
          <p:cNvSpPr txBox="1"/>
          <p:nvPr/>
        </p:nvSpPr>
        <p:spPr>
          <a:xfrm>
            <a:off x="228600" y="5696712"/>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1.5: </a:t>
            </a:r>
            <a:r>
              <a:rPr sz="1100" b="0" i="1">
                <a:solidFill>
                  <a:srgbClr val="595959"/>
                </a:solidFill>
                <a:latin typeface="Times New Roman"/>
              </a:rPr>
              <a:t>Agents, their inputs and their typed output contracts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9. Decision Fusion &amp; Confidence Scoring</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1737360" y="1755648"/>
            <a:ext cx="5669280" cy="566928"/>
          </a:xfrm>
          <a:prstGeom prst="roundRect">
            <a:avLst>
              <a:gd name="adj" fmla="val 30000"/>
            </a:avLst>
          </a:prstGeom>
          <a:solidFill>
            <a:srgbClr val="FBECEC"/>
          </a:solidFill>
          <a:ln>
            <a:noFill/>
          </a:ln>
        </p:spPr>
        <p:txBody>
          <a:bodyPr rtlCol="0" anchor="ctr" wrap="square" lIns="45720" tIns="27432" rIns="45720" bIns="27432">
            <a:noAutofit/>
          </a:bodyPr>
          <a:lstStyle/>
          <a:p>
            <a:pPr algn="ctr"/>
            <a:r>
              <a:rPr sz="2800" b="1" i="0">
                <a:solidFill>
                  <a:srgbClr val="8B0000"/>
                </a:solidFill>
                <a:latin typeface="Times New Roman"/>
              </a:rPr>
              <a:t>C = αM + βR + γK − λD</a:t>
            </a:r>
          </a:p>
        </p:txBody>
      </p:sp>
      <p:sp>
        <p:nvSpPr>
          <p:cNvPr id="8" name="TextBox 7"/>
          <p:cNvSpPr txBox="1"/>
          <p:nvPr/>
        </p:nvSpPr>
        <p:spPr>
          <a:xfrm>
            <a:off x="228600" y="2350008"/>
            <a:ext cx="8686800" cy="274320"/>
          </a:xfrm>
          <a:prstGeom prst="rect">
            <a:avLst/>
          </a:prstGeom>
          <a:noFill/>
        </p:spPr>
        <p:txBody>
          <a:bodyPr wrap="square" lIns="45720" tIns="27432" rIns="45720" bIns="27432" anchor="ctr">
            <a:noAutofit/>
          </a:bodyPr>
          <a:lstStyle/>
          <a:p>
            <a:pPr algn="ctr"/>
            <a:r>
              <a:rPr sz="1100" b="0" i="1">
                <a:solidFill>
                  <a:srgbClr val="595959"/>
                </a:solidFill>
                <a:latin typeface="Times New Roman"/>
              </a:rPr>
              <a:t>Equation (4.2): confidence of the fused decision. Weights are tuned only on a held-out validation split, never on the test set.</a:t>
            </a:r>
          </a:p>
        </p:txBody>
      </p:sp>
      <p:sp>
        <p:nvSpPr>
          <p:cNvPr id="9" name="Rounded Rectangle 8"/>
          <p:cNvSpPr/>
          <p:nvPr/>
        </p:nvSpPr>
        <p:spPr>
          <a:xfrm>
            <a:off x="228600" y="2715768"/>
            <a:ext cx="3429000" cy="667512"/>
          </a:xfrm>
          <a:prstGeom prst="roundRect">
            <a:avLst>
              <a:gd name="adj" fmla="val 10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0" name="TextBox 9"/>
          <p:cNvSpPr txBox="1"/>
          <p:nvPr/>
        </p:nvSpPr>
        <p:spPr>
          <a:xfrm>
            <a:off x="274320" y="2715768"/>
            <a:ext cx="457200" cy="667512"/>
          </a:xfrm>
          <a:prstGeom prst="rect">
            <a:avLst/>
          </a:prstGeom>
          <a:noFill/>
        </p:spPr>
        <p:txBody>
          <a:bodyPr wrap="square" lIns="45720" tIns="27432" rIns="45720" bIns="27432" anchor="ctr">
            <a:noAutofit/>
          </a:bodyPr>
          <a:lstStyle/>
          <a:p>
            <a:pPr algn="ctr"/>
            <a:r>
              <a:rPr sz="2600" b="1" i="1">
                <a:solidFill>
                  <a:srgbClr val="34507A"/>
                </a:solidFill>
                <a:latin typeface="Times New Roman"/>
              </a:rPr>
              <a:t>M</a:t>
            </a:r>
          </a:p>
        </p:txBody>
      </p:sp>
      <p:sp>
        <p:nvSpPr>
          <p:cNvPr id="11" name="TextBox 10"/>
          <p:cNvSpPr txBox="1"/>
          <p:nvPr/>
        </p:nvSpPr>
        <p:spPr>
          <a:xfrm>
            <a:off x="749808" y="2724912"/>
            <a:ext cx="2286000" cy="649224"/>
          </a:xfrm>
          <a:prstGeom prst="rect">
            <a:avLst/>
          </a:prstGeom>
          <a:noFill/>
        </p:spPr>
        <p:txBody>
          <a:bodyPr wrap="square" lIns="45720" tIns="27432" rIns="45720" bIns="27432" anchor="ctr">
            <a:noAutofit/>
          </a:bodyPr>
          <a:lstStyle/>
          <a:p>
            <a:pPr algn="l"/>
            <a:r>
              <a:rPr sz="1200" b="1" i="0">
                <a:solidFill>
                  <a:srgbClr val="34507A"/>
                </a:solidFill>
                <a:latin typeface="Times New Roman"/>
              </a:rPr>
              <a:t>ML support</a:t>
            </a:r>
          </a:p>
          <a:p>
            <a:pPr algn="l"/>
            <a:r>
              <a:rPr sz="950" b="0" i="0">
                <a:solidFill>
                  <a:srgbClr val="1F1F1F"/>
                </a:solidFill>
                <a:latin typeface="Times New Roman"/>
              </a:rPr>
              <a:t>Probability of the class the model predicts</a:t>
            </a:r>
          </a:p>
        </p:txBody>
      </p:sp>
      <p:sp>
        <p:nvSpPr>
          <p:cNvPr id="12" name="Rounded Rectangle 11"/>
          <p:cNvSpPr/>
          <p:nvPr/>
        </p:nvSpPr>
        <p:spPr>
          <a:xfrm>
            <a:off x="3044952" y="2912364"/>
            <a:ext cx="548640" cy="274320"/>
          </a:xfrm>
          <a:prstGeom prst="roundRect">
            <a:avLst>
              <a:gd name="adj" fmla="val 50000"/>
            </a:avLst>
          </a:prstGeom>
          <a:solidFill>
            <a:srgbClr val="FFFFFF"/>
          </a:solidFill>
          <a:ln w="9525">
            <a:solidFill>
              <a:srgbClr val="34507A"/>
            </a:solidFill>
          </a:ln>
        </p:spPr>
        <p:txBody>
          <a:bodyPr rtlCol="0" anchor="ctr" wrap="square" lIns="0" tIns="0" rIns="0" bIns="0">
            <a:noAutofit/>
          </a:bodyPr>
          <a:lstStyle/>
          <a:p>
            <a:pPr algn="ctr"/>
            <a:r>
              <a:rPr sz="900" b="1" i="0">
                <a:solidFill>
                  <a:srgbClr val="34507A"/>
                </a:solidFill>
                <a:latin typeface="Times New Roman"/>
              </a:rPr>
              <a:t>α = 0.45</a:t>
            </a:r>
          </a:p>
        </p:txBody>
      </p:sp>
      <p:sp>
        <p:nvSpPr>
          <p:cNvPr id="13" name="Rounded Rectangle 12"/>
          <p:cNvSpPr/>
          <p:nvPr/>
        </p:nvSpPr>
        <p:spPr>
          <a:xfrm>
            <a:off x="228600" y="3447288"/>
            <a:ext cx="3429000" cy="667512"/>
          </a:xfrm>
          <a:prstGeom prst="roundRect">
            <a:avLst>
              <a:gd name="adj" fmla="val 10000"/>
            </a:avLst>
          </a:prstGeom>
          <a:solidFill>
            <a:srgbClr val="E1F0DC"/>
          </a:solidFill>
          <a:ln w="12700">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4" name="TextBox 13"/>
          <p:cNvSpPr txBox="1"/>
          <p:nvPr/>
        </p:nvSpPr>
        <p:spPr>
          <a:xfrm>
            <a:off x="274320" y="3447288"/>
            <a:ext cx="457200" cy="667512"/>
          </a:xfrm>
          <a:prstGeom prst="rect">
            <a:avLst/>
          </a:prstGeom>
          <a:noFill/>
        </p:spPr>
        <p:txBody>
          <a:bodyPr wrap="square" lIns="45720" tIns="27432" rIns="45720" bIns="27432" anchor="ctr">
            <a:noAutofit/>
          </a:bodyPr>
          <a:lstStyle/>
          <a:p>
            <a:pPr algn="ctr"/>
            <a:r>
              <a:rPr sz="2600" b="1" i="1">
                <a:solidFill>
                  <a:srgbClr val="3F7A3C"/>
                </a:solidFill>
                <a:latin typeface="Times New Roman"/>
              </a:rPr>
              <a:t>R</a:t>
            </a:r>
          </a:p>
        </p:txBody>
      </p:sp>
      <p:sp>
        <p:nvSpPr>
          <p:cNvPr id="15" name="TextBox 14"/>
          <p:cNvSpPr txBox="1"/>
          <p:nvPr/>
        </p:nvSpPr>
        <p:spPr>
          <a:xfrm>
            <a:off x="749808" y="3456432"/>
            <a:ext cx="2286000" cy="649224"/>
          </a:xfrm>
          <a:prstGeom prst="rect">
            <a:avLst/>
          </a:prstGeom>
          <a:noFill/>
        </p:spPr>
        <p:txBody>
          <a:bodyPr wrap="square" lIns="45720" tIns="27432" rIns="45720" bIns="27432" anchor="ctr">
            <a:noAutofit/>
          </a:bodyPr>
          <a:lstStyle/>
          <a:p>
            <a:pPr algn="l"/>
            <a:r>
              <a:rPr sz="1200" b="1" i="0">
                <a:solidFill>
                  <a:srgbClr val="3F7A3C"/>
                </a:solidFill>
                <a:latin typeface="Times New Roman"/>
              </a:rPr>
              <a:t>Rule consistency</a:t>
            </a:r>
          </a:p>
          <a:p>
            <a:pPr algn="l"/>
            <a:r>
              <a:rPr sz="950" b="0" i="0">
                <a:solidFill>
                  <a:srgbClr val="1F1F1F"/>
                </a:solidFill>
                <a:latin typeface="Times New Roman"/>
              </a:rPr>
              <a:t>1 if rules agree; 0 if an elevating or suppressing rule contradicts the prediction</a:t>
            </a:r>
          </a:p>
        </p:txBody>
      </p:sp>
      <p:sp>
        <p:nvSpPr>
          <p:cNvPr id="16" name="Rounded Rectangle 15"/>
          <p:cNvSpPr/>
          <p:nvPr/>
        </p:nvSpPr>
        <p:spPr>
          <a:xfrm>
            <a:off x="3044952" y="3643884"/>
            <a:ext cx="548640" cy="274320"/>
          </a:xfrm>
          <a:prstGeom prst="roundRect">
            <a:avLst>
              <a:gd name="adj" fmla="val 50000"/>
            </a:avLst>
          </a:prstGeom>
          <a:solidFill>
            <a:srgbClr val="FFFFFF"/>
          </a:solidFill>
          <a:ln w="9525">
            <a:solidFill>
              <a:srgbClr val="3F7A3C"/>
            </a:solidFill>
          </a:ln>
        </p:spPr>
        <p:txBody>
          <a:bodyPr rtlCol="0" anchor="ctr" wrap="square" lIns="0" tIns="0" rIns="0" bIns="0">
            <a:noAutofit/>
          </a:bodyPr>
          <a:lstStyle/>
          <a:p>
            <a:pPr algn="ctr"/>
            <a:r>
              <a:rPr sz="900" b="1" i="0">
                <a:solidFill>
                  <a:srgbClr val="3F7A3C"/>
                </a:solidFill>
                <a:latin typeface="Times New Roman"/>
              </a:rPr>
              <a:t>β = 0.25</a:t>
            </a:r>
          </a:p>
        </p:txBody>
      </p:sp>
      <p:sp>
        <p:nvSpPr>
          <p:cNvPr id="17" name="Rounded Rectangle 16"/>
          <p:cNvSpPr/>
          <p:nvPr/>
        </p:nvSpPr>
        <p:spPr>
          <a:xfrm>
            <a:off x="228600" y="4178808"/>
            <a:ext cx="3429000" cy="667512"/>
          </a:xfrm>
          <a:prstGeom prst="roundRect">
            <a:avLst>
              <a:gd name="adj" fmla="val 10000"/>
            </a:avLst>
          </a:prstGeom>
          <a:solidFill>
            <a:srgbClr val="F7DCDC"/>
          </a:solidFill>
          <a:ln w="12700">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8" name="TextBox 17"/>
          <p:cNvSpPr txBox="1"/>
          <p:nvPr/>
        </p:nvSpPr>
        <p:spPr>
          <a:xfrm>
            <a:off x="274320" y="4178808"/>
            <a:ext cx="457200" cy="667512"/>
          </a:xfrm>
          <a:prstGeom prst="rect">
            <a:avLst/>
          </a:prstGeom>
          <a:noFill/>
        </p:spPr>
        <p:txBody>
          <a:bodyPr wrap="square" lIns="45720" tIns="27432" rIns="45720" bIns="27432" anchor="ctr">
            <a:noAutofit/>
          </a:bodyPr>
          <a:lstStyle/>
          <a:p>
            <a:pPr algn="ctr"/>
            <a:r>
              <a:rPr sz="2600" b="1" i="1">
                <a:solidFill>
                  <a:srgbClr val="B04848"/>
                </a:solidFill>
                <a:latin typeface="Times New Roman"/>
              </a:rPr>
              <a:t>K</a:t>
            </a:r>
          </a:p>
        </p:txBody>
      </p:sp>
      <p:sp>
        <p:nvSpPr>
          <p:cNvPr id="19" name="TextBox 18"/>
          <p:cNvSpPr txBox="1"/>
          <p:nvPr/>
        </p:nvSpPr>
        <p:spPr>
          <a:xfrm>
            <a:off x="749808" y="4187952"/>
            <a:ext cx="2286000" cy="649224"/>
          </a:xfrm>
          <a:prstGeom prst="rect">
            <a:avLst/>
          </a:prstGeom>
          <a:noFill/>
        </p:spPr>
        <p:txBody>
          <a:bodyPr wrap="square" lIns="45720" tIns="27432" rIns="45720" bIns="27432" anchor="ctr">
            <a:noAutofit/>
          </a:bodyPr>
          <a:lstStyle/>
          <a:p>
            <a:pPr algn="l"/>
            <a:r>
              <a:rPr sz="1200" b="1" i="0">
                <a:solidFill>
                  <a:srgbClr val="B04848"/>
                </a:solidFill>
                <a:latin typeface="Times New Roman"/>
              </a:rPr>
              <a:t>Retrieval support</a:t>
            </a:r>
          </a:p>
          <a:p>
            <a:pPr algn="l"/>
            <a:r>
              <a:rPr sz="950" b="0" i="0">
                <a:solidFill>
                  <a:srgbClr val="1F1F1F"/>
                </a:solidFill>
                <a:latin typeface="Times New Roman"/>
              </a:rPr>
              <a:t>Mean similarity of retrieved passages; 0 when nothing relevant is found</a:t>
            </a:r>
          </a:p>
        </p:txBody>
      </p:sp>
      <p:sp>
        <p:nvSpPr>
          <p:cNvPr id="20" name="Rounded Rectangle 19"/>
          <p:cNvSpPr/>
          <p:nvPr/>
        </p:nvSpPr>
        <p:spPr>
          <a:xfrm>
            <a:off x="3044952" y="4375404"/>
            <a:ext cx="548640" cy="274320"/>
          </a:xfrm>
          <a:prstGeom prst="roundRect">
            <a:avLst>
              <a:gd name="adj" fmla="val 50000"/>
            </a:avLst>
          </a:prstGeom>
          <a:solidFill>
            <a:srgbClr val="FFFFFF"/>
          </a:solidFill>
          <a:ln w="9525">
            <a:solidFill>
              <a:srgbClr val="B04848"/>
            </a:solidFill>
          </a:ln>
        </p:spPr>
        <p:txBody>
          <a:bodyPr rtlCol="0" anchor="ctr" wrap="square" lIns="0" tIns="0" rIns="0" bIns="0">
            <a:noAutofit/>
          </a:bodyPr>
          <a:lstStyle/>
          <a:p>
            <a:pPr algn="ctr"/>
            <a:r>
              <a:rPr sz="900" b="1" i="0">
                <a:solidFill>
                  <a:srgbClr val="B04848"/>
                </a:solidFill>
                <a:latin typeface="Times New Roman"/>
              </a:rPr>
              <a:t>γ = 0.20</a:t>
            </a:r>
          </a:p>
        </p:txBody>
      </p:sp>
      <p:sp>
        <p:nvSpPr>
          <p:cNvPr id="21" name="Rounded Rectangle 20"/>
          <p:cNvSpPr/>
          <p:nvPr/>
        </p:nvSpPr>
        <p:spPr>
          <a:xfrm>
            <a:off x="228600" y="4910328"/>
            <a:ext cx="3429000" cy="667512"/>
          </a:xfrm>
          <a:prstGeom prst="roundRect">
            <a:avLst>
              <a:gd name="adj" fmla="val 10000"/>
            </a:avLst>
          </a:prstGeom>
          <a:solidFill>
            <a:srgbClr val="F2F2F2"/>
          </a:solidFill>
          <a:ln w="12700">
            <a:solidFill>
              <a:srgbClr val="40404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2" name="TextBox 21"/>
          <p:cNvSpPr txBox="1"/>
          <p:nvPr/>
        </p:nvSpPr>
        <p:spPr>
          <a:xfrm>
            <a:off x="274320" y="4910328"/>
            <a:ext cx="457200" cy="667512"/>
          </a:xfrm>
          <a:prstGeom prst="rect">
            <a:avLst/>
          </a:prstGeom>
          <a:noFill/>
        </p:spPr>
        <p:txBody>
          <a:bodyPr wrap="square" lIns="45720" tIns="27432" rIns="45720" bIns="27432" anchor="ctr">
            <a:noAutofit/>
          </a:bodyPr>
          <a:lstStyle/>
          <a:p>
            <a:pPr algn="ctr"/>
            <a:r>
              <a:rPr sz="2600" b="1" i="1">
                <a:solidFill>
                  <a:srgbClr val="404040"/>
                </a:solidFill>
                <a:latin typeface="Times New Roman"/>
              </a:rPr>
              <a:t>D</a:t>
            </a:r>
          </a:p>
        </p:txBody>
      </p:sp>
      <p:sp>
        <p:nvSpPr>
          <p:cNvPr id="23" name="TextBox 22"/>
          <p:cNvSpPr txBox="1"/>
          <p:nvPr/>
        </p:nvSpPr>
        <p:spPr>
          <a:xfrm>
            <a:off x="749808" y="4919472"/>
            <a:ext cx="2286000" cy="649224"/>
          </a:xfrm>
          <a:prstGeom prst="rect">
            <a:avLst/>
          </a:prstGeom>
          <a:noFill/>
        </p:spPr>
        <p:txBody>
          <a:bodyPr wrap="square" lIns="45720" tIns="27432" rIns="45720" bIns="27432" anchor="ctr">
            <a:noAutofit/>
          </a:bodyPr>
          <a:lstStyle/>
          <a:p>
            <a:pPr algn="l"/>
            <a:r>
              <a:rPr sz="1200" b="1" i="0">
                <a:solidFill>
                  <a:srgbClr val="404040"/>
                </a:solidFill>
                <a:latin typeface="Times New Roman"/>
              </a:rPr>
              <a:t>Disagreement</a:t>
            </a:r>
          </a:p>
          <a:p>
            <a:pPr algn="l"/>
            <a:r>
              <a:rPr sz="950" b="0" i="0">
                <a:solidFill>
                  <a:srgbClr val="1F1F1F"/>
                </a:solidFill>
                <a:latin typeface="Times New Roman"/>
              </a:rPr>
              <a:t>Conflicts reported by the Context Agent ÷ 3, capped at 1</a:t>
            </a:r>
          </a:p>
        </p:txBody>
      </p:sp>
      <p:sp>
        <p:nvSpPr>
          <p:cNvPr id="24" name="Rounded Rectangle 23"/>
          <p:cNvSpPr/>
          <p:nvPr/>
        </p:nvSpPr>
        <p:spPr>
          <a:xfrm>
            <a:off x="3044952" y="5106924"/>
            <a:ext cx="548640" cy="274320"/>
          </a:xfrm>
          <a:prstGeom prst="roundRect">
            <a:avLst>
              <a:gd name="adj" fmla="val 50000"/>
            </a:avLst>
          </a:prstGeom>
          <a:solidFill>
            <a:srgbClr val="8B0000"/>
          </a:solidFill>
          <a:ln w="9525">
            <a:solidFill>
              <a:srgbClr val="8B0000"/>
            </a:solidFill>
          </a:ln>
        </p:spPr>
        <p:txBody>
          <a:bodyPr rtlCol="0" anchor="ctr" wrap="square" lIns="0" tIns="0" rIns="0" bIns="0">
            <a:noAutofit/>
          </a:bodyPr>
          <a:lstStyle/>
          <a:p>
            <a:pPr algn="ctr"/>
            <a:r>
              <a:rPr sz="900" b="1" i="0">
                <a:solidFill>
                  <a:srgbClr val="FFFFFF"/>
                </a:solidFill>
                <a:latin typeface="Times New Roman"/>
              </a:rPr>
              <a:t>λ = 0.10</a:t>
            </a:r>
          </a:p>
        </p:txBody>
      </p:sp>
      <p:cxnSp>
        <p:nvCxnSpPr>
          <p:cNvPr id="25" name="Connector 24"/>
          <p:cNvCxnSpPr/>
          <p:nvPr/>
        </p:nvCxnSpPr>
        <p:spPr>
          <a:xfrm>
            <a:off x="3657600" y="3049524"/>
            <a:ext cx="164591" cy="0"/>
          </a:xfrm>
          <a:prstGeom prst="line">
            <a:avLst/>
          </a:prstGeom>
          <a:ln w="15875">
            <a:solidFill>
              <a:srgbClr val="404040"/>
            </a:solidFill>
          </a:ln>
        </p:spPr>
      </p:cxnSp>
      <p:cxnSp>
        <p:nvCxnSpPr>
          <p:cNvPr id="26" name="Connector 25"/>
          <p:cNvCxnSpPr/>
          <p:nvPr/>
        </p:nvCxnSpPr>
        <p:spPr>
          <a:xfrm>
            <a:off x="3657600" y="3781044"/>
            <a:ext cx="164591" cy="0"/>
          </a:xfrm>
          <a:prstGeom prst="line">
            <a:avLst/>
          </a:prstGeom>
          <a:ln w="15875">
            <a:solidFill>
              <a:srgbClr val="404040"/>
            </a:solidFill>
          </a:ln>
        </p:spPr>
      </p:cxnSp>
      <p:cxnSp>
        <p:nvCxnSpPr>
          <p:cNvPr id="27" name="Connector 26"/>
          <p:cNvCxnSpPr/>
          <p:nvPr/>
        </p:nvCxnSpPr>
        <p:spPr>
          <a:xfrm>
            <a:off x="3657600" y="4512564"/>
            <a:ext cx="164591" cy="0"/>
          </a:xfrm>
          <a:prstGeom prst="line">
            <a:avLst/>
          </a:prstGeom>
          <a:ln w="15875">
            <a:solidFill>
              <a:srgbClr val="404040"/>
            </a:solidFill>
          </a:ln>
        </p:spPr>
      </p:cxnSp>
      <p:cxnSp>
        <p:nvCxnSpPr>
          <p:cNvPr id="28" name="Connector 27"/>
          <p:cNvCxnSpPr/>
          <p:nvPr/>
        </p:nvCxnSpPr>
        <p:spPr>
          <a:xfrm>
            <a:off x="3657600" y="5244084"/>
            <a:ext cx="164591" cy="0"/>
          </a:xfrm>
          <a:prstGeom prst="line">
            <a:avLst/>
          </a:prstGeom>
          <a:ln w="15875">
            <a:solidFill>
              <a:srgbClr val="404040"/>
            </a:solidFill>
          </a:ln>
        </p:spPr>
      </p:cxnSp>
      <p:cxnSp>
        <p:nvCxnSpPr>
          <p:cNvPr id="29" name="Connector 28"/>
          <p:cNvCxnSpPr/>
          <p:nvPr/>
        </p:nvCxnSpPr>
        <p:spPr>
          <a:xfrm>
            <a:off x="3822191" y="3049524"/>
            <a:ext cx="0" cy="2194560"/>
          </a:xfrm>
          <a:prstGeom prst="line">
            <a:avLst/>
          </a:prstGeom>
          <a:ln w="15875">
            <a:solidFill>
              <a:srgbClr val="404040"/>
            </a:solidFill>
          </a:ln>
        </p:spPr>
      </p:cxnSp>
      <p:cxnSp>
        <p:nvCxnSpPr>
          <p:cNvPr id="30" name="Connector 29"/>
          <p:cNvCxnSpPr/>
          <p:nvPr/>
        </p:nvCxnSpPr>
        <p:spPr>
          <a:xfrm>
            <a:off x="3822191" y="4146804"/>
            <a:ext cx="201169" cy="0"/>
          </a:xfrm>
          <a:prstGeom prst="line">
            <a:avLst/>
          </a:prstGeom>
          <a:ln w="19050">
            <a:solidFill>
              <a:srgbClr val="404040"/>
            </a:solidFill>
            <a:tailEnd type="triangle" w="med" len="med"/>
          </a:ln>
        </p:spPr>
      </p:cxnSp>
      <p:sp>
        <p:nvSpPr>
          <p:cNvPr id="31" name="Rounded Rectangle 30"/>
          <p:cNvSpPr/>
          <p:nvPr/>
        </p:nvSpPr>
        <p:spPr>
          <a:xfrm>
            <a:off x="4041648" y="3525012"/>
            <a:ext cx="1417320" cy="1243584"/>
          </a:xfrm>
          <a:prstGeom prst="roundRect">
            <a:avLst>
              <a:gd name="adj" fmla="val 10000"/>
            </a:avLst>
          </a:prstGeom>
          <a:solidFill>
            <a:srgbClr val="E5DEF6"/>
          </a:solidFill>
          <a:ln w="15875">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2" name="Picture 31" descr=""/>
          <p:cNvPicPr>
            <a:picLocks noChangeAspect="1"/>
          </p:cNvPicPr>
          <p:nvPr/>
        </p:nvPicPr>
        <p:blipFill>
          <a:blip r:embed="rId2"/>
          <a:stretch>
            <a:fillRect/>
          </a:stretch>
        </p:blipFill>
        <p:spPr>
          <a:xfrm>
            <a:off x="4572000" y="3598164"/>
            <a:ext cx="365760" cy="365760"/>
          </a:xfrm>
          <a:prstGeom prst="rect">
            <a:avLst/>
          </a:prstGeom>
        </p:spPr>
      </p:pic>
      <p:sp>
        <p:nvSpPr>
          <p:cNvPr id="33" name="TextBox 32"/>
          <p:cNvSpPr txBox="1"/>
          <p:nvPr/>
        </p:nvSpPr>
        <p:spPr>
          <a:xfrm>
            <a:off x="4069080" y="3982212"/>
            <a:ext cx="1371600" cy="731520"/>
          </a:xfrm>
          <a:prstGeom prst="rect">
            <a:avLst/>
          </a:prstGeom>
          <a:noFill/>
        </p:spPr>
        <p:txBody>
          <a:bodyPr wrap="square" lIns="45720" tIns="27432" rIns="45720" bIns="27432" anchor="t">
            <a:noAutofit/>
          </a:bodyPr>
          <a:lstStyle/>
          <a:p>
            <a:pPr algn="ctr"/>
            <a:r>
              <a:rPr sz="1200" b="1" i="0">
                <a:solidFill>
                  <a:srgbClr val="4E4775"/>
                </a:solidFill>
                <a:latin typeface="Times New Roman"/>
              </a:rPr>
              <a:t>Decision Fusion Engine</a:t>
            </a:r>
          </a:p>
          <a:p>
            <a:pPr algn="ctr"/>
            <a:r>
              <a:rPr sz="1000" b="0" i="1">
                <a:solidFill>
                  <a:srgbClr val="1F1F1F"/>
                </a:solidFill>
                <a:latin typeface="Times New Roman"/>
              </a:rPr>
              <a:t>computes C</a:t>
            </a:r>
          </a:p>
        </p:txBody>
      </p:sp>
      <p:sp>
        <p:nvSpPr>
          <p:cNvPr id="34" name="Rounded Rectangle 33"/>
          <p:cNvSpPr/>
          <p:nvPr/>
        </p:nvSpPr>
        <p:spPr>
          <a:xfrm>
            <a:off x="3886200" y="2651760"/>
            <a:ext cx="1737360" cy="749808"/>
          </a:xfrm>
          <a:prstGeom prst="roundRect">
            <a:avLst>
              <a:gd name="adj" fmla="val 8000"/>
            </a:avLst>
          </a:prstGeom>
          <a:solidFill>
            <a:srgbClr val="E1F0DC"/>
          </a:solidFill>
          <a:ln w="12700">
            <a:solidFill>
              <a:srgbClr val="3F7A3C"/>
            </a:solidFill>
            <a:prstDash val="dash"/>
          </a:ln>
        </p:spPr>
        <p:txBody>
          <a:bodyPr rtlCol="0" anchor="ctr" wrap="square" lIns="54864" tIns="27432" rIns="54864" bIns="27432">
            <a:noAutofit/>
          </a:bodyPr>
          <a:lstStyle/>
          <a:p>
            <a:pPr algn="ctr"/>
            <a:r>
              <a:rPr sz="950" b="1" i="0">
                <a:solidFill>
                  <a:srgbClr val="3F7A3C"/>
                </a:solidFill>
                <a:latin typeface="Times New Roman"/>
              </a:rPr>
              <a:t>Rule precedence: </a:t>
            </a:r>
            <a:r>
              <a:rPr sz="950" b="0" i="0">
                <a:solidFill>
                  <a:srgbClr val="1F1F1F"/>
                </a:solidFill>
                <a:latin typeface="Times New Roman"/>
              </a:rPr>
              <a:t>a triggered clinical rule always takes precedence over the learned ML prediction</a:t>
            </a:r>
          </a:p>
        </p:txBody>
      </p:sp>
      <p:cxnSp>
        <p:nvCxnSpPr>
          <p:cNvPr id="35" name="Connector 34"/>
          <p:cNvCxnSpPr/>
          <p:nvPr/>
        </p:nvCxnSpPr>
        <p:spPr>
          <a:xfrm>
            <a:off x="4754880" y="3401567"/>
            <a:ext cx="0" cy="123445"/>
          </a:xfrm>
          <a:prstGeom prst="line">
            <a:avLst/>
          </a:prstGeom>
          <a:ln w="12700">
            <a:solidFill>
              <a:srgbClr val="3F7A3C"/>
            </a:solidFill>
            <a:prstDash val="dash"/>
            <a:tailEnd type="triangle" w="med" len="med"/>
          </a:ln>
        </p:spPr>
      </p:cxnSp>
      <p:cxnSp>
        <p:nvCxnSpPr>
          <p:cNvPr id="36" name="Connector 35"/>
          <p:cNvCxnSpPr/>
          <p:nvPr/>
        </p:nvCxnSpPr>
        <p:spPr>
          <a:xfrm>
            <a:off x="5458968" y="4146804"/>
            <a:ext cx="228600" cy="0"/>
          </a:xfrm>
          <a:prstGeom prst="line">
            <a:avLst/>
          </a:prstGeom>
          <a:ln w="19050">
            <a:solidFill>
              <a:srgbClr val="404040"/>
            </a:solidFill>
            <a:tailEnd type="triangle" w="med" len="med"/>
          </a:ln>
        </p:spPr>
      </p:cxnSp>
      <p:sp>
        <p:nvSpPr>
          <p:cNvPr id="37" name="Diamond 36"/>
          <p:cNvSpPr/>
          <p:nvPr/>
        </p:nvSpPr>
        <p:spPr>
          <a:xfrm>
            <a:off x="5705856" y="3488436"/>
            <a:ext cx="1426464" cy="1316736"/>
          </a:xfrm>
          <a:prstGeom prst="diamond">
            <a:avLst/>
          </a:prstGeom>
          <a:solidFill>
            <a:srgbClr val="FFFFFF"/>
          </a:solidFill>
          <a:ln w="22225">
            <a:solidFill>
              <a:srgbClr val="8B0000"/>
            </a:solidFill>
          </a:ln>
        </p:spPr>
        <p:txBody>
          <a:bodyPr rtlCol="0" anchor="ctr" wrap="square" lIns="0" tIns="0" rIns="0" bIns="0">
            <a:noAutofit/>
          </a:bodyPr>
          <a:lstStyle/>
          <a:p>
            <a:pPr algn="ctr"/>
            <a:r>
              <a:rPr sz="1150" b="1" i="0">
                <a:solidFill>
                  <a:srgbClr val="8B0000"/>
                </a:solidFill>
                <a:latin typeface="Times New Roman"/>
              </a:rPr>
              <a:t>C ≥ threshold?</a:t>
            </a:r>
          </a:p>
        </p:txBody>
      </p:sp>
      <p:sp>
        <p:nvSpPr>
          <p:cNvPr id="38" name="Freeform 37"/>
          <p:cNvSpPr/>
          <p:nvPr/>
        </p:nvSpPr>
        <p:spPr>
          <a:xfrm>
            <a:off x="6419088" y="3081528"/>
            <a:ext cx="896112" cy="406908"/>
          </a:xfrm>
          <a:custGeom>
            <a:avLst/>
            <a:gdLst/>
            <a:ahLst/>
            <a:cxnLst/>
            <a:rect l="l" t="t" r="r" b="b"/>
            <a:pathLst>
              <a:path w="896112" h="406908">
                <a:moveTo>
                  <a:pt x="0" y="406908"/>
                </a:moveTo>
                <a:lnTo>
                  <a:pt x="0" y="0"/>
                </a:lnTo>
                <a:lnTo>
                  <a:pt x="896112" y="0"/>
                </a:lnTo>
              </a:path>
            </a:pathLst>
          </a:custGeom>
          <a:noFill/>
          <a:ln w="22225">
            <a:solidFill>
              <a:srgbClr val="3F7A3C"/>
            </a:solidFill>
            <a:tailEnd type="triangle" w="med" len="med"/>
          </a:ln>
        </p:spPr>
        <p:txBody>
          <a:bodyPr rtlCol="0" anchor="ctr"/>
          <a:lstStyle/>
          <a:p>
            <a:pPr algn="ctr"/>
          </a:p>
        </p:txBody>
      </p:sp>
      <p:sp>
        <p:nvSpPr>
          <p:cNvPr id="39" name="TextBox 38"/>
          <p:cNvSpPr txBox="1"/>
          <p:nvPr/>
        </p:nvSpPr>
        <p:spPr>
          <a:xfrm>
            <a:off x="6464808" y="3108960"/>
            <a:ext cx="548640" cy="256032"/>
          </a:xfrm>
          <a:prstGeom prst="rect">
            <a:avLst/>
          </a:prstGeom>
          <a:noFill/>
        </p:spPr>
        <p:txBody>
          <a:bodyPr wrap="square" lIns="45720" tIns="27432" rIns="45720" bIns="27432" anchor="ctr">
            <a:noAutofit/>
          </a:bodyPr>
          <a:lstStyle/>
          <a:p>
            <a:pPr algn="l"/>
            <a:r>
              <a:rPr sz="1100" b="1" i="0">
                <a:solidFill>
                  <a:srgbClr val="3F7A3C"/>
                </a:solidFill>
                <a:latin typeface="Times New Roman"/>
              </a:rPr>
              <a:t>Yes</a:t>
            </a:r>
          </a:p>
        </p:txBody>
      </p:sp>
      <p:sp>
        <p:nvSpPr>
          <p:cNvPr id="40" name="Rounded Rectangle 39"/>
          <p:cNvSpPr/>
          <p:nvPr/>
        </p:nvSpPr>
        <p:spPr>
          <a:xfrm>
            <a:off x="7333488" y="2651760"/>
            <a:ext cx="1581912" cy="859536"/>
          </a:xfrm>
          <a:prstGeom prst="roundRect">
            <a:avLst>
              <a:gd name="adj" fmla="val 10000"/>
            </a:avLst>
          </a:prstGeom>
          <a:solidFill>
            <a:srgbClr val="E1F0DC"/>
          </a:solidFill>
          <a:ln w="15875">
            <a:solidFill>
              <a:srgbClr val="3F7A3C"/>
            </a:solidFill>
          </a:ln>
        </p:spPr>
        <p:txBody>
          <a:bodyPr rtlCol="0" anchor="ctr" wrap="square" lIns="54864" tIns="27432" rIns="54864" bIns="27432">
            <a:noAutofit/>
          </a:bodyPr>
          <a:lstStyle/>
          <a:p>
            <a:pPr algn="ctr"/>
            <a:r>
              <a:rPr sz="1100" b="1" i="0">
                <a:solidFill>
                  <a:srgbClr val="3F7A3C"/>
                </a:solidFill>
                <a:latin typeface="Times New Roman"/>
              </a:rPr>
              <a:t>Decision reported with its confidence C</a:t>
            </a:r>
          </a:p>
        </p:txBody>
      </p:sp>
      <p:sp>
        <p:nvSpPr>
          <p:cNvPr id="41" name="Freeform 40"/>
          <p:cNvSpPr/>
          <p:nvPr/>
        </p:nvSpPr>
        <p:spPr>
          <a:xfrm>
            <a:off x="6419088" y="4805172"/>
            <a:ext cx="896112" cy="342900"/>
          </a:xfrm>
          <a:custGeom>
            <a:avLst/>
            <a:gdLst/>
            <a:ahLst/>
            <a:cxnLst/>
            <a:rect l="l" t="t" r="r" b="b"/>
            <a:pathLst>
              <a:path w="896112" h="342900">
                <a:moveTo>
                  <a:pt x="0" y="0"/>
                </a:moveTo>
                <a:lnTo>
                  <a:pt x="0" y="342900"/>
                </a:lnTo>
                <a:lnTo>
                  <a:pt x="896112" y="342900"/>
                </a:lnTo>
              </a:path>
            </a:pathLst>
          </a:custGeom>
          <a:noFill/>
          <a:ln w="22225">
            <a:solidFill>
              <a:srgbClr val="8B0000"/>
            </a:solidFill>
            <a:tailEnd type="triangle" w="med" len="med"/>
          </a:ln>
        </p:spPr>
        <p:txBody>
          <a:bodyPr rtlCol="0" anchor="ctr"/>
          <a:lstStyle/>
          <a:p>
            <a:pPr algn="ctr"/>
          </a:p>
        </p:txBody>
      </p:sp>
      <p:sp>
        <p:nvSpPr>
          <p:cNvPr id="42" name="TextBox 41"/>
          <p:cNvSpPr txBox="1"/>
          <p:nvPr/>
        </p:nvSpPr>
        <p:spPr>
          <a:xfrm>
            <a:off x="6464808" y="4846320"/>
            <a:ext cx="548640" cy="256032"/>
          </a:xfrm>
          <a:prstGeom prst="rect">
            <a:avLst/>
          </a:prstGeom>
          <a:noFill/>
        </p:spPr>
        <p:txBody>
          <a:bodyPr wrap="square" lIns="45720" tIns="27432" rIns="45720" bIns="27432" anchor="ctr">
            <a:noAutofit/>
          </a:bodyPr>
          <a:lstStyle/>
          <a:p>
            <a:pPr algn="l"/>
            <a:r>
              <a:rPr sz="1100" b="1" i="0">
                <a:solidFill>
                  <a:srgbClr val="8B0000"/>
                </a:solidFill>
                <a:latin typeface="Times New Roman"/>
              </a:rPr>
              <a:t>No</a:t>
            </a:r>
          </a:p>
        </p:txBody>
      </p:sp>
      <p:sp>
        <p:nvSpPr>
          <p:cNvPr id="43" name="Rounded Rectangle 42"/>
          <p:cNvSpPr/>
          <p:nvPr/>
        </p:nvSpPr>
        <p:spPr>
          <a:xfrm>
            <a:off x="7333488" y="4718304"/>
            <a:ext cx="1581912" cy="859536"/>
          </a:xfrm>
          <a:prstGeom prst="roundRect">
            <a:avLst>
              <a:gd name="adj" fmla="val 10000"/>
            </a:avLst>
          </a:prstGeom>
          <a:solidFill>
            <a:srgbClr val="FBECEC"/>
          </a:solidFill>
          <a:ln w="15875">
            <a:solidFill>
              <a:srgbClr val="8B0000"/>
            </a:solidFill>
          </a:ln>
        </p:spPr>
        <p:txBody>
          <a:bodyPr rtlCol="0" anchor="ctr" wrap="square" lIns="54864" tIns="27432" rIns="54864" bIns="27432">
            <a:noAutofit/>
          </a:bodyPr>
          <a:lstStyle/>
          <a:p>
            <a:pPr algn="ctr"/>
            <a:r>
              <a:rPr sz="1100" b="1" i="0">
                <a:solidFill>
                  <a:srgbClr val="8B0000"/>
                </a:solidFill>
                <a:latin typeface="Times New Roman"/>
              </a:rPr>
              <a:t>Reported as uncertain and flagged for the clinician</a:t>
            </a:r>
          </a:p>
        </p:txBody>
      </p:sp>
      <p:pic>
        <p:nvPicPr>
          <p:cNvPr id="44" name="Picture 43" descr=""/>
          <p:cNvPicPr>
            <a:picLocks noChangeAspect="1"/>
          </p:cNvPicPr>
          <p:nvPr/>
        </p:nvPicPr>
        <p:blipFill>
          <a:blip r:embed="rId3"/>
          <a:stretch>
            <a:fillRect/>
          </a:stretch>
        </p:blipFill>
        <p:spPr>
          <a:xfrm>
            <a:off x="7991856" y="3703319"/>
            <a:ext cx="274320" cy="274320"/>
          </a:xfrm>
          <a:prstGeom prst="rect">
            <a:avLst/>
          </a:prstGeom>
        </p:spPr>
      </p:pic>
      <p:sp>
        <p:nvSpPr>
          <p:cNvPr id="45" name="TextBox 44"/>
          <p:cNvSpPr txBox="1"/>
          <p:nvPr/>
        </p:nvSpPr>
        <p:spPr>
          <a:xfrm>
            <a:off x="7223760" y="4005072"/>
            <a:ext cx="1783080" cy="548640"/>
          </a:xfrm>
          <a:prstGeom prst="rect">
            <a:avLst/>
          </a:prstGeom>
          <a:noFill/>
        </p:spPr>
        <p:txBody>
          <a:bodyPr wrap="square" lIns="45720" tIns="27432" rIns="45720" bIns="27432" anchor="t">
            <a:noAutofit/>
          </a:bodyPr>
          <a:lstStyle/>
          <a:p>
            <a:pPr algn="ctr"/>
            <a:r>
              <a:rPr sz="950" b="0" i="1">
                <a:solidFill>
                  <a:srgbClr val="595959"/>
                </a:solidFill>
                <a:latin typeface="Times New Roman"/>
              </a:rPr>
              <a:t>Either way, the clinician reviews the report</a:t>
            </a:r>
          </a:p>
        </p:txBody>
      </p:sp>
      <p:sp>
        <p:nvSpPr>
          <p:cNvPr id="46" name="TextBox 45"/>
          <p:cNvSpPr txBox="1"/>
          <p:nvPr/>
        </p:nvSpPr>
        <p:spPr>
          <a:xfrm>
            <a:off x="228600" y="5650992"/>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1.6: </a:t>
            </a:r>
            <a:r>
              <a:rPr sz="1100" b="0" i="1">
                <a:solidFill>
                  <a:srgbClr val="595959"/>
                </a:solidFill>
                <a:latin typeface="Times New Roman"/>
              </a:rPr>
              <a:t>Decision fusion: four evidence terms, rule precedence and the confidence threshold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10. Mathematical Model: Research Gap Matrix</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737360"/>
            <a:ext cx="8686800" cy="512064"/>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 name="TextBox 7"/>
          <p:cNvSpPr txBox="1"/>
          <p:nvPr/>
        </p:nvSpPr>
        <p:spPr>
          <a:xfrm>
            <a:off x="365760" y="1737360"/>
            <a:ext cx="5394960" cy="512064"/>
          </a:xfrm>
          <a:prstGeom prst="rect">
            <a:avLst/>
          </a:prstGeom>
          <a:noFill/>
        </p:spPr>
        <p:txBody>
          <a:bodyPr wrap="square" lIns="45720" tIns="27432" rIns="45720" bIns="27432" anchor="ctr">
            <a:noAutofit/>
          </a:bodyPr>
          <a:lstStyle/>
          <a:p>
            <a:pPr algn="l"/>
            <a:r>
              <a:rPr sz="1400" b="1" i="1">
                <a:solidFill>
                  <a:srgbClr val="8B0000"/>
                </a:solidFill>
                <a:latin typeface="Times New Roman"/>
              </a:rPr>
              <a:t>Gap(S) = U \ E(S)</a:t>
            </a:r>
            <a:r>
              <a:rPr sz="1100" b="0" i="1">
                <a:solidFill>
                  <a:srgbClr val="404040"/>
                </a:solidFill>
                <a:latin typeface="Times New Roman"/>
              </a:rPr>
              <a:t>    where U = {M, R, K, D, C, A} and E(S) is what system S provides</a:t>
            </a:r>
          </a:p>
        </p:txBody>
      </p:sp>
      <p:pic>
        <p:nvPicPr>
          <p:cNvPr id="9" name="Picture 8" descr=""/>
          <p:cNvPicPr>
            <a:picLocks noChangeAspect="1"/>
          </p:cNvPicPr>
          <p:nvPr/>
        </p:nvPicPr>
        <p:blipFill>
          <a:blip r:embed="rId2"/>
          <a:stretch>
            <a:fillRect/>
          </a:stretch>
        </p:blipFill>
        <p:spPr>
          <a:xfrm>
            <a:off x="5897880" y="1883664"/>
            <a:ext cx="219456" cy="219456"/>
          </a:xfrm>
          <a:prstGeom prst="rect">
            <a:avLst/>
          </a:prstGeom>
        </p:spPr>
      </p:pic>
      <p:sp>
        <p:nvSpPr>
          <p:cNvPr id="10" name="TextBox 9"/>
          <p:cNvSpPr txBox="1"/>
          <p:nvPr/>
        </p:nvSpPr>
        <p:spPr>
          <a:xfrm>
            <a:off x="6144768" y="1828800"/>
            <a:ext cx="914400" cy="329184"/>
          </a:xfrm>
          <a:prstGeom prst="rect">
            <a:avLst/>
          </a:prstGeom>
          <a:noFill/>
        </p:spPr>
        <p:txBody>
          <a:bodyPr wrap="square" lIns="45720" tIns="27432" rIns="45720" bIns="27432" anchor="ctr">
            <a:noAutofit/>
          </a:bodyPr>
          <a:lstStyle/>
          <a:p>
            <a:pPr algn="l"/>
            <a:r>
              <a:rPr sz="1050" b="0" i="0">
                <a:solidFill>
                  <a:srgbClr val="404040"/>
                </a:solidFill>
                <a:latin typeface="Times New Roman"/>
              </a:rPr>
              <a:t>addressed</a:t>
            </a:r>
          </a:p>
        </p:txBody>
      </p:sp>
      <p:pic>
        <p:nvPicPr>
          <p:cNvPr id="11" name="Picture 10" descr=""/>
          <p:cNvPicPr>
            <a:picLocks noChangeAspect="1"/>
          </p:cNvPicPr>
          <p:nvPr/>
        </p:nvPicPr>
        <p:blipFill>
          <a:blip r:embed="rId3"/>
          <a:stretch>
            <a:fillRect/>
          </a:stretch>
        </p:blipFill>
        <p:spPr>
          <a:xfrm>
            <a:off x="6926580" y="1883664"/>
            <a:ext cx="219456" cy="219456"/>
          </a:xfrm>
          <a:prstGeom prst="rect">
            <a:avLst/>
          </a:prstGeom>
        </p:spPr>
      </p:pic>
      <p:sp>
        <p:nvSpPr>
          <p:cNvPr id="12" name="TextBox 11"/>
          <p:cNvSpPr txBox="1"/>
          <p:nvPr/>
        </p:nvSpPr>
        <p:spPr>
          <a:xfrm>
            <a:off x="7173468" y="1828800"/>
            <a:ext cx="914400" cy="329184"/>
          </a:xfrm>
          <a:prstGeom prst="rect">
            <a:avLst/>
          </a:prstGeom>
          <a:noFill/>
        </p:spPr>
        <p:txBody>
          <a:bodyPr wrap="square" lIns="45720" tIns="27432" rIns="45720" bIns="27432" anchor="ctr">
            <a:noAutofit/>
          </a:bodyPr>
          <a:lstStyle/>
          <a:p>
            <a:pPr algn="l"/>
            <a:r>
              <a:rPr sz="1050" b="0" i="0">
                <a:solidFill>
                  <a:srgbClr val="404040"/>
                </a:solidFill>
                <a:latin typeface="Times New Roman"/>
              </a:rPr>
              <a:t>partly</a:t>
            </a:r>
          </a:p>
        </p:txBody>
      </p:sp>
      <p:pic>
        <p:nvPicPr>
          <p:cNvPr id="13" name="Picture 12" descr=""/>
          <p:cNvPicPr>
            <a:picLocks noChangeAspect="1"/>
          </p:cNvPicPr>
          <p:nvPr/>
        </p:nvPicPr>
        <p:blipFill>
          <a:blip r:embed="rId4"/>
          <a:stretch>
            <a:fillRect/>
          </a:stretch>
        </p:blipFill>
        <p:spPr>
          <a:xfrm>
            <a:off x="7749540" y="1883664"/>
            <a:ext cx="219456" cy="219456"/>
          </a:xfrm>
          <a:prstGeom prst="rect">
            <a:avLst/>
          </a:prstGeom>
        </p:spPr>
      </p:pic>
      <p:sp>
        <p:nvSpPr>
          <p:cNvPr id="14" name="TextBox 13"/>
          <p:cNvSpPr txBox="1"/>
          <p:nvPr/>
        </p:nvSpPr>
        <p:spPr>
          <a:xfrm>
            <a:off x="7996427" y="1828800"/>
            <a:ext cx="914400" cy="329184"/>
          </a:xfrm>
          <a:prstGeom prst="rect">
            <a:avLst/>
          </a:prstGeom>
          <a:noFill/>
        </p:spPr>
        <p:txBody>
          <a:bodyPr wrap="square" lIns="45720" tIns="27432" rIns="45720" bIns="27432" anchor="ctr">
            <a:noAutofit/>
          </a:bodyPr>
          <a:lstStyle/>
          <a:p>
            <a:pPr algn="l"/>
            <a:r>
              <a:rPr sz="1050" b="0" i="0">
                <a:solidFill>
                  <a:srgbClr val="404040"/>
                </a:solidFill>
                <a:latin typeface="Times New Roman"/>
              </a:rPr>
              <a:t>not addressed</a:t>
            </a:r>
          </a:p>
        </p:txBody>
      </p:sp>
      <p:sp>
        <p:nvSpPr>
          <p:cNvPr id="15" name="Rounded Rectangle 14"/>
          <p:cNvSpPr/>
          <p:nvPr/>
        </p:nvSpPr>
        <p:spPr>
          <a:xfrm>
            <a:off x="228600" y="2340864"/>
            <a:ext cx="1965960" cy="512064"/>
          </a:xfrm>
          <a:prstGeom prst="roundRect">
            <a:avLst>
              <a:gd name="adj" fmla="val 10000"/>
            </a:avLst>
          </a:prstGeom>
          <a:solidFill>
            <a:srgbClr val="404040"/>
          </a:solidFill>
          <a:ln>
            <a:noFill/>
          </a:ln>
        </p:spPr>
        <p:txBody>
          <a:bodyPr rtlCol="0" anchor="ctr" wrap="square" lIns="45720" tIns="27432" rIns="45720" bIns="27432">
            <a:noAutofit/>
          </a:bodyPr>
          <a:lstStyle/>
          <a:p>
            <a:pPr algn="ctr"/>
            <a:r>
              <a:rPr sz="1150" b="1" i="0">
                <a:solidFill>
                  <a:srgbClr val="FFFFFF"/>
                </a:solidFill>
                <a:latin typeface="Times New Roman"/>
              </a:rPr>
              <a:t>System [Ref.]</a:t>
            </a:r>
          </a:p>
        </p:txBody>
      </p:sp>
      <p:sp>
        <p:nvSpPr>
          <p:cNvPr id="16" name="Rounded Rectangle 15"/>
          <p:cNvSpPr/>
          <p:nvPr/>
        </p:nvSpPr>
        <p:spPr>
          <a:xfrm>
            <a:off x="2240280" y="2340864"/>
            <a:ext cx="822960" cy="512064"/>
          </a:xfrm>
          <a:prstGeom prst="roundRect">
            <a:avLst>
              <a:gd name="adj" fmla="val 10000"/>
            </a:avLst>
          </a:prstGeom>
          <a:solidFill>
            <a:srgbClr val="34507A"/>
          </a:solidFill>
          <a:ln>
            <a:noFill/>
          </a:ln>
        </p:spPr>
        <p:txBody>
          <a:bodyPr rtlCol="0" anchor="ctr" wrap="square" lIns="18288" tIns="0" rIns="18288" bIns="0">
            <a:noAutofit/>
          </a:bodyPr>
          <a:lstStyle/>
          <a:p>
            <a:pPr algn="ctr"/>
            <a:r>
              <a:rPr sz="1500" b="1" i="1">
                <a:solidFill>
                  <a:srgbClr val="FFFFFF"/>
                </a:solidFill>
                <a:latin typeface="Times New Roman"/>
              </a:rPr>
              <a:t>M</a:t>
            </a:r>
          </a:p>
          <a:p>
            <a:pPr algn="ctr"/>
            <a:r>
              <a:rPr sz="850" b="0" i="0">
                <a:solidFill>
                  <a:srgbClr val="FFFFFF"/>
                </a:solidFill>
                <a:latin typeface="Times New Roman"/>
              </a:rPr>
              <a:t>ML model</a:t>
            </a:r>
          </a:p>
        </p:txBody>
      </p:sp>
      <p:sp>
        <p:nvSpPr>
          <p:cNvPr id="17" name="Rounded Rectangle 16"/>
          <p:cNvSpPr/>
          <p:nvPr/>
        </p:nvSpPr>
        <p:spPr>
          <a:xfrm>
            <a:off x="3108960" y="2340864"/>
            <a:ext cx="822960" cy="512064"/>
          </a:xfrm>
          <a:prstGeom prst="roundRect">
            <a:avLst>
              <a:gd name="adj" fmla="val 10000"/>
            </a:avLst>
          </a:prstGeom>
          <a:solidFill>
            <a:srgbClr val="3F7A3C"/>
          </a:solidFill>
          <a:ln>
            <a:noFill/>
          </a:ln>
        </p:spPr>
        <p:txBody>
          <a:bodyPr rtlCol="0" anchor="ctr" wrap="square" lIns="18288" tIns="0" rIns="18288" bIns="0">
            <a:noAutofit/>
          </a:bodyPr>
          <a:lstStyle/>
          <a:p>
            <a:pPr algn="ctr"/>
            <a:r>
              <a:rPr sz="1500" b="1" i="1">
                <a:solidFill>
                  <a:srgbClr val="FFFFFF"/>
                </a:solidFill>
                <a:latin typeface="Times New Roman"/>
              </a:rPr>
              <a:t>R</a:t>
            </a:r>
          </a:p>
          <a:p>
            <a:pPr algn="ctr"/>
            <a:r>
              <a:rPr sz="850" b="0" i="0">
                <a:solidFill>
                  <a:srgbClr val="FFFFFF"/>
                </a:solidFill>
                <a:latin typeface="Times New Roman"/>
              </a:rPr>
              <a:t>Rules</a:t>
            </a:r>
          </a:p>
        </p:txBody>
      </p:sp>
      <p:sp>
        <p:nvSpPr>
          <p:cNvPr id="18" name="Rounded Rectangle 17"/>
          <p:cNvSpPr/>
          <p:nvPr/>
        </p:nvSpPr>
        <p:spPr>
          <a:xfrm>
            <a:off x="3977639" y="2340864"/>
            <a:ext cx="822960" cy="512064"/>
          </a:xfrm>
          <a:prstGeom prst="roundRect">
            <a:avLst>
              <a:gd name="adj" fmla="val 10000"/>
            </a:avLst>
          </a:prstGeom>
          <a:solidFill>
            <a:srgbClr val="B04848"/>
          </a:solidFill>
          <a:ln>
            <a:noFill/>
          </a:ln>
        </p:spPr>
        <p:txBody>
          <a:bodyPr rtlCol="0" anchor="ctr" wrap="square" lIns="18288" tIns="0" rIns="18288" bIns="0">
            <a:noAutofit/>
          </a:bodyPr>
          <a:lstStyle/>
          <a:p>
            <a:pPr algn="ctr"/>
            <a:r>
              <a:rPr sz="1500" b="1" i="1">
                <a:solidFill>
                  <a:srgbClr val="FFFFFF"/>
                </a:solidFill>
                <a:latin typeface="Times New Roman"/>
              </a:rPr>
              <a:t>K</a:t>
            </a:r>
          </a:p>
          <a:p>
            <a:pPr algn="ctr"/>
            <a:r>
              <a:rPr sz="850" b="0" i="0">
                <a:solidFill>
                  <a:srgbClr val="FFFFFF"/>
                </a:solidFill>
                <a:latin typeface="Times New Roman"/>
              </a:rPr>
              <a:t>Retrieval</a:t>
            </a:r>
          </a:p>
        </p:txBody>
      </p:sp>
      <p:sp>
        <p:nvSpPr>
          <p:cNvPr id="19" name="Rounded Rectangle 18"/>
          <p:cNvSpPr/>
          <p:nvPr/>
        </p:nvSpPr>
        <p:spPr>
          <a:xfrm>
            <a:off x="4846320" y="2340864"/>
            <a:ext cx="822960" cy="512064"/>
          </a:xfrm>
          <a:prstGeom prst="roundRect">
            <a:avLst>
              <a:gd name="adj" fmla="val 10000"/>
            </a:avLst>
          </a:prstGeom>
          <a:solidFill>
            <a:srgbClr val="404040"/>
          </a:solidFill>
          <a:ln>
            <a:noFill/>
          </a:ln>
        </p:spPr>
        <p:txBody>
          <a:bodyPr rtlCol="0" anchor="ctr" wrap="square" lIns="18288" tIns="0" rIns="18288" bIns="0">
            <a:noAutofit/>
          </a:bodyPr>
          <a:lstStyle/>
          <a:p>
            <a:pPr algn="ctr"/>
            <a:r>
              <a:rPr sz="1500" b="1" i="1">
                <a:solidFill>
                  <a:srgbClr val="FFFFFF"/>
                </a:solidFill>
                <a:latin typeface="Times New Roman"/>
              </a:rPr>
              <a:t>D</a:t>
            </a:r>
          </a:p>
          <a:p>
            <a:pPr algn="ctr"/>
            <a:r>
              <a:rPr sz="850" b="0" i="0">
                <a:solidFill>
                  <a:srgbClr val="FFFFFF"/>
                </a:solidFill>
                <a:latin typeface="Times New Roman"/>
              </a:rPr>
              <a:t>Conflict measure</a:t>
            </a:r>
          </a:p>
        </p:txBody>
      </p:sp>
      <p:sp>
        <p:nvSpPr>
          <p:cNvPr id="20" name="Rounded Rectangle 19"/>
          <p:cNvSpPr/>
          <p:nvPr/>
        </p:nvSpPr>
        <p:spPr>
          <a:xfrm>
            <a:off x="5715000" y="2340864"/>
            <a:ext cx="822960" cy="512064"/>
          </a:xfrm>
          <a:prstGeom prst="roundRect">
            <a:avLst>
              <a:gd name="adj" fmla="val 10000"/>
            </a:avLst>
          </a:prstGeom>
          <a:solidFill>
            <a:srgbClr val="4E4775"/>
          </a:solidFill>
          <a:ln>
            <a:noFill/>
          </a:ln>
        </p:spPr>
        <p:txBody>
          <a:bodyPr rtlCol="0" anchor="ctr" wrap="square" lIns="18288" tIns="0" rIns="18288" bIns="0">
            <a:noAutofit/>
          </a:bodyPr>
          <a:lstStyle/>
          <a:p>
            <a:pPr algn="ctr"/>
            <a:r>
              <a:rPr sz="1500" b="1" i="1">
                <a:solidFill>
                  <a:srgbClr val="FFFFFF"/>
                </a:solidFill>
                <a:latin typeface="Times New Roman"/>
              </a:rPr>
              <a:t>C</a:t>
            </a:r>
          </a:p>
          <a:p>
            <a:pPr algn="ctr"/>
            <a:r>
              <a:rPr sz="850" b="0" i="0">
                <a:solidFill>
                  <a:srgbClr val="FFFFFF"/>
                </a:solidFill>
                <a:latin typeface="Times New Roman"/>
              </a:rPr>
              <a:t>Confidence score</a:t>
            </a:r>
          </a:p>
        </p:txBody>
      </p:sp>
      <p:sp>
        <p:nvSpPr>
          <p:cNvPr id="21" name="Rounded Rectangle 20"/>
          <p:cNvSpPr/>
          <p:nvPr/>
        </p:nvSpPr>
        <p:spPr>
          <a:xfrm>
            <a:off x="6583680" y="2340864"/>
            <a:ext cx="822960" cy="512064"/>
          </a:xfrm>
          <a:prstGeom prst="roundRect">
            <a:avLst>
              <a:gd name="adj" fmla="val 10000"/>
            </a:avLst>
          </a:prstGeom>
          <a:solidFill>
            <a:srgbClr val="8B0000"/>
          </a:solidFill>
          <a:ln>
            <a:noFill/>
          </a:ln>
        </p:spPr>
        <p:txBody>
          <a:bodyPr rtlCol="0" anchor="ctr" wrap="square" lIns="18288" tIns="0" rIns="18288" bIns="0">
            <a:noAutofit/>
          </a:bodyPr>
          <a:lstStyle/>
          <a:p>
            <a:pPr algn="ctr"/>
            <a:r>
              <a:rPr sz="1500" b="1" i="1">
                <a:solidFill>
                  <a:srgbClr val="FFFFFF"/>
                </a:solidFill>
                <a:latin typeface="Times New Roman"/>
              </a:rPr>
              <a:t>A</a:t>
            </a:r>
          </a:p>
          <a:p>
            <a:pPr algn="ctr"/>
            <a:r>
              <a:rPr sz="850" b="0" i="0">
                <a:solidFill>
                  <a:srgbClr val="FFFFFF"/>
                </a:solidFill>
                <a:latin typeface="Times New Roman"/>
              </a:rPr>
              <a:t>Audit trail</a:t>
            </a:r>
          </a:p>
        </p:txBody>
      </p:sp>
      <p:sp>
        <p:nvSpPr>
          <p:cNvPr id="22" name="Rounded Rectangle 21"/>
          <p:cNvSpPr/>
          <p:nvPr/>
        </p:nvSpPr>
        <p:spPr>
          <a:xfrm>
            <a:off x="7452360" y="2340864"/>
            <a:ext cx="1463040" cy="512064"/>
          </a:xfrm>
          <a:prstGeom prst="roundRect">
            <a:avLst>
              <a:gd name="adj" fmla="val 10000"/>
            </a:avLst>
          </a:prstGeom>
          <a:solidFill>
            <a:srgbClr val="404040"/>
          </a:solidFill>
          <a:ln>
            <a:noFill/>
          </a:ln>
        </p:spPr>
        <p:txBody>
          <a:bodyPr rtlCol="0" anchor="ctr" wrap="square" lIns="18288" tIns="0" rIns="18288" bIns="0">
            <a:noAutofit/>
          </a:bodyPr>
          <a:lstStyle/>
          <a:p>
            <a:pPr algn="ctr"/>
            <a:r>
              <a:rPr sz="1150" b="1" i="0">
                <a:solidFill>
                  <a:srgbClr val="FFFFFF"/>
                </a:solidFill>
                <a:latin typeface="Times New Roman"/>
              </a:rPr>
              <a:t>Coverage</a:t>
            </a:r>
          </a:p>
          <a:p>
            <a:pPr algn="ctr"/>
            <a:r>
              <a:rPr sz="850" b="0" i="0">
                <a:solidFill>
                  <a:srgbClr val="FFFFFF"/>
                </a:solidFill>
                <a:latin typeface="Times New Roman"/>
              </a:rPr>
              <a:t>addressed = 1, partly = 0.5</a:t>
            </a:r>
          </a:p>
        </p:txBody>
      </p:sp>
      <p:sp>
        <p:nvSpPr>
          <p:cNvPr id="23" name="Rounded Rectangle 22"/>
          <p:cNvSpPr/>
          <p:nvPr/>
        </p:nvSpPr>
        <p:spPr>
          <a:xfrm>
            <a:off x="228600" y="2907792"/>
            <a:ext cx="8686800" cy="292608"/>
          </a:xfrm>
          <a:prstGeom prst="roundRect">
            <a:avLst>
              <a:gd name="adj" fmla="val 20000"/>
            </a:avLst>
          </a:prstGeom>
          <a:solidFill>
            <a:srgbClr val="FFFFFF"/>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4" name="TextBox 23"/>
          <p:cNvSpPr txBox="1"/>
          <p:nvPr/>
        </p:nvSpPr>
        <p:spPr>
          <a:xfrm>
            <a:off x="292608" y="2907792"/>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Öğdü et al. [1]</a:t>
            </a:r>
            <a:r>
              <a:rPr sz="950" b="0" i="0">
                <a:solidFill>
                  <a:srgbClr val="595959"/>
                </a:solidFill>
                <a:latin typeface="Times New Roman"/>
              </a:rPr>
              <a:t>  2025</a:t>
            </a:r>
          </a:p>
        </p:txBody>
      </p:sp>
      <p:pic>
        <p:nvPicPr>
          <p:cNvPr id="25" name="Picture 24" descr=""/>
          <p:cNvPicPr>
            <a:picLocks noChangeAspect="1"/>
          </p:cNvPicPr>
          <p:nvPr/>
        </p:nvPicPr>
        <p:blipFill>
          <a:blip r:embed="rId4"/>
          <a:stretch>
            <a:fillRect/>
          </a:stretch>
        </p:blipFill>
        <p:spPr>
          <a:xfrm>
            <a:off x="2542032" y="2944368"/>
            <a:ext cx="219456" cy="219456"/>
          </a:xfrm>
          <a:prstGeom prst="rect">
            <a:avLst/>
          </a:prstGeom>
        </p:spPr>
      </p:pic>
      <p:pic>
        <p:nvPicPr>
          <p:cNvPr id="26" name="Picture 25" descr=""/>
          <p:cNvPicPr>
            <a:picLocks noChangeAspect="1"/>
          </p:cNvPicPr>
          <p:nvPr/>
        </p:nvPicPr>
        <p:blipFill>
          <a:blip r:embed="rId4"/>
          <a:stretch>
            <a:fillRect/>
          </a:stretch>
        </p:blipFill>
        <p:spPr>
          <a:xfrm>
            <a:off x="3410712" y="2944368"/>
            <a:ext cx="219456" cy="219456"/>
          </a:xfrm>
          <a:prstGeom prst="rect">
            <a:avLst/>
          </a:prstGeom>
        </p:spPr>
      </p:pic>
      <p:pic>
        <p:nvPicPr>
          <p:cNvPr id="27" name="Picture 26" descr=""/>
          <p:cNvPicPr>
            <a:picLocks noChangeAspect="1"/>
          </p:cNvPicPr>
          <p:nvPr/>
        </p:nvPicPr>
        <p:blipFill>
          <a:blip r:embed="rId2"/>
          <a:stretch>
            <a:fillRect/>
          </a:stretch>
        </p:blipFill>
        <p:spPr>
          <a:xfrm>
            <a:off x="4279392" y="2944368"/>
            <a:ext cx="219456" cy="219456"/>
          </a:xfrm>
          <a:prstGeom prst="rect">
            <a:avLst/>
          </a:prstGeom>
        </p:spPr>
      </p:pic>
      <p:pic>
        <p:nvPicPr>
          <p:cNvPr id="28" name="Picture 27" descr=""/>
          <p:cNvPicPr>
            <a:picLocks noChangeAspect="1"/>
          </p:cNvPicPr>
          <p:nvPr/>
        </p:nvPicPr>
        <p:blipFill>
          <a:blip r:embed="rId4"/>
          <a:stretch>
            <a:fillRect/>
          </a:stretch>
        </p:blipFill>
        <p:spPr>
          <a:xfrm>
            <a:off x="5148072" y="2944368"/>
            <a:ext cx="219456" cy="219456"/>
          </a:xfrm>
          <a:prstGeom prst="rect">
            <a:avLst/>
          </a:prstGeom>
        </p:spPr>
      </p:pic>
      <p:pic>
        <p:nvPicPr>
          <p:cNvPr id="29" name="Picture 28" descr=""/>
          <p:cNvPicPr>
            <a:picLocks noChangeAspect="1"/>
          </p:cNvPicPr>
          <p:nvPr/>
        </p:nvPicPr>
        <p:blipFill>
          <a:blip r:embed="rId3"/>
          <a:stretch>
            <a:fillRect/>
          </a:stretch>
        </p:blipFill>
        <p:spPr>
          <a:xfrm>
            <a:off x="6016752" y="2944368"/>
            <a:ext cx="219456" cy="219456"/>
          </a:xfrm>
          <a:prstGeom prst="rect">
            <a:avLst/>
          </a:prstGeom>
        </p:spPr>
      </p:pic>
      <p:pic>
        <p:nvPicPr>
          <p:cNvPr id="30" name="Picture 29" descr=""/>
          <p:cNvPicPr>
            <a:picLocks noChangeAspect="1"/>
          </p:cNvPicPr>
          <p:nvPr/>
        </p:nvPicPr>
        <p:blipFill>
          <a:blip r:embed="rId4"/>
          <a:stretch>
            <a:fillRect/>
          </a:stretch>
        </p:blipFill>
        <p:spPr>
          <a:xfrm>
            <a:off x="6885432" y="2944368"/>
            <a:ext cx="219456" cy="219456"/>
          </a:xfrm>
          <a:prstGeom prst="rect">
            <a:avLst/>
          </a:prstGeom>
        </p:spPr>
      </p:pic>
      <p:sp>
        <p:nvSpPr>
          <p:cNvPr id="31" name="Rounded Rectangle 30"/>
          <p:cNvSpPr/>
          <p:nvPr/>
        </p:nvSpPr>
        <p:spPr>
          <a:xfrm>
            <a:off x="7543800" y="2999232"/>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2" name="Rounded Rectangle 31"/>
          <p:cNvSpPr/>
          <p:nvPr/>
        </p:nvSpPr>
        <p:spPr>
          <a:xfrm>
            <a:off x="7543800" y="2999232"/>
            <a:ext cx="217169"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3" name="TextBox 32"/>
          <p:cNvSpPr txBox="1"/>
          <p:nvPr/>
        </p:nvSpPr>
        <p:spPr>
          <a:xfrm>
            <a:off x="8412480" y="2907792"/>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1.5/6</a:t>
            </a:r>
          </a:p>
        </p:txBody>
      </p:sp>
      <p:sp>
        <p:nvSpPr>
          <p:cNvPr id="34" name="Rounded Rectangle 33"/>
          <p:cNvSpPr/>
          <p:nvPr/>
        </p:nvSpPr>
        <p:spPr>
          <a:xfrm>
            <a:off x="228600" y="3236976"/>
            <a:ext cx="8686800" cy="292608"/>
          </a:xfrm>
          <a:prstGeom prst="roundRect">
            <a:avLst>
              <a:gd name="adj" fmla="val 20000"/>
            </a:avLst>
          </a:prstGeom>
          <a:solidFill>
            <a:srgbClr val="F7F7F7"/>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5" name="TextBox 34"/>
          <p:cNvSpPr txBox="1"/>
          <p:nvPr/>
        </p:nvSpPr>
        <p:spPr>
          <a:xfrm>
            <a:off x="292608" y="3236976"/>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MedAgents [2]</a:t>
            </a:r>
            <a:r>
              <a:rPr sz="950" b="0" i="0">
                <a:solidFill>
                  <a:srgbClr val="595959"/>
                </a:solidFill>
                <a:latin typeface="Times New Roman"/>
              </a:rPr>
              <a:t>  2024</a:t>
            </a:r>
          </a:p>
        </p:txBody>
      </p:sp>
      <p:pic>
        <p:nvPicPr>
          <p:cNvPr id="36" name="Picture 35" descr=""/>
          <p:cNvPicPr>
            <a:picLocks noChangeAspect="1"/>
          </p:cNvPicPr>
          <p:nvPr/>
        </p:nvPicPr>
        <p:blipFill>
          <a:blip r:embed="rId4"/>
          <a:stretch>
            <a:fillRect/>
          </a:stretch>
        </p:blipFill>
        <p:spPr>
          <a:xfrm>
            <a:off x="2542032" y="3273552"/>
            <a:ext cx="219456" cy="219456"/>
          </a:xfrm>
          <a:prstGeom prst="rect">
            <a:avLst/>
          </a:prstGeom>
        </p:spPr>
      </p:pic>
      <p:pic>
        <p:nvPicPr>
          <p:cNvPr id="37" name="Picture 36" descr=""/>
          <p:cNvPicPr>
            <a:picLocks noChangeAspect="1"/>
          </p:cNvPicPr>
          <p:nvPr/>
        </p:nvPicPr>
        <p:blipFill>
          <a:blip r:embed="rId4"/>
          <a:stretch>
            <a:fillRect/>
          </a:stretch>
        </p:blipFill>
        <p:spPr>
          <a:xfrm>
            <a:off x="3410712" y="3273552"/>
            <a:ext cx="219456" cy="219456"/>
          </a:xfrm>
          <a:prstGeom prst="rect">
            <a:avLst/>
          </a:prstGeom>
        </p:spPr>
      </p:pic>
      <p:pic>
        <p:nvPicPr>
          <p:cNvPr id="38" name="Picture 37" descr=""/>
          <p:cNvPicPr>
            <a:picLocks noChangeAspect="1"/>
          </p:cNvPicPr>
          <p:nvPr/>
        </p:nvPicPr>
        <p:blipFill>
          <a:blip r:embed="rId4"/>
          <a:stretch>
            <a:fillRect/>
          </a:stretch>
        </p:blipFill>
        <p:spPr>
          <a:xfrm>
            <a:off x="4279392" y="3273552"/>
            <a:ext cx="219456" cy="219456"/>
          </a:xfrm>
          <a:prstGeom prst="rect">
            <a:avLst/>
          </a:prstGeom>
        </p:spPr>
      </p:pic>
      <p:pic>
        <p:nvPicPr>
          <p:cNvPr id="39" name="Picture 38" descr=""/>
          <p:cNvPicPr>
            <a:picLocks noChangeAspect="1"/>
          </p:cNvPicPr>
          <p:nvPr/>
        </p:nvPicPr>
        <p:blipFill>
          <a:blip r:embed="rId3"/>
          <a:stretch>
            <a:fillRect/>
          </a:stretch>
        </p:blipFill>
        <p:spPr>
          <a:xfrm>
            <a:off x="5148072" y="3273552"/>
            <a:ext cx="219456" cy="219456"/>
          </a:xfrm>
          <a:prstGeom prst="rect">
            <a:avLst/>
          </a:prstGeom>
        </p:spPr>
      </p:pic>
      <p:pic>
        <p:nvPicPr>
          <p:cNvPr id="40" name="Picture 39" descr=""/>
          <p:cNvPicPr>
            <a:picLocks noChangeAspect="1"/>
          </p:cNvPicPr>
          <p:nvPr/>
        </p:nvPicPr>
        <p:blipFill>
          <a:blip r:embed="rId4"/>
          <a:stretch>
            <a:fillRect/>
          </a:stretch>
        </p:blipFill>
        <p:spPr>
          <a:xfrm>
            <a:off x="6016752" y="3273552"/>
            <a:ext cx="219456" cy="219456"/>
          </a:xfrm>
          <a:prstGeom prst="rect">
            <a:avLst/>
          </a:prstGeom>
        </p:spPr>
      </p:pic>
      <p:pic>
        <p:nvPicPr>
          <p:cNvPr id="41" name="Picture 40" descr=""/>
          <p:cNvPicPr>
            <a:picLocks noChangeAspect="1"/>
          </p:cNvPicPr>
          <p:nvPr/>
        </p:nvPicPr>
        <p:blipFill>
          <a:blip r:embed="rId4"/>
          <a:stretch>
            <a:fillRect/>
          </a:stretch>
        </p:blipFill>
        <p:spPr>
          <a:xfrm>
            <a:off x="6885432" y="3273552"/>
            <a:ext cx="219456" cy="219456"/>
          </a:xfrm>
          <a:prstGeom prst="rect">
            <a:avLst/>
          </a:prstGeom>
        </p:spPr>
      </p:pic>
      <p:sp>
        <p:nvSpPr>
          <p:cNvPr id="42" name="Rounded Rectangle 41"/>
          <p:cNvSpPr/>
          <p:nvPr/>
        </p:nvSpPr>
        <p:spPr>
          <a:xfrm>
            <a:off x="7543800" y="3328416"/>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3" name="Rounded Rectangle 42"/>
          <p:cNvSpPr/>
          <p:nvPr/>
        </p:nvSpPr>
        <p:spPr>
          <a:xfrm>
            <a:off x="7543800" y="3328416"/>
            <a:ext cx="73152"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4" name="TextBox 43"/>
          <p:cNvSpPr txBox="1"/>
          <p:nvPr/>
        </p:nvSpPr>
        <p:spPr>
          <a:xfrm>
            <a:off x="8412480" y="3236976"/>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0.5/6</a:t>
            </a:r>
          </a:p>
        </p:txBody>
      </p:sp>
      <p:sp>
        <p:nvSpPr>
          <p:cNvPr id="45" name="Rounded Rectangle 44"/>
          <p:cNvSpPr/>
          <p:nvPr/>
        </p:nvSpPr>
        <p:spPr>
          <a:xfrm>
            <a:off x="228600" y="3566160"/>
            <a:ext cx="8686800" cy="292608"/>
          </a:xfrm>
          <a:prstGeom prst="roundRect">
            <a:avLst>
              <a:gd name="adj" fmla="val 20000"/>
            </a:avLst>
          </a:prstGeom>
          <a:solidFill>
            <a:srgbClr val="FFFFFF"/>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6" name="TextBox 45"/>
          <p:cNvSpPr txBox="1"/>
          <p:nvPr/>
        </p:nvSpPr>
        <p:spPr>
          <a:xfrm>
            <a:off x="292608" y="3566160"/>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ClinicalRAG [3]</a:t>
            </a:r>
            <a:r>
              <a:rPr sz="950" b="0" i="0">
                <a:solidFill>
                  <a:srgbClr val="595959"/>
                </a:solidFill>
                <a:latin typeface="Times New Roman"/>
              </a:rPr>
              <a:t>  2024</a:t>
            </a:r>
          </a:p>
        </p:txBody>
      </p:sp>
      <p:pic>
        <p:nvPicPr>
          <p:cNvPr id="47" name="Picture 46" descr=""/>
          <p:cNvPicPr>
            <a:picLocks noChangeAspect="1"/>
          </p:cNvPicPr>
          <p:nvPr/>
        </p:nvPicPr>
        <p:blipFill>
          <a:blip r:embed="rId4"/>
          <a:stretch>
            <a:fillRect/>
          </a:stretch>
        </p:blipFill>
        <p:spPr>
          <a:xfrm>
            <a:off x="2542032" y="3602736"/>
            <a:ext cx="219456" cy="219456"/>
          </a:xfrm>
          <a:prstGeom prst="rect">
            <a:avLst/>
          </a:prstGeom>
        </p:spPr>
      </p:pic>
      <p:pic>
        <p:nvPicPr>
          <p:cNvPr id="48" name="Picture 47" descr=""/>
          <p:cNvPicPr>
            <a:picLocks noChangeAspect="1"/>
          </p:cNvPicPr>
          <p:nvPr/>
        </p:nvPicPr>
        <p:blipFill>
          <a:blip r:embed="rId4"/>
          <a:stretch>
            <a:fillRect/>
          </a:stretch>
        </p:blipFill>
        <p:spPr>
          <a:xfrm>
            <a:off x="3410712" y="3602736"/>
            <a:ext cx="219456" cy="219456"/>
          </a:xfrm>
          <a:prstGeom prst="rect">
            <a:avLst/>
          </a:prstGeom>
        </p:spPr>
      </p:pic>
      <p:pic>
        <p:nvPicPr>
          <p:cNvPr id="49" name="Picture 48" descr=""/>
          <p:cNvPicPr>
            <a:picLocks noChangeAspect="1"/>
          </p:cNvPicPr>
          <p:nvPr/>
        </p:nvPicPr>
        <p:blipFill>
          <a:blip r:embed="rId2"/>
          <a:stretch>
            <a:fillRect/>
          </a:stretch>
        </p:blipFill>
        <p:spPr>
          <a:xfrm>
            <a:off x="4279392" y="3602736"/>
            <a:ext cx="219456" cy="219456"/>
          </a:xfrm>
          <a:prstGeom prst="rect">
            <a:avLst/>
          </a:prstGeom>
        </p:spPr>
      </p:pic>
      <p:pic>
        <p:nvPicPr>
          <p:cNvPr id="50" name="Picture 49" descr=""/>
          <p:cNvPicPr>
            <a:picLocks noChangeAspect="1"/>
          </p:cNvPicPr>
          <p:nvPr/>
        </p:nvPicPr>
        <p:blipFill>
          <a:blip r:embed="rId4"/>
          <a:stretch>
            <a:fillRect/>
          </a:stretch>
        </p:blipFill>
        <p:spPr>
          <a:xfrm>
            <a:off x="5148072" y="3602736"/>
            <a:ext cx="219456" cy="219456"/>
          </a:xfrm>
          <a:prstGeom prst="rect">
            <a:avLst/>
          </a:prstGeom>
        </p:spPr>
      </p:pic>
      <p:pic>
        <p:nvPicPr>
          <p:cNvPr id="51" name="Picture 50" descr=""/>
          <p:cNvPicPr>
            <a:picLocks noChangeAspect="1"/>
          </p:cNvPicPr>
          <p:nvPr/>
        </p:nvPicPr>
        <p:blipFill>
          <a:blip r:embed="rId4"/>
          <a:stretch>
            <a:fillRect/>
          </a:stretch>
        </p:blipFill>
        <p:spPr>
          <a:xfrm>
            <a:off x="6016752" y="3602736"/>
            <a:ext cx="219456" cy="219456"/>
          </a:xfrm>
          <a:prstGeom prst="rect">
            <a:avLst/>
          </a:prstGeom>
        </p:spPr>
      </p:pic>
      <p:pic>
        <p:nvPicPr>
          <p:cNvPr id="52" name="Picture 51" descr=""/>
          <p:cNvPicPr>
            <a:picLocks noChangeAspect="1"/>
          </p:cNvPicPr>
          <p:nvPr/>
        </p:nvPicPr>
        <p:blipFill>
          <a:blip r:embed="rId3"/>
          <a:stretch>
            <a:fillRect/>
          </a:stretch>
        </p:blipFill>
        <p:spPr>
          <a:xfrm>
            <a:off x="6885432" y="3602736"/>
            <a:ext cx="219456" cy="219456"/>
          </a:xfrm>
          <a:prstGeom prst="rect">
            <a:avLst/>
          </a:prstGeom>
        </p:spPr>
      </p:pic>
      <p:sp>
        <p:nvSpPr>
          <p:cNvPr id="53" name="Rounded Rectangle 52"/>
          <p:cNvSpPr/>
          <p:nvPr/>
        </p:nvSpPr>
        <p:spPr>
          <a:xfrm>
            <a:off x="7543800" y="3657600"/>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4" name="Rounded Rectangle 53"/>
          <p:cNvSpPr/>
          <p:nvPr/>
        </p:nvSpPr>
        <p:spPr>
          <a:xfrm>
            <a:off x="7543800" y="3657600"/>
            <a:ext cx="217169"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5" name="TextBox 54"/>
          <p:cNvSpPr txBox="1"/>
          <p:nvPr/>
        </p:nvSpPr>
        <p:spPr>
          <a:xfrm>
            <a:off x="8412480" y="3566160"/>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1.5/6</a:t>
            </a:r>
          </a:p>
        </p:txBody>
      </p:sp>
      <p:sp>
        <p:nvSpPr>
          <p:cNvPr id="56" name="Rounded Rectangle 55"/>
          <p:cNvSpPr/>
          <p:nvPr/>
        </p:nvSpPr>
        <p:spPr>
          <a:xfrm>
            <a:off x="228600" y="3895344"/>
            <a:ext cx="8686800" cy="292608"/>
          </a:xfrm>
          <a:prstGeom prst="roundRect">
            <a:avLst>
              <a:gd name="adj" fmla="val 20000"/>
            </a:avLst>
          </a:prstGeom>
          <a:solidFill>
            <a:srgbClr val="F7F7F7"/>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7" name="TextBox 56"/>
          <p:cNvSpPr txBox="1"/>
          <p:nvPr/>
        </p:nvSpPr>
        <p:spPr>
          <a:xfrm>
            <a:off x="292608" y="3895344"/>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KG4Diagnosis [4]</a:t>
            </a:r>
            <a:r>
              <a:rPr sz="950" b="0" i="0">
                <a:solidFill>
                  <a:srgbClr val="595959"/>
                </a:solidFill>
                <a:latin typeface="Times New Roman"/>
              </a:rPr>
              <a:t>  2025</a:t>
            </a:r>
          </a:p>
        </p:txBody>
      </p:sp>
      <p:pic>
        <p:nvPicPr>
          <p:cNvPr id="58" name="Picture 57" descr=""/>
          <p:cNvPicPr>
            <a:picLocks noChangeAspect="1"/>
          </p:cNvPicPr>
          <p:nvPr/>
        </p:nvPicPr>
        <p:blipFill>
          <a:blip r:embed="rId4"/>
          <a:stretch>
            <a:fillRect/>
          </a:stretch>
        </p:blipFill>
        <p:spPr>
          <a:xfrm>
            <a:off x="2542032" y="3931920"/>
            <a:ext cx="219456" cy="219456"/>
          </a:xfrm>
          <a:prstGeom prst="rect">
            <a:avLst/>
          </a:prstGeom>
        </p:spPr>
      </p:pic>
      <p:pic>
        <p:nvPicPr>
          <p:cNvPr id="59" name="Picture 58" descr=""/>
          <p:cNvPicPr>
            <a:picLocks noChangeAspect="1"/>
          </p:cNvPicPr>
          <p:nvPr/>
        </p:nvPicPr>
        <p:blipFill>
          <a:blip r:embed="rId4"/>
          <a:stretch>
            <a:fillRect/>
          </a:stretch>
        </p:blipFill>
        <p:spPr>
          <a:xfrm>
            <a:off x="3410712" y="3931920"/>
            <a:ext cx="219456" cy="219456"/>
          </a:xfrm>
          <a:prstGeom prst="rect">
            <a:avLst/>
          </a:prstGeom>
        </p:spPr>
      </p:pic>
      <p:pic>
        <p:nvPicPr>
          <p:cNvPr id="60" name="Picture 59" descr=""/>
          <p:cNvPicPr>
            <a:picLocks noChangeAspect="1"/>
          </p:cNvPicPr>
          <p:nvPr/>
        </p:nvPicPr>
        <p:blipFill>
          <a:blip r:embed="rId2"/>
          <a:stretch>
            <a:fillRect/>
          </a:stretch>
        </p:blipFill>
        <p:spPr>
          <a:xfrm>
            <a:off x="4279392" y="3931920"/>
            <a:ext cx="219456" cy="219456"/>
          </a:xfrm>
          <a:prstGeom prst="rect">
            <a:avLst/>
          </a:prstGeom>
        </p:spPr>
      </p:pic>
      <p:pic>
        <p:nvPicPr>
          <p:cNvPr id="61" name="Picture 60" descr=""/>
          <p:cNvPicPr>
            <a:picLocks noChangeAspect="1"/>
          </p:cNvPicPr>
          <p:nvPr/>
        </p:nvPicPr>
        <p:blipFill>
          <a:blip r:embed="rId4"/>
          <a:stretch>
            <a:fillRect/>
          </a:stretch>
        </p:blipFill>
        <p:spPr>
          <a:xfrm>
            <a:off x="5148072" y="3931920"/>
            <a:ext cx="219456" cy="219456"/>
          </a:xfrm>
          <a:prstGeom prst="rect">
            <a:avLst/>
          </a:prstGeom>
        </p:spPr>
      </p:pic>
      <p:pic>
        <p:nvPicPr>
          <p:cNvPr id="62" name="Picture 61" descr=""/>
          <p:cNvPicPr>
            <a:picLocks noChangeAspect="1"/>
          </p:cNvPicPr>
          <p:nvPr/>
        </p:nvPicPr>
        <p:blipFill>
          <a:blip r:embed="rId4"/>
          <a:stretch>
            <a:fillRect/>
          </a:stretch>
        </p:blipFill>
        <p:spPr>
          <a:xfrm>
            <a:off x="6016752" y="3931920"/>
            <a:ext cx="219456" cy="219456"/>
          </a:xfrm>
          <a:prstGeom prst="rect">
            <a:avLst/>
          </a:prstGeom>
        </p:spPr>
      </p:pic>
      <p:pic>
        <p:nvPicPr>
          <p:cNvPr id="63" name="Picture 62" descr=""/>
          <p:cNvPicPr>
            <a:picLocks noChangeAspect="1"/>
          </p:cNvPicPr>
          <p:nvPr/>
        </p:nvPicPr>
        <p:blipFill>
          <a:blip r:embed="rId3"/>
          <a:stretch>
            <a:fillRect/>
          </a:stretch>
        </p:blipFill>
        <p:spPr>
          <a:xfrm>
            <a:off x="6885432" y="3931920"/>
            <a:ext cx="219456" cy="219456"/>
          </a:xfrm>
          <a:prstGeom prst="rect">
            <a:avLst/>
          </a:prstGeom>
        </p:spPr>
      </p:pic>
      <p:sp>
        <p:nvSpPr>
          <p:cNvPr id="64" name="Rounded Rectangle 63"/>
          <p:cNvSpPr/>
          <p:nvPr/>
        </p:nvSpPr>
        <p:spPr>
          <a:xfrm>
            <a:off x="7543800" y="3986784"/>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5" name="Rounded Rectangle 64"/>
          <p:cNvSpPr/>
          <p:nvPr/>
        </p:nvSpPr>
        <p:spPr>
          <a:xfrm>
            <a:off x="7543800" y="3986784"/>
            <a:ext cx="217169"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6" name="TextBox 65"/>
          <p:cNvSpPr txBox="1"/>
          <p:nvPr/>
        </p:nvSpPr>
        <p:spPr>
          <a:xfrm>
            <a:off x="8412480" y="3895344"/>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1.5/6</a:t>
            </a:r>
          </a:p>
        </p:txBody>
      </p:sp>
      <p:sp>
        <p:nvSpPr>
          <p:cNvPr id="67" name="Rounded Rectangle 66"/>
          <p:cNvSpPr/>
          <p:nvPr/>
        </p:nvSpPr>
        <p:spPr>
          <a:xfrm>
            <a:off x="228600" y="4224528"/>
            <a:ext cx="8686800" cy="292608"/>
          </a:xfrm>
          <a:prstGeom prst="roundRect">
            <a:avLst>
              <a:gd name="adj" fmla="val 20000"/>
            </a:avLst>
          </a:prstGeom>
          <a:solidFill>
            <a:srgbClr val="FFFFFF"/>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8" name="TextBox 67"/>
          <p:cNvSpPr txBox="1"/>
          <p:nvPr/>
        </p:nvSpPr>
        <p:spPr>
          <a:xfrm>
            <a:off x="292608" y="4224528"/>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Abdullahi et al. [5]</a:t>
            </a:r>
            <a:r>
              <a:rPr sz="950" b="0" i="0">
                <a:solidFill>
                  <a:srgbClr val="595959"/>
                </a:solidFill>
                <a:latin typeface="Times New Roman"/>
              </a:rPr>
              <a:t>  2024</a:t>
            </a:r>
          </a:p>
        </p:txBody>
      </p:sp>
      <p:pic>
        <p:nvPicPr>
          <p:cNvPr id="69" name="Picture 68" descr=""/>
          <p:cNvPicPr>
            <a:picLocks noChangeAspect="1"/>
          </p:cNvPicPr>
          <p:nvPr/>
        </p:nvPicPr>
        <p:blipFill>
          <a:blip r:embed="rId2"/>
          <a:stretch>
            <a:fillRect/>
          </a:stretch>
        </p:blipFill>
        <p:spPr>
          <a:xfrm>
            <a:off x="2542032" y="4261104"/>
            <a:ext cx="219456" cy="219456"/>
          </a:xfrm>
          <a:prstGeom prst="rect">
            <a:avLst/>
          </a:prstGeom>
        </p:spPr>
      </p:pic>
      <p:pic>
        <p:nvPicPr>
          <p:cNvPr id="70" name="Picture 69" descr=""/>
          <p:cNvPicPr>
            <a:picLocks noChangeAspect="1"/>
          </p:cNvPicPr>
          <p:nvPr/>
        </p:nvPicPr>
        <p:blipFill>
          <a:blip r:embed="rId4"/>
          <a:stretch>
            <a:fillRect/>
          </a:stretch>
        </p:blipFill>
        <p:spPr>
          <a:xfrm>
            <a:off x="3410712" y="4261104"/>
            <a:ext cx="219456" cy="219456"/>
          </a:xfrm>
          <a:prstGeom prst="rect">
            <a:avLst/>
          </a:prstGeom>
        </p:spPr>
      </p:pic>
      <p:pic>
        <p:nvPicPr>
          <p:cNvPr id="71" name="Picture 70" descr=""/>
          <p:cNvPicPr>
            <a:picLocks noChangeAspect="1"/>
          </p:cNvPicPr>
          <p:nvPr/>
        </p:nvPicPr>
        <p:blipFill>
          <a:blip r:embed="rId2"/>
          <a:stretch>
            <a:fillRect/>
          </a:stretch>
        </p:blipFill>
        <p:spPr>
          <a:xfrm>
            <a:off x="4279392" y="4261104"/>
            <a:ext cx="219456" cy="219456"/>
          </a:xfrm>
          <a:prstGeom prst="rect">
            <a:avLst/>
          </a:prstGeom>
        </p:spPr>
      </p:pic>
      <p:pic>
        <p:nvPicPr>
          <p:cNvPr id="72" name="Picture 71" descr=""/>
          <p:cNvPicPr>
            <a:picLocks noChangeAspect="1"/>
          </p:cNvPicPr>
          <p:nvPr/>
        </p:nvPicPr>
        <p:blipFill>
          <a:blip r:embed="rId4"/>
          <a:stretch>
            <a:fillRect/>
          </a:stretch>
        </p:blipFill>
        <p:spPr>
          <a:xfrm>
            <a:off x="5148072" y="4261104"/>
            <a:ext cx="219456" cy="219456"/>
          </a:xfrm>
          <a:prstGeom prst="rect">
            <a:avLst/>
          </a:prstGeom>
        </p:spPr>
      </p:pic>
      <p:pic>
        <p:nvPicPr>
          <p:cNvPr id="73" name="Picture 72" descr=""/>
          <p:cNvPicPr>
            <a:picLocks noChangeAspect="1"/>
          </p:cNvPicPr>
          <p:nvPr/>
        </p:nvPicPr>
        <p:blipFill>
          <a:blip r:embed="rId3"/>
          <a:stretch>
            <a:fillRect/>
          </a:stretch>
        </p:blipFill>
        <p:spPr>
          <a:xfrm>
            <a:off x="6016752" y="4261104"/>
            <a:ext cx="219456" cy="219456"/>
          </a:xfrm>
          <a:prstGeom prst="rect">
            <a:avLst/>
          </a:prstGeom>
        </p:spPr>
      </p:pic>
      <p:pic>
        <p:nvPicPr>
          <p:cNvPr id="74" name="Picture 73" descr=""/>
          <p:cNvPicPr>
            <a:picLocks noChangeAspect="1"/>
          </p:cNvPicPr>
          <p:nvPr/>
        </p:nvPicPr>
        <p:blipFill>
          <a:blip r:embed="rId3"/>
          <a:stretch>
            <a:fillRect/>
          </a:stretch>
        </p:blipFill>
        <p:spPr>
          <a:xfrm>
            <a:off x="6885432" y="4261104"/>
            <a:ext cx="219456" cy="219456"/>
          </a:xfrm>
          <a:prstGeom prst="rect">
            <a:avLst/>
          </a:prstGeom>
        </p:spPr>
      </p:pic>
      <p:sp>
        <p:nvSpPr>
          <p:cNvPr id="75" name="Rounded Rectangle 74"/>
          <p:cNvSpPr/>
          <p:nvPr/>
        </p:nvSpPr>
        <p:spPr>
          <a:xfrm>
            <a:off x="7543800" y="4315968"/>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76" name="Rounded Rectangle 75"/>
          <p:cNvSpPr/>
          <p:nvPr/>
        </p:nvSpPr>
        <p:spPr>
          <a:xfrm>
            <a:off x="7543800" y="4315968"/>
            <a:ext cx="434339"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77" name="TextBox 76"/>
          <p:cNvSpPr txBox="1"/>
          <p:nvPr/>
        </p:nvSpPr>
        <p:spPr>
          <a:xfrm>
            <a:off x="8412480" y="4224528"/>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3/6</a:t>
            </a:r>
          </a:p>
        </p:txBody>
      </p:sp>
      <p:sp>
        <p:nvSpPr>
          <p:cNvPr id="78" name="Rounded Rectangle 77"/>
          <p:cNvSpPr/>
          <p:nvPr/>
        </p:nvSpPr>
        <p:spPr>
          <a:xfrm>
            <a:off x="228600" y="4553711"/>
            <a:ext cx="8686800" cy="292608"/>
          </a:xfrm>
          <a:prstGeom prst="roundRect">
            <a:avLst>
              <a:gd name="adj" fmla="val 20000"/>
            </a:avLst>
          </a:prstGeom>
          <a:solidFill>
            <a:srgbClr val="F7F7F7"/>
          </a:solidFill>
          <a:ln w="6350">
            <a:solidFill>
              <a:srgbClr val="E6E6E6"/>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79" name="TextBox 78"/>
          <p:cNvSpPr txBox="1"/>
          <p:nvPr/>
        </p:nvSpPr>
        <p:spPr>
          <a:xfrm>
            <a:off x="292608" y="4553711"/>
            <a:ext cx="1920240" cy="292608"/>
          </a:xfrm>
          <a:prstGeom prst="rect">
            <a:avLst/>
          </a:prstGeom>
          <a:noFill/>
        </p:spPr>
        <p:txBody>
          <a:bodyPr wrap="square" lIns="45720" tIns="27432" rIns="45720" bIns="27432" anchor="ctr">
            <a:noAutofit/>
          </a:bodyPr>
          <a:lstStyle/>
          <a:p>
            <a:pPr algn="l"/>
            <a:r>
              <a:rPr sz="1100" b="1" i="0">
                <a:solidFill>
                  <a:srgbClr val="1F1F1F"/>
                </a:solidFill>
                <a:latin typeface="Times New Roman"/>
              </a:rPr>
              <a:t>MACD [10]</a:t>
            </a:r>
            <a:r>
              <a:rPr sz="950" b="0" i="0">
                <a:solidFill>
                  <a:srgbClr val="595959"/>
                </a:solidFill>
                <a:latin typeface="Times New Roman"/>
              </a:rPr>
              <a:t>  2025</a:t>
            </a:r>
          </a:p>
        </p:txBody>
      </p:sp>
      <p:pic>
        <p:nvPicPr>
          <p:cNvPr id="80" name="Picture 79" descr=""/>
          <p:cNvPicPr>
            <a:picLocks noChangeAspect="1"/>
          </p:cNvPicPr>
          <p:nvPr/>
        </p:nvPicPr>
        <p:blipFill>
          <a:blip r:embed="rId4"/>
          <a:stretch>
            <a:fillRect/>
          </a:stretch>
        </p:blipFill>
        <p:spPr>
          <a:xfrm>
            <a:off x="2542032" y="4590287"/>
            <a:ext cx="219456" cy="219456"/>
          </a:xfrm>
          <a:prstGeom prst="rect">
            <a:avLst/>
          </a:prstGeom>
        </p:spPr>
      </p:pic>
      <p:pic>
        <p:nvPicPr>
          <p:cNvPr id="81" name="Picture 80" descr=""/>
          <p:cNvPicPr>
            <a:picLocks noChangeAspect="1"/>
          </p:cNvPicPr>
          <p:nvPr/>
        </p:nvPicPr>
        <p:blipFill>
          <a:blip r:embed="rId4"/>
          <a:stretch>
            <a:fillRect/>
          </a:stretch>
        </p:blipFill>
        <p:spPr>
          <a:xfrm>
            <a:off x="3410712" y="4590287"/>
            <a:ext cx="219456" cy="219456"/>
          </a:xfrm>
          <a:prstGeom prst="rect">
            <a:avLst/>
          </a:prstGeom>
        </p:spPr>
      </p:pic>
      <p:pic>
        <p:nvPicPr>
          <p:cNvPr id="82" name="Picture 81" descr=""/>
          <p:cNvPicPr>
            <a:picLocks noChangeAspect="1"/>
          </p:cNvPicPr>
          <p:nvPr/>
        </p:nvPicPr>
        <p:blipFill>
          <a:blip r:embed="rId3"/>
          <a:stretch>
            <a:fillRect/>
          </a:stretch>
        </p:blipFill>
        <p:spPr>
          <a:xfrm>
            <a:off x="4279392" y="4590287"/>
            <a:ext cx="219456" cy="219456"/>
          </a:xfrm>
          <a:prstGeom prst="rect">
            <a:avLst/>
          </a:prstGeom>
        </p:spPr>
      </p:pic>
      <p:pic>
        <p:nvPicPr>
          <p:cNvPr id="83" name="Picture 82" descr=""/>
          <p:cNvPicPr>
            <a:picLocks noChangeAspect="1"/>
          </p:cNvPicPr>
          <p:nvPr/>
        </p:nvPicPr>
        <p:blipFill>
          <a:blip r:embed="rId4"/>
          <a:stretch>
            <a:fillRect/>
          </a:stretch>
        </p:blipFill>
        <p:spPr>
          <a:xfrm>
            <a:off x="5148072" y="4590287"/>
            <a:ext cx="219456" cy="219456"/>
          </a:xfrm>
          <a:prstGeom prst="rect">
            <a:avLst/>
          </a:prstGeom>
        </p:spPr>
      </p:pic>
      <p:pic>
        <p:nvPicPr>
          <p:cNvPr id="84" name="Picture 83" descr=""/>
          <p:cNvPicPr>
            <a:picLocks noChangeAspect="1"/>
          </p:cNvPicPr>
          <p:nvPr/>
        </p:nvPicPr>
        <p:blipFill>
          <a:blip r:embed="rId4"/>
          <a:stretch>
            <a:fillRect/>
          </a:stretch>
        </p:blipFill>
        <p:spPr>
          <a:xfrm>
            <a:off x="6016752" y="4590287"/>
            <a:ext cx="219456" cy="219456"/>
          </a:xfrm>
          <a:prstGeom prst="rect">
            <a:avLst/>
          </a:prstGeom>
        </p:spPr>
      </p:pic>
      <p:pic>
        <p:nvPicPr>
          <p:cNvPr id="85" name="Picture 84" descr=""/>
          <p:cNvPicPr>
            <a:picLocks noChangeAspect="1"/>
          </p:cNvPicPr>
          <p:nvPr/>
        </p:nvPicPr>
        <p:blipFill>
          <a:blip r:embed="rId4"/>
          <a:stretch>
            <a:fillRect/>
          </a:stretch>
        </p:blipFill>
        <p:spPr>
          <a:xfrm>
            <a:off x="6885432" y="4590287"/>
            <a:ext cx="219456" cy="219456"/>
          </a:xfrm>
          <a:prstGeom prst="rect">
            <a:avLst/>
          </a:prstGeom>
        </p:spPr>
      </p:pic>
      <p:sp>
        <p:nvSpPr>
          <p:cNvPr id="86" name="Rounded Rectangle 85"/>
          <p:cNvSpPr/>
          <p:nvPr/>
        </p:nvSpPr>
        <p:spPr>
          <a:xfrm>
            <a:off x="7543800" y="4645151"/>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7" name="Rounded Rectangle 86"/>
          <p:cNvSpPr/>
          <p:nvPr/>
        </p:nvSpPr>
        <p:spPr>
          <a:xfrm>
            <a:off x="7543800" y="4645151"/>
            <a:ext cx="73152" cy="109728"/>
          </a:xfrm>
          <a:prstGeom prst="roundRect">
            <a:avLst>
              <a:gd name="adj" fmla="val 50000"/>
            </a:avLst>
          </a:prstGeom>
          <a:solidFill>
            <a:srgbClr val="8C8C8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88" name="TextBox 87"/>
          <p:cNvSpPr txBox="1"/>
          <p:nvPr/>
        </p:nvSpPr>
        <p:spPr>
          <a:xfrm>
            <a:off x="8412480" y="4553711"/>
            <a:ext cx="502920" cy="292608"/>
          </a:xfrm>
          <a:prstGeom prst="rect">
            <a:avLst/>
          </a:prstGeom>
          <a:noFill/>
        </p:spPr>
        <p:txBody>
          <a:bodyPr wrap="square" lIns="0" tIns="0" rIns="0" bIns="0" anchor="ctr">
            <a:noAutofit/>
          </a:bodyPr>
          <a:lstStyle/>
          <a:p>
            <a:pPr algn="ctr"/>
            <a:r>
              <a:rPr sz="1000" b="1" i="0">
                <a:solidFill>
                  <a:srgbClr val="404040"/>
                </a:solidFill>
                <a:latin typeface="Times New Roman"/>
              </a:rPr>
              <a:t>0.5/6</a:t>
            </a:r>
          </a:p>
        </p:txBody>
      </p:sp>
      <p:sp>
        <p:nvSpPr>
          <p:cNvPr id="89" name="Rounded Rectangle 88"/>
          <p:cNvSpPr/>
          <p:nvPr/>
        </p:nvSpPr>
        <p:spPr>
          <a:xfrm>
            <a:off x="228600" y="4882896"/>
            <a:ext cx="8686800" cy="292608"/>
          </a:xfrm>
          <a:prstGeom prst="roundRect">
            <a:avLst>
              <a:gd name="adj" fmla="val 20000"/>
            </a:avLst>
          </a:prstGeom>
          <a:solidFill>
            <a:srgbClr val="F3D3D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90" name="TextBox 89"/>
          <p:cNvSpPr txBox="1"/>
          <p:nvPr/>
        </p:nvSpPr>
        <p:spPr>
          <a:xfrm>
            <a:off x="292608" y="4882896"/>
            <a:ext cx="1920240" cy="292608"/>
          </a:xfrm>
          <a:prstGeom prst="rect">
            <a:avLst/>
          </a:prstGeom>
          <a:noFill/>
        </p:spPr>
        <p:txBody>
          <a:bodyPr wrap="square" lIns="45720" tIns="27432" rIns="45720" bIns="27432" anchor="ctr">
            <a:noAutofit/>
          </a:bodyPr>
          <a:lstStyle/>
          <a:p>
            <a:pPr algn="l"/>
            <a:r>
              <a:rPr sz="1100" b="1" i="0">
                <a:solidFill>
                  <a:srgbClr val="8B0000"/>
                </a:solidFill>
                <a:latin typeface="Times New Roman"/>
              </a:rPr>
              <a:t>MedIntel (ours)</a:t>
            </a:r>
            <a:r>
              <a:rPr sz="950" b="0" i="0">
                <a:solidFill>
                  <a:srgbClr val="595959"/>
                </a:solidFill>
                <a:latin typeface="Times New Roman"/>
              </a:rPr>
              <a:t/>
            </a:r>
          </a:p>
        </p:txBody>
      </p:sp>
      <p:pic>
        <p:nvPicPr>
          <p:cNvPr id="91" name="Picture 90" descr=""/>
          <p:cNvPicPr>
            <a:picLocks noChangeAspect="1"/>
          </p:cNvPicPr>
          <p:nvPr/>
        </p:nvPicPr>
        <p:blipFill>
          <a:blip r:embed="rId2"/>
          <a:stretch>
            <a:fillRect/>
          </a:stretch>
        </p:blipFill>
        <p:spPr>
          <a:xfrm>
            <a:off x="2542032" y="4919472"/>
            <a:ext cx="219456" cy="219456"/>
          </a:xfrm>
          <a:prstGeom prst="rect">
            <a:avLst/>
          </a:prstGeom>
        </p:spPr>
      </p:pic>
      <p:pic>
        <p:nvPicPr>
          <p:cNvPr id="92" name="Picture 91" descr=""/>
          <p:cNvPicPr>
            <a:picLocks noChangeAspect="1"/>
          </p:cNvPicPr>
          <p:nvPr/>
        </p:nvPicPr>
        <p:blipFill>
          <a:blip r:embed="rId2"/>
          <a:stretch>
            <a:fillRect/>
          </a:stretch>
        </p:blipFill>
        <p:spPr>
          <a:xfrm>
            <a:off x="3410712" y="4919472"/>
            <a:ext cx="219456" cy="219456"/>
          </a:xfrm>
          <a:prstGeom prst="rect">
            <a:avLst/>
          </a:prstGeom>
        </p:spPr>
      </p:pic>
      <p:pic>
        <p:nvPicPr>
          <p:cNvPr id="93" name="Picture 92" descr=""/>
          <p:cNvPicPr>
            <a:picLocks noChangeAspect="1"/>
          </p:cNvPicPr>
          <p:nvPr/>
        </p:nvPicPr>
        <p:blipFill>
          <a:blip r:embed="rId2"/>
          <a:stretch>
            <a:fillRect/>
          </a:stretch>
        </p:blipFill>
        <p:spPr>
          <a:xfrm>
            <a:off x="4279392" y="4919472"/>
            <a:ext cx="219456" cy="219456"/>
          </a:xfrm>
          <a:prstGeom prst="rect">
            <a:avLst/>
          </a:prstGeom>
        </p:spPr>
      </p:pic>
      <p:pic>
        <p:nvPicPr>
          <p:cNvPr id="94" name="Picture 93" descr=""/>
          <p:cNvPicPr>
            <a:picLocks noChangeAspect="1"/>
          </p:cNvPicPr>
          <p:nvPr/>
        </p:nvPicPr>
        <p:blipFill>
          <a:blip r:embed="rId2"/>
          <a:stretch>
            <a:fillRect/>
          </a:stretch>
        </p:blipFill>
        <p:spPr>
          <a:xfrm>
            <a:off x="5148072" y="4919472"/>
            <a:ext cx="219456" cy="219456"/>
          </a:xfrm>
          <a:prstGeom prst="rect">
            <a:avLst/>
          </a:prstGeom>
        </p:spPr>
      </p:pic>
      <p:pic>
        <p:nvPicPr>
          <p:cNvPr id="95" name="Picture 94" descr=""/>
          <p:cNvPicPr>
            <a:picLocks noChangeAspect="1"/>
          </p:cNvPicPr>
          <p:nvPr/>
        </p:nvPicPr>
        <p:blipFill>
          <a:blip r:embed="rId2"/>
          <a:stretch>
            <a:fillRect/>
          </a:stretch>
        </p:blipFill>
        <p:spPr>
          <a:xfrm>
            <a:off x="6016752" y="4919472"/>
            <a:ext cx="219456" cy="219456"/>
          </a:xfrm>
          <a:prstGeom prst="rect">
            <a:avLst/>
          </a:prstGeom>
        </p:spPr>
      </p:pic>
      <p:pic>
        <p:nvPicPr>
          <p:cNvPr id="96" name="Picture 95" descr=""/>
          <p:cNvPicPr>
            <a:picLocks noChangeAspect="1"/>
          </p:cNvPicPr>
          <p:nvPr/>
        </p:nvPicPr>
        <p:blipFill>
          <a:blip r:embed="rId2"/>
          <a:stretch>
            <a:fillRect/>
          </a:stretch>
        </p:blipFill>
        <p:spPr>
          <a:xfrm>
            <a:off x="6885432" y="4919472"/>
            <a:ext cx="219456" cy="219456"/>
          </a:xfrm>
          <a:prstGeom prst="rect">
            <a:avLst/>
          </a:prstGeom>
        </p:spPr>
      </p:pic>
      <p:sp>
        <p:nvSpPr>
          <p:cNvPr id="97" name="Rounded Rectangle 96"/>
          <p:cNvSpPr/>
          <p:nvPr/>
        </p:nvSpPr>
        <p:spPr>
          <a:xfrm>
            <a:off x="7543800" y="4974336"/>
            <a:ext cx="868680" cy="109728"/>
          </a:xfrm>
          <a:prstGeom prst="roundRect">
            <a:avLst>
              <a:gd name="adj" fmla="val 50000"/>
            </a:avLst>
          </a:prstGeom>
          <a:solidFill>
            <a:srgbClr val="E3E3E3"/>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98" name="Rounded Rectangle 97"/>
          <p:cNvSpPr/>
          <p:nvPr/>
        </p:nvSpPr>
        <p:spPr>
          <a:xfrm>
            <a:off x="7543800" y="4974336"/>
            <a:ext cx="868679" cy="109728"/>
          </a:xfrm>
          <a:prstGeom prst="roundRect">
            <a:avLst>
              <a:gd name="adj" fmla="val 5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99" name="TextBox 98"/>
          <p:cNvSpPr txBox="1"/>
          <p:nvPr/>
        </p:nvSpPr>
        <p:spPr>
          <a:xfrm>
            <a:off x="8412480" y="4882896"/>
            <a:ext cx="502920" cy="292608"/>
          </a:xfrm>
          <a:prstGeom prst="rect">
            <a:avLst/>
          </a:prstGeom>
          <a:noFill/>
        </p:spPr>
        <p:txBody>
          <a:bodyPr wrap="square" lIns="0" tIns="0" rIns="0" bIns="0" anchor="ctr">
            <a:noAutofit/>
          </a:bodyPr>
          <a:lstStyle/>
          <a:p>
            <a:pPr algn="ctr"/>
            <a:r>
              <a:rPr sz="1000" b="1" i="0">
                <a:solidFill>
                  <a:srgbClr val="8B0000"/>
                </a:solidFill>
                <a:latin typeface="Times New Roman"/>
              </a:rPr>
              <a:t>6/6</a:t>
            </a:r>
          </a:p>
        </p:txBody>
      </p:sp>
      <p:sp>
        <p:nvSpPr>
          <p:cNvPr id="100" name="Rounded Rectangle 99"/>
          <p:cNvSpPr/>
          <p:nvPr/>
        </p:nvSpPr>
        <p:spPr>
          <a:xfrm>
            <a:off x="228600" y="5230368"/>
            <a:ext cx="8686800" cy="420624"/>
          </a:xfrm>
          <a:prstGeom prst="roundRect">
            <a:avLst>
              <a:gd name="adj" fmla="val 18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01" name="Oval 100"/>
          <p:cNvSpPr/>
          <p:nvPr/>
        </p:nvSpPr>
        <p:spPr>
          <a:xfrm>
            <a:off x="457199" y="5285232"/>
            <a:ext cx="310896" cy="310896"/>
          </a:xfrm>
          <a:prstGeom prst="ellipse">
            <a:avLst/>
          </a:prstGeom>
          <a:solidFill>
            <a:srgbClr val="FFFFFF"/>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02" name="Picture 101" descr=""/>
          <p:cNvPicPr>
            <a:picLocks noChangeAspect="1"/>
          </p:cNvPicPr>
          <p:nvPr/>
        </p:nvPicPr>
        <p:blipFill>
          <a:blip r:embed="rId5"/>
          <a:stretch>
            <a:fillRect/>
          </a:stretch>
        </p:blipFill>
        <p:spPr>
          <a:xfrm>
            <a:off x="525597" y="5353629"/>
            <a:ext cx="174101" cy="174101"/>
          </a:xfrm>
          <a:prstGeom prst="rect">
            <a:avLst/>
          </a:prstGeom>
        </p:spPr>
      </p:pic>
      <p:sp>
        <p:nvSpPr>
          <p:cNvPr id="103" name="TextBox 102"/>
          <p:cNvSpPr txBox="1"/>
          <p:nvPr/>
        </p:nvSpPr>
        <p:spPr>
          <a:xfrm>
            <a:off x="914400" y="5230368"/>
            <a:ext cx="7863840" cy="420624"/>
          </a:xfrm>
          <a:prstGeom prst="rect">
            <a:avLst/>
          </a:prstGeom>
          <a:noFill/>
        </p:spPr>
        <p:txBody>
          <a:bodyPr wrap="square" lIns="45720" tIns="27432" rIns="45720" bIns="27432" anchor="ctr">
            <a:noAutofit/>
          </a:bodyPr>
          <a:lstStyle/>
          <a:p>
            <a:pPr algn="l"/>
            <a:r>
              <a:rPr sz="1100" b="0" i="0">
                <a:solidFill>
                  <a:srgbClr val="FFFFFF"/>
                </a:solidFill>
                <a:latin typeface="Times New Roman"/>
              </a:rPr>
              <a:t>No surveyed system combines M, R, K and D with an explicit confidence score and a per-patient audit trail. MedIntel's equation C = αM + βR + γK − λD is built to close this gap.</a:t>
            </a:r>
          </a:p>
        </p:txBody>
      </p:sp>
      <p:sp>
        <p:nvSpPr>
          <p:cNvPr id="104" name="TextBox 103"/>
          <p:cNvSpPr txBox="1"/>
          <p:nvPr/>
        </p:nvSpPr>
        <p:spPr>
          <a:xfrm>
            <a:off x="228600" y="5687568"/>
            <a:ext cx="8686800" cy="256032"/>
          </a:xfrm>
          <a:prstGeom prst="rect">
            <a:avLst/>
          </a:prstGeom>
          <a:noFill/>
        </p:spPr>
        <p:txBody>
          <a:bodyPr wrap="square" lIns="45720" tIns="27432" rIns="45720" bIns="27432" anchor="ctr">
            <a:noAutofit/>
          </a:bodyPr>
          <a:lstStyle/>
          <a:p>
            <a:pPr algn="ctr"/>
            <a:r>
              <a:rPr sz="1050" b="1" i="1">
                <a:solidFill>
                  <a:srgbClr val="404040"/>
                </a:solidFill>
                <a:latin typeface="Times New Roman"/>
              </a:rPr>
              <a:t>Fig. 1.7: </a:t>
            </a:r>
            <a:r>
              <a:rPr sz="1050" b="0" i="1">
                <a:solidFill>
                  <a:srgbClr val="595959"/>
                </a:solidFill>
                <a:latin typeface="Times New Roman"/>
              </a:rPr>
              <a:t>Research gap matrix: model terms covered by each surveyed system (our assessment of [1]–[5], [10])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11. Comparison with Existing Work</a:t>
            </a:r>
          </a:p>
        </p:txBody>
      </p:sp>
      <p:cxnSp>
        <p:nvCxnSpPr>
          <p:cNvPr id="6" name="Connector 5"/>
          <p:cNvCxnSpPr/>
          <p:nvPr/>
        </p:nvCxnSpPr>
        <p:spPr>
          <a:xfrm>
            <a:off x="182880" y="1664208"/>
            <a:ext cx="8778240" cy="0"/>
          </a:xfrm>
          <a:prstGeom prst="line">
            <a:avLst/>
          </a:prstGeom>
          <a:ln w="12700">
            <a:solidFill>
              <a:srgbClr val="8B0000"/>
            </a:solidFill>
          </a:ln>
        </p:spPr>
      </p:cxnSp>
      <p:graphicFrame>
        <p:nvGraphicFramePr>
          <p:cNvPr id="7" name="Comparison table"/>
          <p:cNvGraphicFramePr>
            <a:graphicFrameLocks noGrp="1"/>
          </p:cNvGraphicFramePr>
          <p:nvPr/>
        </p:nvGraphicFramePr>
        <p:xfrm>
          <a:off x="228600" y="1783080"/>
          <a:ext cx="5212080" cy="3529584"/>
        </p:xfrm>
        <a:graphic>
          <a:graphicData uri="http://schemas.openxmlformats.org/drawingml/2006/table">
            <a:tbl>
              <a:tblPr firstRow="1" bandRow="1">
                <a:tableStyleId>{5C22544A-7EE6-4342-B048-85BDC9FD1C3A}</a:tableStyleId>
              </a:tblPr>
              <a:tblGrid>
                <a:gridCol w="1417320"/>
                <a:gridCol w="2011680"/>
                <a:gridCol w="1783080"/>
              </a:tblGrid>
              <a:tr h="329184">
                <a:tc>
                  <a:txBody>
                    <a:bodyPr wrap="square" lIns="64008" tIns="18288" rIns="64008" bIns="18288" anchor="ctr">
                      <a:noAutofit/>
                    </a:bodyPr>
                    <a:lstStyle/>
                    <a:p>
                      <a:pPr algn="l"/>
                      <a:r>
                        <a:rPr sz="1200" b="1" i="0">
                          <a:solidFill>
                            <a:srgbClr val="FFFFFF"/>
                          </a:solidFill>
                          <a:latin typeface="Times New Roman"/>
                        </a:rPr>
                        <a:t>Work</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Dataset / benchmark</a:t>
                      </a:r>
                    </a:p>
                  </a:txBody>
                  <a:tcPr>
                    <a:lnL w="0">
                      <a:noFill/>
                    </a:lnL>
                    <a:lnR w="0">
                      <a:noFill/>
                    </a:lnR>
                    <a:lnT w="0">
                      <a:noFill/>
                    </a:lnT>
                    <a:lnB w="0">
                      <a:noFill/>
                    </a:lnB>
                    <a:solidFill>
                      <a:srgbClr val="8B0000"/>
                    </a:solidFill>
                  </a:tcPr>
                </a:tc>
                <a:tc>
                  <a:txBody>
                    <a:bodyPr wrap="square" lIns="64008" tIns="18288" rIns="64008" bIns="18288" anchor="ctr">
                      <a:noAutofit/>
                    </a:bodyPr>
                    <a:lstStyle/>
                    <a:p>
                      <a:pPr algn="l"/>
                      <a:r>
                        <a:rPr sz="1200" b="1" i="0">
                          <a:solidFill>
                            <a:srgbClr val="FFFFFF"/>
                          </a:solidFill>
                          <a:latin typeface="Times New Roman"/>
                        </a:rPr>
                        <a:t>Reported result</a:t>
                      </a:r>
                    </a:p>
                  </a:txBody>
                  <a:tcPr>
                    <a:lnL w="0">
                      <a:noFill/>
                    </a:lnL>
                    <a:lnR w="0">
                      <a:noFill/>
                    </a:lnR>
                    <a:lnT w="0">
                      <a:noFill/>
                    </a:lnT>
                    <a:lnB w="0">
                      <a:noFill/>
                    </a:lnB>
                    <a:solidFill>
                      <a:srgbClr val="8B0000"/>
                    </a:solidFill>
                  </a:tcPr>
                </a:tc>
              </a:tr>
              <a:tr h="457200">
                <a:tc>
                  <a:txBody>
                    <a:bodyPr wrap="square" lIns="64008" tIns="18288" rIns="64008" bIns="18288" anchor="ctr">
                      <a:noAutofit/>
                    </a:bodyPr>
                    <a:lstStyle/>
                    <a:p>
                      <a:pPr algn="l"/>
                      <a:r>
                        <a:rPr sz="1050" b="1" i="0">
                          <a:solidFill>
                            <a:srgbClr val="1F1F1F"/>
                          </a:solidFill>
                          <a:latin typeface="Times New Roman"/>
                        </a:rPr>
                        <a:t>Öğdü et al. [1]</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00" b="0" i="0">
                          <a:solidFill>
                            <a:srgbClr val="1F1F1F"/>
                          </a:solidFill>
                          <a:latin typeface="Times New Roman"/>
                        </a:rPr>
                        <a:t>MedQA, PubMedQA, MedBullets (50 questions each)</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1" i="0">
                          <a:solidFill>
                            <a:srgbClr val="1F1F1F"/>
                          </a:solidFill>
                          <a:latin typeface="Times New Roman"/>
                        </a:rPr>
                        <a:t>94% / 88% / 84% accuracy</a:t>
                      </a:r>
                    </a:p>
                  </a:txBody>
                  <a:tcPr>
                    <a:lnL w="0">
                      <a:noFill/>
                    </a:lnL>
                    <a:lnR w="0">
                      <a:noFill/>
                    </a:lnR>
                    <a:lnT w="0">
                      <a:noFill/>
                    </a:lnT>
                    <a:lnB w="9525">
                      <a:solidFill>
                        <a:srgbClr val="BFBFBF"/>
                      </a:solidFill>
                    </a:lnB>
                    <a:solidFill>
                      <a:srgbClr val="FFFFFF"/>
                    </a:solidFill>
                  </a:tcPr>
                </a:tc>
              </a:tr>
              <a:tr h="457200">
                <a:tc>
                  <a:txBody>
                    <a:bodyPr wrap="square" lIns="64008" tIns="18288" rIns="64008" bIns="18288" anchor="ctr">
                      <a:noAutofit/>
                    </a:bodyPr>
                    <a:lstStyle/>
                    <a:p>
                      <a:pPr algn="l"/>
                      <a:r>
                        <a:rPr sz="1050" b="1" i="0">
                          <a:solidFill>
                            <a:srgbClr val="1F1F1F"/>
                          </a:solidFill>
                          <a:latin typeface="Times New Roman"/>
                        </a:rPr>
                        <a:t>Tang et al. [2]</a:t>
                      </a:r>
                    </a:p>
                    <a:p>
                      <a:pPr algn="l"/>
                      <a:r>
                        <a:rPr sz="950" b="0" i="1">
                          <a:solidFill>
                            <a:srgbClr val="595959"/>
                          </a:solidFill>
                          <a:latin typeface="Times New Roman"/>
                        </a:rPr>
                        <a:t>MedAgents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00" b="0" i="0">
                          <a:solidFill>
                            <a:srgbClr val="1F1F1F"/>
                          </a:solidFill>
                          <a:latin typeface="Times New Roman"/>
                        </a:rPr>
                        <a:t>MedQA, zero-shot, GPT-4</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1" i="0">
                          <a:solidFill>
                            <a:srgbClr val="1F1F1F"/>
                          </a:solidFill>
                          <a:latin typeface="Times New Roman"/>
                        </a:rPr>
                        <a:t>83.7% accuracy</a:t>
                      </a:r>
                    </a:p>
                  </a:txBody>
                  <a:tcPr>
                    <a:lnL w="0">
                      <a:noFill/>
                    </a:lnL>
                    <a:lnR w="0">
                      <a:noFill/>
                    </a:lnR>
                    <a:lnT w="0">
                      <a:noFill/>
                    </a:lnT>
                    <a:lnB w="9525">
                      <a:solidFill>
                        <a:srgbClr val="BFBFBF"/>
                      </a:solidFill>
                    </a:lnB>
                    <a:solidFill>
                      <a:srgbClr val="FBF3F3"/>
                    </a:solidFill>
                  </a:tcPr>
                </a:tc>
              </a:tr>
              <a:tr h="457200">
                <a:tc>
                  <a:txBody>
                    <a:bodyPr wrap="square" lIns="64008" tIns="18288" rIns="64008" bIns="18288" anchor="ctr">
                      <a:noAutofit/>
                    </a:bodyPr>
                    <a:lstStyle/>
                    <a:p>
                      <a:pPr algn="l"/>
                      <a:r>
                        <a:rPr sz="1050" b="1" i="0">
                          <a:solidFill>
                            <a:srgbClr val="1F1F1F"/>
                          </a:solidFill>
                          <a:latin typeface="Times New Roman"/>
                        </a:rPr>
                        <a:t>Lu et al. [3]</a:t>
                      </a:r>
                    </a:p>
                    <a:p>
                      <a:pPr algn="l"/>
                      <a:r>
                        <a:rPr sz="950" b="0" i="1">
                          <a:solidFill>
                            <a:srgbClr val="595959"/>
                          </a:solidFill>
                          <a:latin typeface="Times New Roman"/>
                        </a:rPr>
                        <a:t>ClinicalRAG</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00" b="0" i="0">
                          <a:solidFill>
                            <a:srgbClr val="1F1F1F"/>
                          </a:solidFill>
                          <a:latin typeface="Times New Roman"/>
                        </a:rPr>
                        <a:t>Proof-of-concept study</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1" i="0">
                          <a:solidFill>
                            <a:srgbClr val="1F1F1F"/>
                          </a:solidFill>
                          <a:latin typeface="Times New Roman"/>
                        </a:rPr>
                        <a:t>No accuracy reported</a:t>
                      </a:r>
                    </a:p>
                  </a:txBody>
                  <a:tcPr>
                    <a:lnL w="0">
                      <a:noFill/>
                    </a:lnL>
                    <a:lnR w="0">
                      <a:noFill/>
                    </a:lnR>
                    <a:lnT w="0">
                      <a:noFill/>
                    </a:lnT>
                    <a:lnB w="9525">
                      <a:solidFill>
                        <a:srgbClr val="BFBFBF"/>
                      </a:solidFill>
                    </a:lnB>
                    <a:solidFill>
                      <a:srgbClr val="FFFFFF"/>
                    </a:solidFill>
                  </a:tcPr>
                </a:tc>
              </a:tr>
              <a:tr h="457200">
                <a:tc>
                  <a:txBody>
                    <a:bodyPr wrap="square" lIns="64008" tIns="18288" rIns="64008" bIns="18288" anchor="ctr">
                      <a:noAutofit/>
                    </a:bodyPr>
                    <a:lstStyle/>
                    <a:p>
                      <a:pPr algn="l"/>
                      <a:r>
                        <a:rPr sz="1050" b="1" i="0">
                          <a:solidFill>
                            <a:srgbClr val="1F1F1F"/>
                          </a:solidFill>
                          <a:latin typeface="Times New Roman"/>
                        </a:rPr>
                        <a:t>Zuo et al. [4]</a:t>
                      </a:r>
                    </a:p>
                    <a:p>
                      <a:pPr algn="l"/>
                      <a:r>
                        <a:rPr sz="950" b="0" i="1">
                          <a:solidFill>
                            <a:srgbClr val="595959"/>
                          </a:solidFill>
                          <a:latin typeface="Times New Roman"/>
                        </a:rPr>
                        <a:t>KG4Diagnosis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00" b="0" i="0">
                          <a:solidFill>
                            <a:srgbClr val="1F1F1F"/>
                          </a:solidFill>
                          <a:latin typeface="Times New Roman"/>
                        </a:rPr>
                        <a:t>Framework covering 362 diseases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1" i="0">
                          <a:solidFill>
                            <a:srgbClr val="1F1F1F"/>
                          </a:solidFill>
                          <a:latin typeface="Times New Roman"/>
                        </a:rPr>
                        <a:t>No accuracy reported</a:t>
                      </a:r>
                    </a:p>
                  </a:txBody>
                  <a:tcPr>
                    <a:lnL w="0">
                      <a:noFill/>
                    </a:lnL>
                    <a:lnR w="0">
                      <a:noFill/>
                    </a:lnR>
                    <a:lnT w="0">
                      <a:noFill/>
                    </a:lnT>
                    <a:lnB w="9525">
                      <a:solidFill>
                        <a:srgbClr val="BFBFBF"/>
                      </a:solidFill>
                    </a:lnB>
                    <a:solidFill>
                      <a:srgbClr val="FBF3F3"/>
                    </a:solidFill>
                  </a:tcPr>
                </a:tc>
              </a:tr>
              <a:tr h="457200">
                <a:tc>
                  <a:txBody>
                    <a:bodyPr wrap="square" lIns="64008" tIns="18288" rIns="64008" bIns="18288" anchor="ctr">
                      <a:noAutofit/>
                    </a:bodyPr>
                    <a:lstStyle/>
                    <a:p>
                      <a:pPr algn="l"/>
                      <a:r>
                        <a:rPr sz="1050" b="1" i="0">
                          <a:solidFill>
                            <a:srgbClr val="1F1F1F"/>
                          </a:solidFill>
                          <a:latin typeface="Times New Roman"/>
                        </a:rPr>
                        <a:t>Abdullahi et al. [5]</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00" b="0" i="0">
                          <a:solidFill>
                            <a:srgbClr val="1F1F1F"/>
                          </a:solidFill>
                          <a:latin typeface="Times New Roman"/>
                        </a:rPr>
                        <a:t>30 rare NEJM cases</a:t>
                      </a:r>
                    </a:p>
                  </a:txBody>
                  <a:tcPr>
                    <a:lnL w="0">
                      <a:noFill/>
                    </a:lnL>
                    <a:lnR w="0">
                      <a:noFill/>
                    </a:lnR>
                    <a:lnT w="0">
                      <a:noFill/>
                    </a:lnT>
                    <a:lnB w="9525">
                      <a:solidFill>
                        <a:srgbClr val="BFBFBF"/>
                      </a:solidFill>
                    </a:lnB>
                    <a:solidFill>
                      <a:srgbClr val="FFFFFF"/>
                    </a:solidFill>
                  </a:tcPr>
                </a:tc>
                <a:tc>
                  <a:txBody>
                    <a:bodyPr wrap="square" lIns="64008" tIns="18288" rIns="64008" bIns="18288" anchor="ctr">
                      <a:noAutofit/>
                    </a:bodyPr>
                    <a:lstStyle/>
                    <a:p>
                      <a:pPr algn="l"/>
                      <a:r>
                        <a:rPr sz="1050" b="1" i="0">
                          <a:solidFill>
                            <a:srgbClr val="1F1F1F"/>
                          </a:solidFill>
                          <a:latin typeface="Times New Roman"/>
                        </a:rPr>
                        <a:t>MRR 0.35 (ranking metric)</a:t>
                      </a:r>
                    </a:p>
                  </a:txBody>
                  <a:tcPr>
                    <a:lnL w="0">
                      <a:noFill/>
                    </a:lnL>
                    <a:lnR w="0">
                      <a:noFill/>
                    </a:lnR>
                    <a:lnT w="0">
                      <a:noFill/>
                    </a:lnT>
                    <a:lnB w="9525">
                      <a:solidFill>
                        <a:srgbClr val="BFBFBF"/>
                      </a:solidFill>
                    </a:lnB>
                    <a:solidFill>
                      <a:srgbClr val="FFFFFF"/>
                    </a:solidFill>
                  </a:tcPr>
                </a:tc>
              </a:tr>
              <a:tr h="457200">
                <a:tc>
                  <a:txBody>
                    <a:bodyPr wrap="square" lIns="64008" tIns="18288" rIns="64008" bIns="18288" anchor="ctr">
                      <a:noAutofit/>
                    </a:bodyPr>
                    <a:lstStyle/>
                    <a:p>
                      <a:pPr algn="l"/>
                      <a:r>
                        <a:rPr sz="1050" b="1" i="0">
                          <a:solidFill>
                            <a:srgbClr val="1F1F1F"/>
                          </a:solidFill>
                          <a:latin typeface="Times New Roman"/>
                        </a:rPr>
                        <a:t>Li et al. [10]</a:t>
                      </a:r>
                    </a:p>
                    <a:p>
                      <a:pPr algn="l"/>
                      <a:r>
                        <a:rPr sz="950" b="0" i="1">
                          <a:solidFill>
                            <a:srgbClr val="595959"/>
                          </a:solidFill>
                          <a:latin typeface="Times New Roman"/>
                        </a:rPr>
                        <a:t>MACD</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00" b="0" i="0">
                          <a:solidFill>
                            <a:srgbClr val="1F1F1F"/>
                          </a:solidFill>
                          <a:latin typeface="Times New Roman"/>
                        </a:rPr>
                        <a:t>4,390 real cases, 7 diseases</a:t>
                      </a:r>
                    </a:p>
                  </a:txBody>
                  <a:tcPr>
                    <a:lnL w="0">
                      <a:noFill/>
                    </a:lnL>
                    <a:lnR w="0">
                      <a:noFill/>
                    </a:lnR>
                    <a:lnT w="0">
                      <a:noFill/>
                    </a:lnT>
                    <a:lnB w="9525">
                      <a:solidFill>
                        <a:srgbClr val="BFBFBF"/>
                      </a:solidFill>
                    </a:lnB>
                    <a:solidFill>
                      <a:srgbClr val="FBF3F3"/>
                    </a:solidFill>
                  </a:tcPr>
                </a:tc>
                <a:tc>
                  <a:txBody>
                    <a:bodyPr wrap="square" lIns="64008" tIns="18288" rIns="64008" bIns="18288" anchor="ctr">
                      <a:noAutofit/>
                    </a:bodyPr>
                    <a:lstStyle/>
                    <a:p>
                      <a:pPr algn="l"/>
                      <a:r>
                        <a:rPr sz="1050" b="1" i="0">
                          <a:solidFill>
                            <a:srgbClr val="1F1F1F"/>
                          </a:solidFill>
                          <a:latin typeface="Times New Roman"/>
                        </a:rPr>
                        <a:t>Up to +22.3% accuracy over guidelines</a:t>
                      </a:r>
                    </a:p>
                  </a:txBody>
                  <a:tcPr>
                    <a:lnL w="0">
                      <a:noFill/>
                    </a:lnL>
                    <a:lnR w="0">
                      <a:noFill/>
                    </a:lnR>
                    <a:lnT w="0">
                      <a:noFill/>
                    </a:lnT>
                    <a:lnB w="9525">
                      <a:solidFill>
                        <a:srgbClr val="BFBFBF"/>
                      </a:solidFill>
                    </a:lnB>
                    <a:solidFill>
                      <a:srgbClr val="FBF3F3"/>
                    </a:solidFill>
                  </a:tcPr>
                </a:tc>
              </a:tr>
              <a:tr h="457200">
                <a:tc>
                  <a:txBody>
                    <a:bodyPr wrap="square" lIns="64008" tIns="18288" rIns="64008" bIns="18288" anchor="ctr">
                      <a:noAutofit/>
                    </a:bodyPr>
                    <a:lstStyle/>
                    <a:p>
                      <a:pPr algn="l"/>
                      <a:r>
                        <a:rPr sz="1050" b="1" i="0">
                          <a:solidFill>
                            <a:srgbClr val="8B0000"/>
                          </a:solidFill>
                          <a:latin typeface="Times New Roman"/>
                        </a:rPr>
                        <a:t>MedIntel (ours)</a:t>
                      </a:r>
                    </a:p>
                    <a:p>
                      <a:pPr algn="l"/>
                      <a:r>
                        <a:rPr sz="950" b="0" i="1">
                          <a:solidFill>
                            <a:srgbClr val="595959"/>
                          </a:solidFill>
                          <a:latin typeface="Times New Roman"/>
                        </a:rPr>
                        <a:t>ML-only baseline</a:t>
                      </a:r>
                    </a:p>
                  </a:txBody>
                  <a:tcPr>
                    <a:lnL w="0">
                      <a:noFill/>
                    </a:lnL>
                    <a:lnR w="0">
                      <a:noFill/>
                    </a:lnR>
                    <a:lnT w="0">
                      <a:noFill/>
                    </a:lnT>
                    <a:lnB w="9525">
                      <a:solidFill>
                        <a:srgbClr val="BFBFBF"/>
                      </a:solidFill>
                    </a:lnB>
                    <a:solidFill>
                      <a:srgbClr val="F3D3D3"/>
                    </a:solidFill>
                  </a:tcPr>
                </a:tc>
                <a:tc>
                  <a:txBody>
                    <a:bodyPr wrap="square" lIns="64008" tIns="18288" rIns="64008" bIns="18288" anchor="ctr">
                      <a:noAutofit/>
                    </a:bodyPr>
                    <a:lstStyle/>
                    <a:p>
                      <a:pPr algn="l"/>
                      <a:r>
                        <a:rPr sz="1000" b="0" i="0">
                          <a:solidFill>
                            <a:srgbClr val="1F1F1F"/>
                          </a:solidFill>
                          <a:latin typeface="Times New Roman"/>
                        </a:rPr>
                        <a:t>Cleveland Heart Disease [13], held-out test (n = 46)</a:t>
                      </a:r>
                    </a:p>
                  </a:txBody>
                  <a:tcPr>
                    <a:lnL w="0">
                      <a:noFill/>
                    </a:lnL>
                    <a:lnR w="0">
                      <a:noFill/>
                    </a:lnR>
                    <a:lnT w="0">
                      <a:noFill/>
                    </a:lnT>
                    <a:lnB w="9525">
                      <a:solidFill>
                        <a:srgbClr val="BFBFBF"/>
                      </a:solidFill>
                    </a:lnB>
                    <a:solidFill>
                      <a:srgbClr val="F3D3D3"/>
                    </a:solidFill>
                  </a:tcPr>
                </a:tc>
                <a:tc>
                  <a:txBody>
                    <a:bodyPr wrap="square" lIns="64008" tIns="18288" rIns="64008" bIns="18288" anchor="ctr">
                      <a:noAutofit/>
                    </a:bodyPr>
                    <a:lstStyle/>
                    <a:p>
                      <a:pPr algn="l"/>
                      <a:r>
                        <a:rPr sz="1050" b="1" i="0">
                          <a:solidFill>
                            <a:srgbClr val="8B0000"/>
                          </a:solidFill>
                          <a:latin typeface="Times New Roman"/>
                        </a:rPr>
                        <a:t>87.0% accuracy</a:t>
                      </a:r>
                    </a:p>
                  </a:txBody>
                  <a:tcPr>
                    <a:lnL w="0">
                      <a:noFill/>
                    </a:lnL>
                    <a:lnR w="0">
                      <a:noFill/>
                    </a:lnR>
                    <a:lnT w="0">
                      <a:noFill/>
                    </a:lnT>
                    <a:lnB w="9525">
                      <a:solidFill>
                        <a:srgbClr val="BFBFBF"/>
                      </a:solidFill>
                    </a:lnB>
                    <a:solidFill>
                      <a:srgbClr val="F3D3D3"/>
                    </a:solidFill>
                  </a:tcPr>
                </a:tc>
              </a:tr>
            </a:tbl>
          </a:graphicData>
        </a:graphic>
      </p:graphicFrame>
      <p:sp>
        <p:nvSpPr>
          <p:cNvPr id="8" name="TextBox 7"/>
          <p:cNvSpPr txBox="1"/>
          <p:nvPr/>
        </p:nvSpPr>
        <p:spPr>
          <a:xfrm>
            <a:off x="228600" y="5330952"/>
            <a:ext cx="5212080" cy="256032"/>
          </a:xfrm>
          <a:prstGeom prst="rect">
            <a:avLst/>
          </a:prstGeom>
          <a:noFill/>
        </p:spPr>
        <p:txBody>
          <a:bodyPr wrap="square" lIns="45720" tIns="27432" rIns="45720" bIns="27432" anchor="ctr">
            <a:noAutofit/>
          </a:bodyPr>
          <a:lstStyle/>
          <a:p>
            <a:pPr algn="ctr"/>
            <a:r>
              <a:rPr sz="1050" b="1" i="1">
                <a:solidFill>
                  <a:srgbClr val="404040"/>
                </a:solidFill>
                <a:latin typeface="Times New Roman"/>
              </a:rPr>
              <a:t>Table 1.2: </a:t>
            </a:r>
            <a:r>
              <a:rPr sz="1050" b="0" i="1">
                <a:solidFill>
                  <a:srgbClr val="595959"/>
                </a:solidFill>
                <a:latin typeface="Times New Roman"/>
              </a:rPr>
              <a:t>Reported results of the surveyed works and the MedIntel baseline</a:t>
            </a:r>
          </a:p>
        </p:txBody>
      </p:sp>
      <p:sp>
        <p:nvSpPr>
          <p:cNvPr id="9" name="TextBox 8"/>
          <p:cNvSpPr txBox="1"/>
          <p:nvPr/>
        </p:nvSpPr>
        <p:spPr>
          <a:xfrm>
            <a:off x="228600" y="5596128"/>
            <a:ext cx="5212080" cy="329184"/>
          </a:xfrm>
          <a:prstGeom prst="rect">
            <a:avLst/>
          </a:prstGeom>
          <a:noFill/>
        </p:spPr>
        <p:txBody>
          <a:bodyPr wrap="square" lIns="45720" tIns="27432" rIns="45720" bIns="27432" anchor="ctr">
            <a:noAutofit/>
          </a:bodyPr>
          <a:lstStyle/>
          <a:p>
            <a:pPr algn="ctr"/>
            <a:r>
              <a:rPr sz="1050" b="0" i="0">
                <a:solidFill>
                  <a:srgbClr val="404040"/>
                </a:solidFill>
                <a:latin typeface="Times New Roman"/>
              </a:rPr>
              <a:t>Baseline 5-fold cross-validation accuracy (all 303 records): </a:t>
            </a:r>
            <a:r>
              <a:rPr sz="1050" b="1" i="0">
                <a:solidFill>
                  <a:srgbClr val="8B0000"/>
                </a:solidFill>
                <a:latin typeface="Times New Roman"/>
              </a:rPr>
              <a:t>82.2% ± 2.4%</a:t>
            </a:r>
          </a:p>
        </p:txBody>
      </p:sp>
      <p:graphicFrame>
        <p:nvGraphicFramePr>
          <p:cNvPr id="10" name="Accuracy comparison chart"/>
          <p:cNvGraphicFramePr>
            <a:graphicFrameLocks noGrp="1"/>
          </p:cNvGraphicFramePr>
          <p:nvPr/>
        </p:nvGraphicFramePr>
        <p:xfrm>
          <a:off x="5577840" y="1755648"/>
          <a:ext cx="3364992" cy="3017520"/>
        </p:xfrm>
        <a:graphic>
          <a:graphicData uri="http://schemas.openxmlformats.org/drawingml/2006/chart">
            <c:chart xmlns:c="http://schemas.openxmlformats.org/drawingml/2006/chart" r:id="rId2"/>
          </a:graphicData>
        </a:graphic>
      </p:graphicFrame>
      <p:sp>
        <p:nvSpPr>
          <p:cNvPr id="11" name="TextBox 10"/>
          <p:cNvSpPr txBox="1"/>
          <p:nvPr/>
        </p:nvSpPr>
        <p:spPr>
          <a:xfrm>
            <a:off x="5577840" y="4773168"/>
            <a:ext cx="3364992" cy="384048"/>
          </a:xfrm>
          <a:prstGeom prst="rect">
            <a:avLst/>
          </a:prstGeom>
          <a:noFill/>
        </p:spPr>
        <p:txBody>
          <a:bodyPr wrap="square" lIns="45720" tIns="27432" rIns="45720" bIns="27432" anchor="ctr">
            <a:noAutofit/>
          </a:bodyPr>
          <a:lstStyle/>
          <a:p>
            <a:pPr algn="ctr"/>
            <a:r>
              <a:rPr sz="1000" b="1" i="1">
                <a:solidFill>
                  <a:srgbClr val="404040"/>
                </a:solidFill>
                <a:latin typeface="Times New Roman"/>
              </a:rPr>
              <a:t>Fig. 1.8: </a:t>
            </a:r>
            <a:r>
              <a:rPr sz="1000" b="0" i="1">
                <a:solidFill>
                  <a:srgbClr val="595959"/>
                </a:solidFill>
                <a:latin typeface="Times New Roman"/>
              </a:rPr>
              <a:t>Accuracy reported by each system on its own benchmark</a:t>
            </a:r>
          </a:p>
        </p:txBody>
      </p:sp>
      <p:sp>
        <p:nvSpPr>
          <p:cNvPr id="12" name="Rounded Rectangle 11"/>
          <p:cNvSpPr/>
          <p:nvPr/>
        </p:nvSpPr>
        <p:spPr>
          <a:xfrm>
            <a:off x="5577840" y="5212080"/>
            <a:ext cx="3364992" cy="731520"/>
          </a:xfrm>
          <a:prstGeom prst="roundRect">
            <a:avLst>
              <a:gd name="adj" fmla="val 8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3" name="Picture 12" descr=""/>
          <p:cNvPicPr>
            <a:picLocks noChangeAspect="1"/>
          </p:cNvPicPr>
          <p:nvPr/>
        </p:nvPicPr>
        <p:blipFill>
          <a:blip r:embed="rId3"/>
          <a:stretch>
            <a:fillRect/>
          </a:stretch>
        </p:blipFill>
        <p:spPr>
          <a:xfrm>
            <a:off x="5669280" y="5303520"/>
            <a:ext cx="237744" cy="237744"/>
          </a:xfrm>
          <a:prstGeom prst="rect">
            <a:avLst/>
          </a:prstGeom>
        </p:spPr>
      </p:pic>
      <p:sp>
        <p:nvSpPr>
          <p:cNvPr id="14" name="TextBox 13"/>
          <p:cNvSpPr txBox="1"/>
          <p:nvPr/>
        </p:nvSpPr>
        <p:spPr>
          <a:xfrm>
            <a:off x="5943600" y="5212080"/>
            <a:ext cx="2971800" cy="731520"/>
          </a:xfrm>
          <a:prstGeom prst="rect">
            <a:avLst/>
          </a:prstGeom>
          <a:noFill/>
        </p:spPr>
        <p:txBody>
          <a:bodyPr wrap="square" lIns="45720" tIns="27432" rIns="45720" bIns="27432" anchor="ctr">
            <a:noAutofit/>
          </a:bodyPr>
          <a:lstStyle/>
          <a:p>
            <a:pPr algn="l"/>
            <a:r>
              <a:rPr sz="950" b="0" i="0">
                <a:solidFill>
                  <a:srgbClr val="404040"/>
                </a:solidFill>
                <a:latin typeface="Times New Roman"/>
              </a:rPr>
              <a:t>The benchmarks differ (exam-style medical QA vs. heart-disease classification), so this is not a head-to-head ranking. The full pipeline will be scored on the same split in Stage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12. Parallel Execution &amp; Governed Knowledge Updates</a:t>
            </a:r>
          </a:p>
        </p:txBody>
      </p:sp>
      <p:cxnSp>
        <p:nvCxnSpPr>
          <p:cNvPr id="6" name="Connector 5"/>
          <p:cNvCxnSpPr/>
          <p:nvPr/>
        </p:nvCxnSpPr>
        <p:spPr>
          <a:xfrm>
            <a:off x="182880" y="1664208"/>
            <a:ext cx="8778240" cy="0"/>
          </a:xfrm>
          <a:prstGeom prst="line">
            <a:avLst/>
          </a:prstGeom>
          <a:ln w="12700">
            <a:solidFill>
              <a:srgbClr val="8B0000"/>
            </a:solidFill>
          </a:ln>
        </p:spPr>
      </p:cxnSp>
      <p:pic>
        <p:nvPicPr>
          <p:cNvPr id="7" name="Picture 6" descr="Batch scheduler running isolated patient lanes with a governed knowledge update loop"/>
          <p:cNvPicPr>
            <a:picLocks noChangeAspect="1"/>
          </p:cNvPicPr>
          <p:nvPr/>
        </p:nvPicPr>
        <p:blipFill>
          <a:blip r:embed="rId2"/>
          <a:stretch>
            <a:fillRect/>
          </a:stretch>
        </p:blipFill>
        <p:spPr>
          <a:xfrm>
            <a:off x="1280160" y="1737360"/>
            <a:ext cx="6583680" cy="2907711"/>
          </a:xfrm>
          <a:prstGeom prst="rect">
            <a:avLst/>
          </a:prstGeom>
        </p:spPr>
      </p:pic>
      <p:sp>
        <p:nvSpPr>
          <p:cNvPr id="8" name="Rounded Rectangle 7"/>
          <p:cNvSpPr/>
          <p:nvPr/>
        </p:nvSpPr>
        <p:spPr>
          <a:xfrm>
            <a:off x="228600" y="4956048"/>
            <a:ext cx="2103120" cy="98755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9" name="Oval 8"/>
          <p:cNvSpPr/>
          <p:nvPr/>
        </p:nvSpPr>
        <p:spPr>
          <a:xfrm>
            <a:off x="320040" y="4983480"/>
            <a:ext cx="329184" cy="32918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0" name="Picture 9" descr=""/>
          <p:cNvPicPr>
            <a:picLocks noChangeAspect="1"/>
          </p:cNvPicPr>
          <p:nvPr/>
        </p:nvPicPr>
        <p:blipFill>
          <a:blip r:embed="rId3"/>
          <a:stretch>
            <a:fillRect/>
          </a:stretch>
        </p:blipFill>
        <p:spPr>
          <a:xfrm>
            <a:off x="392460" y="5055900"/>
            <a:ext cx="184343" cy="184343"/>
          </a:xfrm>
          <a:prstGeom prst="rect">
            <a:avLst/>
          </a:prstGeom>
        </p:spPr>
      </p:pic>
      <p:sp>
        <p:nvSpPr>
          <p:cNvPr id="11" name="TextBox 10"/>
          <p:cNvSpPr txBox="1"/>
          <p:nvPr/>
        </p:nvSpPr>
        <p:spPr>
          <a:xfrm>
            <a:off x="685800" y="4983480"/>
            <a:ext cx="1627632" cy="329184"/>
          </a:xfrm>
          <a:prstGeom prst="rect">
            <a:avLst/>
          </a:prstGeom>
          <a:noFill/>
        </p:spPr>
        <p:txBody>
          <a:bodyPr wrap="square" lIns="45720" tIns="27432" rIns="45720" bIns="27432" anchor="ctr">
            <a:noAutofit/>
          </a:bodyPr>
          <a:lstStyle/>
          <a:p>
            <a:pPr algn="l"/>
            <a:r>
              <a:rPr sz="1100" b="1" i="0">
                <a:solidFill>
                  <a:srgbClr val="8B0000"/>
                </a:solidFill>
                <a:latin typeface="Times New Roman"/>
              </a:rPr>
              <a:t>Isolated contexts (NFR2)</a:t>
            </a:r>
          </a:p>
        </p:txBody>
      </p:sp>
      <p:sp>
        <p:nvSpPr>
          <p:cNvPr id="12" name="TextBox 11"/>
          <p:cNvSpPr txBox="1"/>
          <p:nvPr/>
        </p:nvSpPr>
        <p:spPr>
          <a:xfrm>
            <a:off x="301752" y="5312664"/>
            <a:ext cx="1975104" cy="621792"/>
          </a:xfrm>
          <a:prstGeom prst="rect">
            <a:avLst/>
          </a:prstGeom>
          <a:noFill/>
        </p:spPr>
        <p:txBody>
          <a:bodyPr wrap="square" lIns="45720" tIns="27432" rIns="45720" bIns="27432" anchor="t">
            <a:noAutofit/>
          </a:bodyPr>
          <a:lstStyle/>
          <a:p>
            <a:pPr algn="l"/>
            <a:r>
              <a:rPr sz="950" b="0" i="0">
                <a:solidFill>
                  <a:srgbClr val="1F1F1F"/>
                </a:solidFill>
                <a:latin typeface="Times New Roman"/>
              </a:rPr>
              <a:t>No data, rule result or retrieved evidence from one patient can reach another's report.</a:t>
            </a:r>
          </a:p>
        </p:txBody>
      </p:sp>
      <p:sp>
        <p:nvSpPr>
          <p:cNvPr id="13" name="Rounded Rectangle 12"/>
          <p:cNvSpPr/>
          <p:nvPr/>
        </p:nvSpPr>
        <p:spPr>
          <a:xfrm>
            <a:off x="2423160" y="4956048"/>
            <a:ext cx="2103120" cy="98755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4" name="Oval 13"/>
          <p:cNvSpPr/>
          <p:nvPr/>
        </p:nvSpPr>
        <p:spPr>
          <a:xfrm>
            <a:off x="2514599" y="4983480"/>
            <a:ext cx="329184" cy="32918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5" name="Picture 14" descr=""/>
          <p:cNvPicPr>
            <a:picLocks noChangeAspect="1"/>
          </p:cNvPicPr>
          <p:nvPr/>
        </p:nvPicPr>
        <p:blipFill>
          <a:blip r:embed="rId4"/>
          <a:stretch>
            <a:fillRect/>
          </a:stretch>
        </p:blipFill>
        <p:spPr>
          <a:xfrm>
            <a:off x="2587020" y="5055900"/>
            <a:ext cx="184343" cy="184343"/>
          </a:xfrm>
          <a:prstGeom prst="rect">
            <a:avLst/>
          </a:prstGeom>
        </p:spPr>
      </p:pic>
      <p:sp>
        <p:nvSpPr>
          <p:cNvPr id="16" name="TextBox 15"/>
          <p:cNvSpPr txBox="1"/>
          <p:nvPr/>
        </p:nvSpPr>
        <p:spPr>
          <a:xfrm>
            <a:off x="2880360" y="4983480"/>
            <a:ext cx="1627632" cy="329184"/>
          </a:xfrm>
          <a:prstGeom prst="rect">
            <a:avLst/>
          </a:prstGeom>
          <a:noFill/>
        </p:spPr>
        <p:txBody>
          <a:bodyPr wrap="square" lIns="45720" tIns="27432" rIns="45720" bIns="27432" anchor="ctr">
            <a:noAutofit/>
          </a:bodyPr>
          <a:lstStyle/>
          <a:p>
            <a:pPr algn="l"/>
            <a:r>
              <a:rPr sz="1100" b="1" i="0">
                <a:solidFill>
                  <a:srgbClr val="8B0000"/>
                </a:solidFill>
                <a:latin typeface="Times New Roman"/>
              </a:rPr>
              <a:t>Concurrent agents</a:t>
            </a:r>
          </a:p>
        </p:txBody>
      </p:sp>
      <p:sp>
        <p:nvSpPr>
          <p:cNvPr id="17" name="TextBox 16"/>
          <p:cNvSpPr txBox="1"/>
          <p:nvPr/>
        </p:nvSpPr>
        <p:spPr>
          <a:xfrm>
            <a:off x="2496312" y="5312664"/>
            <a:ext cx="1975104" cy="621792"/>
          </a:xfrm>
          <a:prstGeom prst="rect">
            <a:avLst/>
          </a:prstGeom>
          <a:noFill/>
        </p:spPr>
        <p:txBody>
          <a:bodyPr wrap="square" lIns="45720" tIns="27432" rIns="45720" bIns="27432" anchor="t">
            <a:noAutofit/>
          </a:bodyPr>
          <a:lstStyle/>
          <a:p>
            <a:pPr algn="l"/>
            <a:r>
              <a:rPr sz="950" b="0" i="0">
                <a:solidFill>
                  <a:srgbClr val="1F1F1F"/>
                </a:solidFill>
                <a:latin typeface="Times New Roman"/>
              </a:rPr>
              <a:t>ML, rule and retrieval agents run concurrently; synthesis and fusion wait for all of a case's evidence.</a:t>
            </a:r>
          </a:p>
        </p:txBody>
      </p:sp>
      <p:sp>
        <p:nvSpPr>
          <p:cNvPr id="18" name="Rounded Rectangle 17"/>
          <p:cNvSpPr/>
          <p:nvPr/>
        </p:nvSpPr>
        <p:spPr>
          <a:xfrm>
            <a:off x="4617720" y="4956048"/>
            <a:ext cx="2103120" cy="98755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9" name="Oval 18"/>
          <p:cNvSpPr/>
          <p:nvPr/>
        </p:nvSpPr>
        <p:spPr>
          <a:xfrm>
            <a:off x="4709160" y="4983480"/>
            <a:ext cx="329184" cy="32918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0" name="Picture 19" descr=""/>
          <p:cNvPicPr>
            <a:picLocks noChangeAspect="1"/>
          </p:cNvPicPr>
          <p:nvPr/>
        </p:nvPicPr>
        <p:blipFill>
          <a:blip r:embed="rId5"/>
          <a:stretch>
            <a:fillRect/>
          </a:stretch>
        </p:blipFill>
        <p:spPr>
          <a:xfrm>
            <a:off x="4781580" y="5055900"/>
            <a:ext cx="184343" cy="184343"/>
          </a:xfrm>
          <a:prstGeom prst="rect">
            <a:avLst/>
          </a:prstGeom>
        </p:spPr>
      </p:pic>
      <p:sp>
        <p:nvSpPr>
          <p:cNvPr id="21" name="TextBox 20"/>
          <p:cNvSpPr txBox="1"/>
          <p:nvPr/>
        </p:nvSpPr>
        <p:spPr>
          <a:xfrm>
            <a:off x="5074920" y="4983480"/>
            <a:ext cx="1627632" cy="329184"/>
          </a:xfrm>
          <a:prstGeom prst="rect">
            <a:avLst/>
          </a:prstGeom>
          <a:noFill/>
        </p:spPr>
        <p:txBody>
          <a:bodyPr wrap="square" lIns="45720" tIns="27432" rIns="45720" bIns="27432" anchor="ctr">
            <a:noAutofit/>
          </a:bodyPr>
          <a:lstStyle/>
          <a:p>
            <a:pPr algn="l"/>
            <a:r>
              <a:rPr sz="1100" b="1" i="0">
                <a:solidFill>
                  <a:srgbClr val="8B0000"/>
                </a:solidFill>
                <a:latin typeface="Times New Roman"/>
              </a:rPr>
              <a:t>Governed updates</a:t>
            </a:r>
          </a:p>
        </p:txBody>
      </p:sp>
      <p:sp>
        <p:nvSpPr>
          <p:cNvPr id="22" name="TextBox 21"/>
          <p:cNvSpPr txBox="1"/>
          <p:nvPr/>
        </p:nvSpPr>
        <p:spPr>
          <a:xfrm>
            <a:off x="4690872" y="5312664"/>
            <a:ext cx="1975104" cy="621792"/>
          </a:xfrm>
          <a:prstGeom prst="rect">
            <a:avLst/>
          </a:prstGeom>
          <a:noFill/>
        </p:spPr>
        <p:txBody>
          <a:bodyPr wrap="square" lIns="45720" tIns="27432" rIns="45720" bIns="27432" anchor="t">
            <a:noAutofit/>
          </a:bodyPr>
          <a:lstStyle/>
          <a:p>
            <a:pPr algn="l"/>
            <a:r>
              <a:rPr sz="950" b="0" i="0">
                <a:solidFill>
                  <a:srgbClr val="1F1F1F"/>
                </a:solidFill>
                <a:latin typeface="Times New Roman"/>
              </a:rPr>
              <a:t>Only clinician-validated, curator-approved outcomes enter the index, with a new version stamp.</a:t>
            </a:r>
          </a:p>
        </p:txBody>
      </p:sp>
      <p:sp>
        <p:nvSpPr>
          <p:cNvPr id="23" name="Rounded Rectangle 22"/>
          <p:cNvSpPr/>
          <p:nvPr/>
        </p:nvSpPr>
        <p:spPr>
          <a:xfrm>
            <a:off x="6812279" y="4956048"/>
            <a:ext cx="2103120" cy="987552"/>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4" name="Oval 23"/>
          <p:cNvSpPr/>
          <p:nvPr/>
        </p:nvSpPr>
        <p:spPr>
          <a:xfrm>
            <a:off x="6903720" y="4983480"/>
            <a:ext cx="329184" cy="32918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5" name="Picture 24" descr=""/>
          <p:cNvPicPr>
            <a:picLocks noChangeAspect="1"/>
          </p:cNvPicPr>
          <p:nvPr/>
        </p:nvPicPr>
        <p:blipFill>
          <a:blip r:embed="rId6"/>
          <a:stretch>
            <a:fillRect/>
          </a:stretch>
        </p:blipFill>
        <p:spPr>
          <a:xfrm>
            <a:off x="6976140" y="5055900"/>
            <a:ext cx="184343" cy="184343"/>
          </a:xfrm>
          <a:prstGeom prst="rect">
            <a:avLst/>
          </a:prstGeom>
        </p:spPr>
      </p:pic>
      <p:sp>
        <p:nvSpPr>
          <p:cNvPr id="26" name="TextBox 25"/>
          <p:cNvSpPr txBox="1"/>
          <p:nvPr/>
        </p:nvSpPr>
        <p:spPr>
          <a:xfrm>
            <a:off x="7269479" y="4983480"/>
            <a:ext cx="1627632" cy="329184"/>
          </a:xfrm>
          <a:prstGeom prst="rect">
            <a:avLst/>
          </a:prstGeom>
          <a:noFill/>
        </p:spPr>
        <p:txBody>
          <a:bodyPr wrap="square" lIns="45720" tIns="27432" rIns="45720" bIns="27432" anchor="ctr">
            <a:noAutofit/>
          </a:bodyPr>
          <a:lstStyle/>
          <a:p>
            <a:pPr algn="l"/>
            <a:r>
              <a:rPr sz="1100" b="1" i="0">
                <a:solidFill>
                  <a:srgbClr val="8B0000"/>
                </a:solidFill>
                <a:latin typeface="Times New Roman"/>
              </a:rPr>
              <a:t>Reproducible audit trail</a:t>
            </a:r>
          </a:p>
        </p:txBody>
      </p:sp>
      <p:sp>
        <p:nvSpPr>
          <p:cNvPr id="27" name="TextBox 26"/>
          <p:cNvSpPr txBox="1"/>
          <p:nvPr/>
        </p:nvSpPr>
        <p:spPr>
          <a:xfrm>
            <a:off x="6885431" y="5312664"/>
            <a:ext cx="1975104" cy="621792"/>
          </a:xfrm>
          <a:prstGeom prst="rect">
            <a:avLst/>
          </a:prstGeom>
          <a:noFill/>
        </p:spPr>
        <p:txBody>
          <a:bodyPr wrap="square" lIns="45720" tIns="27432" rIns="45720" bIns="27432" anchor="t">
            <a:noAutofit/>
          </a:bodyPr>
          <a:lstStyle/>
          <a:p>
            <a:pPr algn="l"/>
            <a:r>
              <a:rPr sz="950" b="0" i="0">
                <a:solidFill>
                  <a:srgbClr val="1F1F1F"/>
                </a:solidFill>
                <a:latin typeface="Times New Roman"/>
              </a:rPr>
              <a:t>Each report records its model, rulebase and index versions, so older reports can be reproduced exactly.</a:t>
            </a:r>
          </a:p>
        </p:txBody>
      </p:sp>
      <p:sp>
        <p:nvSpPr>
          <p:cNvPr id="28" name="TextBox 27"/>
          <p:cNvSpPr txBox="1"/>
          <p:nvPr/>
        </p:nvSpPr>
        <p:spPr>
          <a:xfrm>
            <a:off x="228600" y="4672584"/>
            <a:ext cx="8686800" cy="256032"/>
          </a:xfrm>
          <a:prstGeom prst="rect">
            <a:avLst/>
          </a:prstGeom>
          <a:noFill/>
        </p:spPr>
        <p:txBody>
          <a:bodyPr wrap="square" lIns="45720" tIns="27432" rIns="45720" bIns="27432" anchor="ctr">
            <a:noAutofit/>
          </a:bodyPr>
          <a:lstStyle/>
          <a:p>
            <a:pPr algn="ctr"/>
            <a:r>
              <a:rPr sz="1050" b="1" i="1">
                <a:solidFill>
                  <a:srgbClr val="404040"/>
                </a:solidFill>
                <a:latin typeface="Times New Roman"/>
              </a:rPr>
              <a:t>Fig. 1.9: </a:t>
            </a:r>
            <a:r>
              <a:rPr sz="1050" b="0" i="1">
                <a:solidFill>
                  <a:srgbClr val="595959"/>
                </a:solidFill>
                <a:latin typeface="Times New Roman"/>
              </a:rPr>
              <a:t>Parallel patient processing with governed knowledge updates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13. System Design: Level 0 Data Flow Diagram</a:t>
            </a:r>
          </a:p>
        </p:txBody>
      </p:sp>
      <p:cxnSp>
        <p:nvCxnSpPr>
          <p:cNvPr id="6" name="Connector 5"/>
          <p:cNvCxnSpPr/>
          <p:nvPr/>
        </p:nvCxnSpPr>
        <p:spPr>
          <a:xfrm>
            <a:off x="182880" y="1664208"/>
            <a:ext cx="8778240" cy="0"/>
          </a:xfrm>
          <a:prstGeom prst="line">
            <a:avLst/>
          </a:prstGeom>
          <a:ln w="12700">
            <a:solidFill>
              <a:srgbClr val="8B0000"/>
            </a:solidFill>
          </a:ln>
        </p:spPr>
      </p:cxnSp>
      <p:pic>
        <p:nvPicPr>
          <p:cNvPr id="7" name="Picture 6" descr="Level 0 data flow diagram of MedIntel with five external entities"/>
          <p:cNvPicPr>
            <a:picLocks noChangeAspect="1"/>
          </p:cNvPicPr>
          <p:nvPr/>
        </p:nvPicPr>
        <p:blipFill>
          <a:blip r:embed="rId2"/>
          <a:stretch>
            <a:fillRect/>
          </a:stretch>
        </p:blipFill>
        <p:spPr>
          <a:xfrm>
            <a:off x="640080" y="1773936"/>
            <a:ext cx="7863840" cy="3879494"/>
          </a:xfrm>
          <a:prstGeom prst="rect">
            <a:avLst/>
          </a:prstGeom>
        </p:spPr>
      </p:pic>
      <p:sp>
        <p:nvSpPr>
          <p:cNvPr id="8" name="TextBox 7"/>
          <p:cNvSpPr txBox="1"/>
          <p:nvPr/>
        </p:nvSpPr>
        <p:spPr>
          <a:xfrm>
            <a:off x="228600" y="5669280"/>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1.10: </a:t>
            </a:r>
            <a:r>
              <a:rPr sz="1100" b="0" i="1">
                <a:solidFill>
                  <a:srgbClr val="595959"/>
                </a:solidFill>
                <a:latin typeface="Times New Roman"/>
              </a:rPr>
              <a:t>Level 0 DFD: MedIntel as a single process (0.0) with its five external entities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14. System Design: Use Case Diagram</a:t>
            </a:r>
          </a:p>
        </p:txBody>
      </p:sp>
      <p:cxnSp>
        <p:nvCxnSpPr>
          <p:cNvPr id="6" name="Connector 5"/>
          <p:cNvCxnSpPr/>
          <p:nvPr/>
        </p:nvCxnSpPr>
        <p:spPr>
          <a:xfrm>
            <a:off x="182880" y="1664208"/>
            <a:ext cx="8778240" cy="0"/>
          </a:xfrm>
          <a:prstGeom prst="line">
            <a:avLst/>
          </a:prstGeom>
          <a:ln w="12700">
            <a:solidFill>
              <a:srgbClr val="8B0000"/>
            </a:solidFill>
          </a:ln>
        </p:spPr>
      </p:cxnSp>
      <p:pic>
        <p:nvPicPr>
          <p:cNvPr id="7" name="Picture 6" descr="Use case diagram of the MedIntel system"/>
          <p:cNvPicPr>
            <a:picLocks noChangeAspect="1"/>
          </p:cNvPicPr>
          <p:nvPr/>
        </p:nvPicPr>
        <p:blipFill>
          <a:blip r:embed="rId2"/>
          <a:stretch>
            <a:fillRect/>
          </a:stretch>
        </p:blipFill>
        <p:spPr>
          <a:xfrm>
            <a:off x="274320" y="1737360"/>
            <a:ext cx="4437284" cy="3931920"/>
          </a:xfrm>
          <a:prstGeom prst="rect">
            <a:avLst/>
          </a:prstGeom>
        </p:spPr>
      </p:pic>
      <p:sp>
        <p:nvSpPr>
          <p:cNvPr id="8" name="TextBox 7"/>
          <p:cNvSpPr txBox="1"/>
          <p:nvPr/>
        </p:nvSpPr>
        <p:spPr>
          <a:xfrm>
            <a:off x="228600" y="5687568"/>
            <a:ext cx="4572000" cy="256032"/>
          </a:xfrm>
          <a:prstGeom prst="rect">
            <a:avLst/>
          </a:prstGeom>
          <a:noFill/>
        </p:spPr>
        <p:txBody>
          <a:bodyPr wrap="square" lIns="45720" tIns="27432" rIns="45720" bIns="27432" anchor="ctr">
            <a:noAutofit/>
          </a:bodyPr>
          <a:lstStyle/>
          <a:p>
            <a:pPr algn="ctr"/>
            <a:r>
              <a:rPr sz="1050" b="1" i="1">
                <a:solidFill>
                  <a:srgbClr val="404040"/>
                </a:solidFill>
                <a:latin typeface="Times New Roman"/>
              </a:rPr>
              <a:t>Fig. 1.11: </a:t>
            </a:r>
            <a:r>
              <a:rPr sz="1050" b="0" i="1">
                <a:solidFill>
                  <a:srgbClr val="595959"/>
                </a:solidFill>
                <a:latin typeface="Times New Roman"/>
              </a:rPr>
              <a:t>Use case diagram of the MedIntel system</a:t>
            </a:r>
          </a:p>
        </p:txBody>
      </p:sp>
      <p:sp>
        <p:nvSpPr>
          <p:cNvPr id="9" name="TextBox 8"/>
          <p:cNvSpPr txBox="1"/>
          <p:nvPr/>
        </p:nvSpPr>
        <p:spPr>
          <a:xfrm>
            <a:off x="5120640" y="1755648"/>
            <a:ext cx="3749039" cy="365760"/>
          </a:xfrm>
          <a:prstGeom prst="rect">
            <a:avLst/>
          </a:prstGeom>
          <a:noFill/>
        </p:spPr>
        <p:txBody>
          <a:bodyPr wrap="square" lIns="45720" tIns="27432" rIns="45720" bIns="27432" anchor="ctr">
            <a:noAutofit/>
          </a:bodyPr>
          <a:lstStyle/>
          <a:p>
            <a:pPr algn="l"/>
            <a:r>
              <a:rPr sz="1500" b="1" i="0">
                <a:solidFill>
                  <a:srgbClr val="8B0000"/>
                </a:solidFill>
                <a:latin typeface="Times New Roman"/>
              </a:rPr>
              <a:t>Primary use cases</a:t>
            </a:r>
          </a:p>
        </p:txBody>
      </p:sp>
      <p:sp>
        <p:nvSpPr>
          <p:cNvPr id="10" name="Rounded Rectangle 9"/>
          <p:cNvSpPr/>
          <p:nvPr/>
        </p:nvSpPr>
        <p:spPr>
          <a:xfrm>
            <a:off x="5120640" y="2176272"/>
            <a:ext cx="3794760" cy="713232"/>
          </a:xfrm>
          <a:prstGeom prst="roundRect">
            <a:avLst>
              <a:gd name="adj" fmla="val 12000"/>
            </a:avLst>
          </a:prstGeom>
          <a:solidFill>
            <a:srgbClr val="DBE8F5"/>
          </a:solidFill>
          <a:ln w="1270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1" name="Picture 10" descr=""/>
          <p:cNvPicPr>
            <a:picLocks noChangeAspect="1"/>
          </p:cNvPicPr>
          <p:nvPr/>
        </p:nvPicPr>
        <p:blipFill>
          <a:blip r:embed="rId3"/>
          <a:stretch>
            <a:fillRect/>
          </a:stretch>
        </p:blipFill>
        <p:spPr>
          <a:xfrm>
            <a:off x="5230368" y="2359152"/>
            <a:ext cx="347472" cy="347472"/>
          </a:xfrm>
          <a:prstGeom prst="rect">
            <a:avLst/>
          </a:prstGeom>
        </p:spPr>
      </p:pic>
      <p:sp>
        <p:nvSpPr>
          <p:cNvPr id="12" name="TextBox 11"/>
          <p:cNvSpPr txBox="1"/>
          <p:nvPr/>
        </p:nvSpPr>
        <p:spPr>
          <a:xfrm>
            <a:off x="5669280" y="2194560"/>
            <a:ext cx="3200400" cy="676656"/>
          </a:xfrm>
          <a:prstGeom prst="rect">
            <a:avLst/>
          </a:prstGeom>
          <a:noFill/>
        </p:spPr>
        <p:txBody>
          <a:bodyPr wrap="square" lIns="45720" tIns="27432" rIns="45720" bIns="27432" anchor="ctr">
            <a:noAutofit/>
          </a:bodyPr>
          <a:lstStyle/>
          <a:p>
            <a:pPr algn="l"/>
            <a:r>
              <a:rPr sz="1200" b="1" i="0">
                <a:solidFill>
                  <a:srgbClr val="34507A"/>
                </a:solidFill>
                <a:latin typeface="Times New Roman"/>
              </a:rPr>
              <a:t>Run Case Analysis</a:t>
            </a:r>
          </a:p>
          <a:p>
            <a:pPr algn="l"/>
            <a:r>
              <a:rPr sz="1000" b="0" i="0">
                <a:solidFill>
                  <a:srgbClr val="1F1F1F"/>
                </a:solidFill>
                <a:latin typeface="Times New Roman"/>
              </a:rPr>
              <a:t>Includes ML analysis, rule validation, knowledge retrieval, context synthesis and decision fusion</a:t>
            </a:r>
          </a:p>
        </p:txBody>
      </p:sp>
      <p:sp>
        <p:nvSpPr>
          <p:cNvPr id="13" name="Rounded Rectangle 12"/>
          <p:cNvSpPr/>
          <p:nvPr/>
        </p:nvSpPr>
        <p:spPr>
          <a:xfrm>
            <a:off x="5120640" y="2962656"/>
            <a:ext cx="3794760" cy="713232"/>
          </a:xfrm>
          <a:prstGeom prst="roundRect">
            <a:avLst>
              <a:gd name="adj" fmla="val 12000"/>
            </a:avLst>
          </a:prstGeom>
          <a:solidFill>
            <a:srgbClr val="E1F0DC"/>
          </a:solidFill>
          <a:ln w="12700">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4" name="Picture 13" descr=""/>
          <p:cNvPicPr>
            <a:picLocks noChangeAspect="1"/>
          </p:cNvPicPr>
          <p:nvPr/>
        </p:nvPicPr>
        <p:blipFill>
          <a:blip r:embed="rId4"/>
          <a:stretch>
            <a:fillRect/>
          </a:stretch>
        </p:blipFill>
        <p:spPr>
          <a:xfrm>
            <a:off x="5230368" y="3145536"/>
            <a:ext cx="347472" cy="347472"/>
          </a:xfrm>
          <a:prstGeom prst="rect">
            <a:avLst/>
          </a:prstGeom>
        </p:spPr>
      </p:pic>
      <p:sp>
        <p:nvSpPr>
          <p:cNvPr id="15" name="TextBox 14"/>
          <p:cNvSpPr txBox="1"/>
          <p:nvPr/>
        </p:nvSpPr>
        <p:spPr>
          <a:xfrm>
            <a:off x="5669280" y="2980944"/>
            <a:ext cx="3200400" cy="676656"/>
          </a:xfrm>
          <a:prstGeom prst="rect">
            <a:avLst/>
          </a:prstGeom>
          <a:noFill/>
        </p:spPr>
        <p:txBody>
          <a:bodyPr wrap="square" lIns="45720" tIns="27432" rIns="45720" bIns="27432" anchor="ctr">
            <a:noAutofit/>
          </a:bodyPr>
          <a:lstStyle/>
          <a:p>
            <a:pPr algn="l"/>
            <a:r>
              <a:rPr sz="1200" b="1" i="0">
                <a:solidFill>
                  <a:srgbClr val="3F7A3C"/>
                </a:solidFill>
                <a:latin typeface="Times New Roman"/>
              </a:rPr>
              <a:t>Review Decision Report</a:t>
            </a:r>
          </a:p>
          <a:p>
            <a:pPr algn="l"/>
            <a:r>
              <a:rPr sz="1000" b="0" i="0">
                <a:solidFill>
                  <a:srgbClr val="1F1F1F"/>
                </a:solidFill>
                <a:latin typeface="Times New Roman"/>
              </a:rPr>
              <a:t>Clinician validates or overrides the recommendation</a:t>
            </a:r>
          </a:p>
        </p:txBody>
      </p:sp>
      <p:sp>
        <p:nvSpPr>
          <p:cNvPr id="16" name="Rounded Rectangle 15"/>
          <p:cNvSpPr/>
          <p:nvPr/>
        </p:nvSpPr>
        <p:spPr>
          <a:xfrm>
            <a:off x="5120640" y="3749040"/>
            <a:ext cx="3794760" cy="713232"/>
          </a:xfrm>
          <a:prstGeom prst="roundRect">
            <a:avLst>
              <a:gd name="adj" fmla="val 12000"/>
            </a:avLst>
          </a:prstGeom>
          <a:solidFill>
            <a:srgbClr val="E5DEF6"/>
          </a:solidFill>
          <a:ln w="12700">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7" name="Picture 16" descr=""/>
          <p:cNvPicPr>
            <a:picLocks noChangeAspect="1"/>
          </p:cNvPicPr>
          <p:nvPr/>
        </p:nvPicPr>
        <p:blipFill>
          <a:blip r:embed="rId5"/>
          <a:stretch>
            <a:fillRect/>
          </a:stretch>
        </p:blipFill>
        <p:spPr>
          <a:xfrm>
            <a:off x="5230368" y="3931920"/>
            <a:ext cx="347472" cy="347472"/>
          </a:xfrm>
          <a:prstGeom prst="rect">
            <a:avLst/>
          </a:prstGeom>
        </p:spPr>
      </p:pic>
      <p:sp>
        <p:nvSpPr>
          <p:cNvPr id="18" name="TextBox 17"/>
          <p:cNvSpPr txBox="1"/>
          <p:nvPr/>
        </p:nvSpPr>
        <p:spPr>
          <a:xfrm>
            <a:off x="5669280" y="3767328"/>
            <a:ext cx="3200400" cy="676656"/>
          </a:xfrm>
          <a:prstGeom prst="rect">
            <a:avLst/>
          </a:prstGeom>
          <a:noFill/>
        </p:spPr>
        <p:txBody>
          <a:bodyPr wrap="square" lIns="45720" tIns="27432" rIns="45720" bIns="27432" anchor="ctr">
            <a:noAutofit/>
          </a:bodyPr>
          <a:lstStyle/>
          <a:p>
            <a:pPr algn="l"/>
            <a:r>
              <a:rPr sz="1200" b="1" i="0">
                <a:solidFill>
                  <a:srgbClr val="4E4775"/>
                </a:solidFill>
                <a:latin typeface="Times New Roman"/>
              </a:rPr>
              <a:t>Update Knowledge Store</a:t>
            </a:r>
          </a:p>
          <a:p>
            <a:pPr algn="l"/>
            <a:r>
              <a:rPr sz="1000" b="0" i="0">
                <a:solidFill>
                  <a:srgbClr val="1F1F1F"/>
                </a:solidFill>
                <a:latin typeface="Times New Roman"/>
              </a:rPr>
              <a:t>Curator approves validated outcomes for re-indexing</a:t>
            </a:r>
          </a:p>
        </p:txBody>
      </p:sp>
      <p:sp>
        <p:nvSpPr>
          <p:cNvPr id="19" name="Rounded Rectangle 18"/>
          <p:cNvSpPr/>
          <p:nvPr/>
        </p:nvSpPr>
        <p:spPr>
          <a:xfrm>
            <a:off x="5120640" y="4535424"/>
            <a:ext cx="3794760" cy="713232"/>
          </a:xfrm>
          <a:prstGeom prst="roundRect">
            <a:avLst>
              <a:gd name="adj" fmla="val 12000"/>
            </a:avLst>
          </a:prstGeom>
          <a:solidFill>
            <a:srgbClr val="E5DEF6"/>
          </a:solidFill>
          <a:ln w="12700">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0" name="Picture 19" descr=""/>
          <p:cNvPicPr>
            <a:picLocks noChangeAspect="1"/>
          </p:cNvPicPr>
          <p:nvPr/>
        </p:nvPicPr>
        <p:blipFill>
          <a:blip r:embed="rId6"/>
          <a:stretch>
            <a:fillRect/>
          </a:stretch>
        </p:blipFill>
        <p:spPr>
          <a:xfrm>
            <a:off x="5230368" y="4718304"/>
            <a:ext cx="347472" cy="347472"/>
          </a:xfrm>
          <a:prstGeom prst="rect">
            <a:avLst/>
          </a:prstGeom>
        </p:spPr>
      </p:pic>
      <p:sp>
        <p:nvSpPr>
          <p:cNvPr id="21" name="TextBox 20"/>
          <p:cNvSpPr txBox="1"/>
          <p:nvPr/>
        </p:nvSpPr>
        <p:spPr>
          <a:xfrm>
            <a:off x="5669280" y="4553711"/>
            <a:ext cx="3200400" cy="676656"/>
          </a:xfrm>
          <a:prstGeom prst="rect">
            <a:avLst/>
          </a:prstGeom>
          <a:noFill/>
        </p:spPr>
        <p:txBody>
          <a:bodyPr wrap="square" lIns="45720" tIns="27432" rIns="45720" bIns="27432" anchor="ctr">
            <a:noAutofit/>
          </a:bodyPr>
          <a:lstStyle/>
          <a:p>
            <a:pPr algn="l"/>
            <a:r>
              <a:rPr sz="1200" b="1" i="0">
                <a:solidFill>
                  <a:srgbClr val="4E4775"/>
                </a:solidFill>
                <a:latin typeface="Times New Roman"/>
              </a:rPr>
              <a:t>Configure System</a:t>
            </a:r>
          </a:p>
          <a:p>
            <a:pPr algn="l"/>
            <a:r>
              <a:rPr sz="1000" b="0" i="0">
                <a:solidFill>
                  <a:srgbClr val="1F1F1F"/>
                </a:solidFill>
                <a:latin typeface="Times New Roman"/>
              </a:rPr>
              <a:t>Admin sets fusion weights, model endpoints and rulebase</a:t>
            </a:r>
          </a:p>
        </p:txBody>
      </p:sp>
      <p:sp>
        <p:nvSpPr>
          <p:cNvPr id="22" name="Rounded Rectangle 21"/>
          <p:cNvSpPr/>
          <p:nvPr/>
        </p:nvSpPr>
        <p:spPr>
          <a:xfrm>
            <a:off x="5120640" y="5394960"/>
            <a:ext cx="3794760" cy="548640"/>
          </a:xfrm>
          <a:prstGeom prst="roundRect">
            <a:avLst>
              <a:gd name="adj" fmla="val 12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3" name="Picture 22" descr=""/>
          <p:cNvPicPr>
            <a:picLocks noChangeAspect="1"/>
          </p:cNvPicPr>
          <p:nvPr/>
        </p:nvPicPr>
        <p:blipFill>
          <a:blip r:embed="rId7"/>
          <a:stretch>
            <a:fillRect/>
          </a:stretch>
        </p:blipFill>
        <p:spPr>
          <a:xfrm>
            <a:off x="5248656" y="5541264"/>
            <a:ext cx="256032" cy="256032"/>
          </a:xfrm>
          <a:prstGeom prst="rect">
            <a:avLst/>
          </a:prstGeom>
        </p:spPr>
      </p:pic>
      <p:sp>
        <p:nvSpPr>
          <p:cNvPr id="24" name="TextBox 23"/>
          <p:cNvSpPr txBox="1"/>
          <p:nvPr/>
        </p:nvSpPr>
        <p:spPr>
          <a:xfrm>
            <a:off x="5596128" y="5394960"/>
            <a:ext cx="3291840" cy="548640"/>
          </a:xfrm>
          <a:prstGeom prst="rect">
            <a:avLst/>
          </a:prstGeom>
          <a:noFill/>
        </p:spPr>
        <p:txBody>
          <a:bodyPr wrap="square" lIns="45720" tIns="27432" rIns="45720" bIns="27432" anchor="ctr">
            <a:noAutofit/>
          </a:bodyPr>
          <a:lstStyle/>
          <a:p>
            <a:pPr algn="l"/>
            <a:r>
              <a:rPr sz="1050" b="0" i="1">
                <a:solidFill>
                  <a:srgbClr val="404040"/>
                </a:solidFill>
                <a:latin typeface="Times New Roman"/>
              </a:rPr>
              <a:t>The report also contains the Level 1 DFD, the class diagram and two sequence diagrams.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15. Software Requirement Specification</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Oval 6"/>
          <p:cNvSpPr/>
          <p:nvPr/>
        </p:nvSpPr>
        <p:spPr>
          <a:xfrm>
            <a:off x="256032" y="1792223"/>
            <a:ext cx="402336" cy="402336"/>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8" name="Picture 7" descr=""/>
          <p:cNvPicPr>
            <a:picLocks noChangeAspect="1"/>
          </p:cNvPicPr>
          <p:nvPr/>
        </p:nvPicPr>
        <p:blipFill>
          <a:blip r:embed="rId2"/>
          <a:stretch>
            <a:fillRect/>
          </a:stretch>
        </p:blipFill>
        <p:spPr>
          <a:xfrm>
            <a:off x="344545" y="1880737"/>
            <a:ext cx="225308" cy="225308"/>
          </a:xfrm>
          <a:prstGeom prst="rect">
            <a:avLst/>
          </a:prstGeom>
        </p:spPr>
      </p:pic>
      <p:sp>
        <p:nvSpPr>
          <p:cNvPr id="9" name="TextBox 8"/>
          <p:cNvSpPr txBox="1"/>
          <p:nvPr/>
        </p:nvSpPr>
        <p:spPr>
          <a:xfrm>
            <a:off x="731520" y="1792223"/>
            <a:ext cx="3840480" cy="402336"/>
          </a:xfrm>
          <a:prstGeom prst="rect">
            <a:avLst/>
          </a:prstGeom>
          <a:noFill/>
        </p:spPr>
        <p:txBody>
          <a:bodyPr wrap="square" lIns="45720" tIns="27432" rIns="45720" bIns="27432" anchor="ctr">
            <a:noAutofit/>
          </a:bodyPr>
          <a:lstStyle/>
          <a:p>
            <a:pPr algn="l"/>
            <a:r>
              <a:rPr sz="1400" b="1" i="0">
                <a:solidFill>
                  <a:srgbClr val="8B0000"/>
                </a:solidFill>
                <a:latin typeface="Times New Roman"/>
              </a:rPr>
              <a:t>Functional requirements (FR1–FR9)</a:t>
            </a:r>
          </a:p>
        </p:txBody>
      </p:sp>
      <p:sp>
        <p:nvSpPr>
          <p:cNvPr id="10" name="Rounded Rectangle 9"/>
          <p:cNvSpPr/>
          <p:nvPr/>
        </p:nvSpPr>
        <p:spPr>
          <a:xfrm>
            <a:off x="228600" y="2304288"/>
            <a:ext cx="4434840" cy="347472"/>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1" name="Rounded Rectangle 10"/>
          <p:cNvSpPr/>
          <p:nvPr/>
        </p:nvSpPr>
        <p:spPr>
          <a:xfrm>
            <a:off x="274320" y="2340864"/>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FR1</a:t>
            </a:r>
          </a:p>
        </p:txBody>
      </p:sp>
      <p:sp>
        <p:nvSpPr>
          <p:cNvPr id="12" name="TextBox 11"/>
          <p:cNvSpPr txBox="1"/>
          <p:nvPr/>
        </p:nvSpPr>
        <p:spPr>
          <a:xfrm>
            <a:off x="896112" y="2304288"/>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Accept and validate patient records (CSV/API)</a:t>
            </a:r>
          </a:p>
        </p:txBody>
      </p:sp>
      <p:sp>
        <p:nvSpPr>
          <p:cNvPr id="13" name="Rounded Rectangle 12"/>
          <p:cNvSpPr/>
          <p:nvPr/>
        </p:nvSpPr>
        <p:spPr>
          <a:xfrm>
            <a:off x="228600" y="2706624"/>
            <a:ext cx="4434840" cy="347472"/>
          </a:xfrm>
          <a:prstGeom prst="roundRect">
            <a:avLst>
              <a:gd name="adj" fmla="val 20000"/>
            </a:avLst>
          </a:prstGeom>
          <a:solidFill>
            <a:srgbClr val="FDF6F6"/>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4" name="Rounded Rectangle 13"/>
          <p:cNvSpPr/>
          <p:nvPr/>
        </p:nvSpPr>
        <p:spPr>
          <a:xfrm>
            <a:off x="274320" y="2743200"/>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FR2</a:t>
            </a:r>
          </a:p>
        </p:txBody>
      </p:sp>
      <p:sp>
        <p:nvSpPr>
          <p:cNvPr id="15" name="TextBox 14"/>
          <p:cNvSpPr txBox="1"/>
          <p:nvPr/>
        </p:nvSpPr>
        <p:spPr>
          <a:xfrm>
            <a:off x="896112" y="2706624"/>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Run ML classifier, return probabilities + SHAP scores [15]</a:t>
            </a:r>
          </a:p>
        </p:txBody>
      </p:sp>
      <p:sp>
        <p:nvSpPr>
          <p:cNvPr id="16" name="Rounded Rectangle 15"/>
          <p:cNvSpPr/>
          <p:nvPr/>
        </p:nvSpPr>
        <p:spPr>
          <a:xfrm>
            <a:off x="228600" y="3108959"/>
            <a:ext cx="4434840" cy="347472"/>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7" name="Rounded Rectangle 16"/>
          <p:cNvSpPr/>
          <p:nvPr/>
        </p:nvSpPr>
        <p:spPr>
          <a:xfrm>
            <a:off x="274320" y="3145536"/>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FR3</a:t>
            </a:r>
          </a:p>
        </p:txBody>
      </p:sp>
      <p:sp>
        <p:nvSpPr>
          <p:cNvPr id="18" name="TextBox 17"/>
          <p:cNvSpPr txBox="1"/>
          <p:nvPr/>
        </p:nvSpPr>
        <p:spPr>
          <a:xfrm>
            <a:off x="896112" y="3108959"/>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Evaluate versioned clinical rulebase</a:t>
            </a:r>
          </a:p>
        </p:txBody>
      </p:sp>
      <p:sp>
        <p:nvSpPr>
          <p:cNvPr id="19" name="Rounded Rectangle 18"/>
          <p:cNvSpPr/>
          <p:nvPr/>
        </p:nvSpPr>
        <p:spPr>
          <a:xfrm>
            <a:off x="228600" y="3511295"/>
            <a:ext cx="4434840" cy="347472"/>
          </a:xfrm>
          <a:prstGeom prst="roundRect">
            <a:avLst>
              <a:gd name="adj" fmla="val 20000"/>
            </a:avLst>
          </a:prstGeom>
          <a:solidFill>
            <a:srgbClr val="FDF6F6"/>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0" name="Rounded Rectangle 19"/>
          <p:cNvSpPr/>
          <p:nvPr/>
        </p:nvSpPr>
        <p:spPr>
          <a:xfrm>
            <a:off x="274320" y="3547871"/>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FR4</a:t>
            </a:r>
          </a:p>
        </p:txBody>
      </p:sp>
      <p:sp>
        <p:nvSpPr>
          <p:cNvPr id="21" name="TextBox 20"/>
          <p:cNvSpPr txBox="1"/>
          <p:nvPr/>
        </p:nvSpPr>
        <p:spPr>
          <a:xfrm>
            <a:off x="896112" y="3511295"/>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Retrieve evidence via FAISS + Neo4j (GraphRAG [17])</a:t>
            </a:r>
          </a:p>
        </p:txBody>
      </p:sp>
      <p:sp>
        <p:nvSpPr>
          <p:cNvPr id="22" name="Rounded Rectangle 21"/>
          <p:cNvSpPr/>
          <p:nvPr/>
        </p:nvSpPr>
        <p:spPr>
          <a:xfrm>
            <a:off x="228600" y="3913632"/>
            <a:ext cx="4434840" cy="347472"/>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3" name="Rounded Rectangle 22"/>
          <p:cNvSpPr/>
          <p:nvPr/>
        </p:nvSpPr>
        <p:spPr>
          <a:xfrm>
            <a:off x="274320" y="3950208"/>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FR5</a:t>
            </a:r>
          </a:p>
        </p:txBody>
      </p:sp>
      <p:sp>
        <p:nvSpPr>
          <p:cNvPr id="24" name="TextBox 23"/>
          <p:cNvSpPr txBox="1"/>
          <p:nvPr/>
        </p:nvSpPr>
        <p:spPr>
          <a:xfrm>
            <a:off x="896112" y="3913632"/>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Synthesize evidence with LLM, name conflicts</a:t>
            </a:r>
          </a:p>
        </p:txBody>
      </p:sp>
      <p:sp>
        <p:nvSpPr>
          <p:cNvPr id="25" name="Rounded Rectangle 24"/>
          <p:cNvSpPr/>
          <p:nvPr/>
        </p:nvSpPr>
        <p:spPr>
          <a:xfrm>
            <a:off x="228600" y="4315968"/>
            <a:ext cx="4434840" cy="347472"/>
          </a:xfrm>
          <a:prstGeom prst="roundRect">
            <a:avLst>
              <a:gd name="adj" fmla="val 20000"/>
            </a:avLst>
          </a:prstGeom>
          <a:solidFill>
            <a:srgbClr val="FDF6F6"/>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6" name="Rounded Rectangle 25"/>
          <p:cNvSpPr/>
          <p:nvPr/>
        </p:nvSpPr>
        <p:spPr>
          <a:xfrm>
            <a:off x="274320" y="4352544"/>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FR6</a:t>
            </a:r>
          </a:p>
        </p:txBody>
      </p:sp>
      <p:sp>
        <p:nvSpPr>
          <p:cNvPr id="27" name="TextBox 26"/>
          <p:cNvSpPr txBox="1"/>
          <p:nvPr/>
        </p:nvSpPr>
        <p:spPr>
          <a:xfrm>
            <a:off x="896112" y="4315968"/>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Compute confidence C using the fusion equation</a:t>
            </a:r>
          </a:p>
        </p:txBody>
      </p:sp>
      <p:sp>
        <p:nvSpPr>
          <p:cNvPr id="28" name="Rounded Rectangle 27"/>
          <p:cNvSpPr/>
          <p:nvPr/>
        </p:nvSpPr>
        <p:spPr>
          <a:xfrm>
            <a:off x="228600" y="4718304"/>
            <a:ext cx="4434840" cy="347472"/>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9" name="Rounded Rectangle 28"/>
          <p:cNvSpPr/>
          <p:nvPr/>
        </p:nvSpPr>
        <p:spPr>
          <a:xfrm>
            <a:off x="274320" y="4754880"/>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FR7</a:t>
            </a:r>
          </a:p>
        </p:txBody>
      </p:sp>
      <p:sp>
        <p:nvSpPr>
          <p:cNvPr id="30" name="TextBox 29"/>
          <p:cNvSpPr txBox="1"/>
          <p:nvPr/>
        </p:nvSpPr>
        <p:spPr>
          <a:xfrm>
            <a:off x="896112" y="4718304"/>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Generate DecisionReport + AuditRecord</a:t>
            </a:r>
          </a:p>
        </p:txBody>
      </p:sp>
      <p:sp>
        <p:nvSpPr>
          <p:cNvPr id="31" name="Rounded Rectangle 30"/>
          <p:cNvSpPr/>
          <p:nvPr/>
        </p:nvSpPr>
        <p:spPr>
          <a:xfrm>
            <a:off x="228600" y="5120640"/>
            <a:ext cx="4434840" cy="347472"/>
          </a:xfrm>
          <a:prstGeom prst="roundRect">
            <a:avLst>
              <a:gd name="adj" fmla="val 20000"/>
            </a:avLst>
          </a:prstGeom>
          <a:solidFill>
            <a:srgbClr val="FDF6F6"/>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2" name="Rounded Rectangle 31"/>
          <p:cNvSpPr/>
          <p:nvPr/>
        </p:nvSpPr>
        <p:spPr>
          <a:xfrm>
            <a:off x="274320" y="5157216"/>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FR8</a:t>
            </a:r>
          </a:p>
        </p:txBody>
      </p:sp>
      <p:sp>
        <p:nvSpPr>
          <p:cNvPr id="33" name="TextBox 32"/>
          <p:cNvSpPr txBox="1"/>
          <p:nvPr/>
        </p:nvSpPr>
        <p:spPr>
          <a:xfrm>
            <a:off x="896112" y="5120640"/>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Present reports on a Streamlit clinician dashboard</a:t>
            </a:r>
          </a:p>
        </p:txBody>
      </p:sp>
      <p:sp>
        <p:nvSpPr>
          <p:cNvPr id="34" name="Rounded Rectangle 33"/>
          <p:cNvSpPr/>
          <p:nvPr/>
        </p:nvSpPr>
        <p:spPr>
          <a:xfrm>
            <a:off x="228600" y="5522976"/>
            <a:ext cx="4434840" cy="347472"/>
          </a:xfrm>
          <a:prstGeom prst="roundRect">
            <a:avLst>
              <a:gd name="adj" fmla="val 20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5" name="Rounded Rectangle 34"/>
          <p:cNvSpPr/>
          <p:nvPr/>
        </p:nvSpPr>
        <p:spPr>
          <a:xfrm>
            <a:off x="274320" y="5559552"/>
            <a:ext cx="548640" cy="274320"/>
          </a:xfrm>
          <a:prstGeom prst="roundRect">
            <a:avLst>
              <a:gd name="adj" fmla="val 50000"/>
            </a:avLst>
          </a:prstGeom>
          <a:solidFill>
            <a:srgbClr val="8B0000"/>
          </a:solidFill>
          <a:ln>
            <a:noFill/>
          </a:ln>
        </p:spPr>
        <p:txBody>
          <a:bodyPr rtlCol="0" anchor="ctr" wrap="square" lIns="0" tIns="0" rIns="0" bIns="0">
            <a:noAutofit/>
          </a:bodyPr>
          <a:lstStyle/>
          <a:p>
            <a:pPr algn="ctr"/>
            <a:r>
              <a:rPr sz="1050" b="1" i="0">
                <a:solidFill>
                  <a:srgbClr val="FFFFFF"/>
                </a:solidFill>
                <a:latin typeface="Times New Roman"/>
              </a:rPr>
              <a:t>FR9</a:t>
            </a:r>
          </a:p>
        </p:txBody>
      </p:sp>
      <p:sp>
        <p:nvSpPr>
          <p:cNvPr id="36" name="TextBox 35"/>
          <p:cNvSpPr txBox="1"/>
          <p:nvPr/>
        </p:nvSpPr>
        <p:spPr>
          <a:xfrm>
            <a:off x="896112" y="5522976"/>
            <a:ext cx="3749039" cy="347472"/>
          </a:xfrm>
          <a:prstGeom prst="rect">
            <a:avLst/>
          </a:prstGeom>
          <a:noFill/>
        </p:spPr>
        <p:txBody>
          <a:bodyPr wrap="square" lIns="45720" tIns="27432" rIns="45720" bIns="27432" anchor="ctr">
            <a:noAutofit/>
          </a:bodyPr>
          <a:lstStyle/>
          <a:p>
            <a:pPr algn="l"/>
            <a:r>
              <a:rPr sz="1150" b="0" i="0">
                <a:solidFill>
                  <a:srgbClr val="1F1F1F"/>
                </a:solidFill>
                <a:latin typeface="Times New Roman"/>
              </a:rPr>
              <a:t>Accept clinician review; update knowledge store</a:t>
            </a:r>
          </a:p>
        </p:txBody>
      </p:sp>
      <p:sp>
        <p:nvSpPr>
          <p:cNvPr id="37" name="Oval 36"/>
          <p:cNvSpPr/>
          <p:nvPr/>
        </p:nvSpPr>
        <p:spPr>
          <a:xfrm>
            <a:off x="4873752" y="1792223"/>
            <a:ext cx="402336" cy="402336"/>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8" name="Picture 37" descr=""/>
          <p:cNvPicPr>
            <a:picLocks noChangeAspect="1"/>
          </p:cNvPicPr>
          <p:nvPr/>
        </p:nvPicPr>
        <p:blipFill>
          <a:blip r:embed="rId3"/>
          <a:stretch>
            <a:fillRect/>
          </a:stretch>
        </p:blipFill>
        <p:spPr>
          <a:xfrm>
            <a:off x="4962265" y="1880737"/>
            <a:ext cx="225308" cy="225308"/>
          </a:xfrm>
          <a:prstGeom prst="rect">
            <a:avLst/>
          </a:prstGeom>
        </p:spPr>
      </p:pic>
      <p:sp>
        <p:nvSpPr>
          <p:cNvPr id="39" name="TextBox 38"/>
          <p:cNvSpPr txBox="1"/>
          <p:nvPr/>
        </p:nvSpPr>
        <p:spPr>
          <a:xfrm>
            <a:off x="5349240" y="1792223"/>
            <a:ext cx="3611880" cy="402336"/>
          </a:xfrm>
          <a:prstGeom prst="rect">
            <a:avLst/>
          </a:prstGeom>
          <a:noFill/>
        </p:spPr>
        <p:txBody>
          <a:bodyPr wrap="square" lIns="45720" tIns="27432" rIns="45720" bIns="27432" anchor="ctr">
            <a:noAutofit/>
          </a:bodyPr>
          <a:lstStyle/>
          <a:p>
            <a:pPr algn="l"/>
            <a:r>
              <a:rPr sz="1400" b="1" i="0">
                <a:solidFill>
                  <a:srgbClr val="8B0000"/>
                </a:solidFill>
                <a:latin typeface="Times New Roman"/>
              </a:rPr>
              <a:t>Non-functional requirements (NFR1–NFR7)</a:t>
            </a:r>
          </a:p>
        </p:txBody>
      </p:sp>
      <p:sp>
        <p:nvSpPr>
          <p:cNvPr id="40" name="Rounded Rectangle 39"/>
          <p:cNvSpPr/>
          <p:nvPr/>
        </p:nvSpPr>
        <p:spPr>
          <a:xfrm>
            <a:off x="4846320" y="2304288"/>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1" name="Rounded Rectangle 40"/>
          <p:cNvSpPr/>
          <p:nvPr/>
        </p:nvSpPr>
        <p:spPr>
          <a:xfrm>
            <a:off x="4901184" y="2386583"/>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NFR1</a:t>
            </a:r>
          </a:p>
        </p:txBody>
      </p:sp>
      <p:pic>
        <p:nvPicPr>
          <p:cNvPr id="42" name="Picture 41" descr=""/>
          <p:cNvPicPr>
            <a:picLocks noChangeAspect="1"/>
          </p:cNvPicPr>
          <p:nvPr/>
        </p:nvPicPr>
        <p:blipFill>
          <a:blip r:embed="rId4"/>
          <a:stretch>
            <a:fillRect/>
          </a:stretch>
        </p:blipFill>
        <p:spPr>
          <a:xfrm>
            <a:off x="5577840" y="2404871"/>
            <a:ext cx="246888" cy="246888"/>
          </a:xfrm>
          <a:prstGeom prst="rect">
            <a:avLst/>
          </a:prstGeom>
        </p:spPr>
      </p:pic>
      <p:sp>
        <p:nvSpPr>
          <p:cNvPr id="43" name="TextBox 42"/>
          <p:cNvSpPr txBox="1"/>
          <p:nvPr/>
        </p:nvSpPr>
        <p:spPr>
          <a:xfrm>
            <a:off x="5870448" y="2304288"/>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End-to-end latency ≤ 30 s per case</a:t>
            </a:r>
          </a:p>
        </p:txBody>
      </p:sp>
      <p:sp>
        <p:nvSpPr>
          <p:cNvPr id="44" name="Rounded Rectangle 43"/>
          <p:cNvSpPr/>
          <p:nvPr/>
        </p:nvSpPr>
        <p:spPr>
          <a:xfrm>
            <a:off x="4846320" y="2820924"/>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5" name="Rounded Rectangle 44"/>
          <p:cNvSpPr/>
          <p:nvPr/>
        </p:nvSpPr>
        <p:spPr>
          <a:xfrm>
            <a:off x="4901184" y="2903219"/>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NFR2</a:t>
            </a:r>
          </a:p>
        </p:txBody>
      </p:sp>
      <p:pic>
        <p:nvPicPr>
          <p:cNvPr id="46" name="Picture 45" descr=""/>
          <p:cNvPicPr>
            <a:picLocks noChangeAspect="1"/>
          </p:cNvPicPr>
          <p:nvPr/>
        </p:nvPicPr>
        <p:blipFill>
          <a:blip r:embed="rId5"/>
          <a:stretch>
            <a:fillRect/>
          </a:stretch>
        </p:blipFill>
        <p:spPr>
          <a:xfrm>
            <a:off x="5577840" y="2921507"/>
            <a:ext cx="246888" cy="246888"/>
          </a:xfrm>
          <a:prstGeom prst="rect">
            <a:avLst/>
          </a:prstGeom>
        </p:spPr>
      </p:pic>
      <p:sp>
        <p:nvSpPr>
          <p:cNvPr id="47" name="TextBox 46"/>
          <p:cNvSpPr txBox="1"/>
          <p:nvPr/>
        </p:nvSpPr>
        <p:spPr>
          <a:xfrm>
            <a:off x="5870448" y="2820924"/>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Strict patient context isolation</a:t>
            </a:r>
          </a:p>
        </p:txBody>
      </p:sp>
      <p:sp>
        <p:nvSpPr>
          <p:cNvPr id="48" name="Rounded Rectangle 47"/>
          <p:cNvSpPr/>
          <p:nvPr/>
        </p:nvSpPr>
        <p:spPr>
          <a:xfrm>
            <a:off x="4846320" y="3337559"/>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9" name="Rounded Rectangle 48"/>
          <p:cNvSpPr/>
          <p:nvPr/>
        </p:nvSpPr>
        <p:spPr>
          <a:xfrm>
            <a:off x="4901184" y="3419856"/>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NFR3</a:t>
            </a:r>
          </a:p>
        </p:txBody>
      </p:sp>
      <p:pic>
        <p:nvPicPr>
          <p:cNvPr id="50" name="Picture 49" descr=""/>
          <p:cNvPicPr>
            <a:picLocks noChangeAspect="1"/>
          </p:cNvPicPr>
          <p:nvPr/>
        </p:nvPicPr>
        <p:blipFill>
          <a:blip r:embed="rId6"/>
          <a:stretch>
            <a:fillRect/>
          </a:stretch>
        </p:blipFill>
        <p:spPr>
          <a:xfrm>
            <a:off x="5577840" y="3438143"/>
            <a:ext cx="246888" cy="246888"/>
          </a:xfrm>
          <a:prstGeom prst="rect">
            <a:avLst/>
          </a:prstGeom>
        </p:spPr>
      </p:pic>
      <p:sp>
        <p:nvSpPr>
          <p:cNvPr id="51" name="TextBox 50"/>
          <p:cNvSpPr txBox="1"/>
          <p:nvPr/>
        </p:nvSpPr>
        <p:spPr>
          <a:xfrm>
            <a:off x="5870448" y="3337559"/>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Append-only audit log (tamper-evident)</a:t>
            </a:r>
          </a:p>
        </p:txBody>
      </p:sp>
      <p:sp>
        <p:nvSpPr>
          <p:cNvPr id="52" name="Rounded Rectangle 51"/>
          <p:cNvSpPr/>
          <p:nvPr/>
        </p:nvSpPr>
        <p:spPr>
          <a:xfrm>
            <a:off x="4846320" y="3854195"/>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3" name="Rounded Rectangle 52"/>
          <p:cNvSpPr/>
          <p:nvPr/>
        </p:nvSpPr>
        <p:spPr>
          <a:xfrm>
            <a:off x="4901184" y="3936492"/>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NFR4</a:t>
            </a:r>
          </a:p>
        </p:txBody>
      </p:sp>
      <p:pic>
        <p:nvPicPr>
          <p:cNvPr id="54" name="Picture 53" descr=""/>
          <p:cNvPicPr>
            <a:picLocks noChangeAspect="1"/>
          </p:cNvPicPr>
          <p:nvPr/>
        </p:nvPicPr>
        <p:blipFill>
          <a:blip r:embed="rId7"/>
          <a:stretch>
            <a:fillRect/>
          </a:stretch>
        </p:blipFill>
        <p:spPr>
          <a:xfrm>
            <a:off x="5577840" y="3954780"/>
            <a:ext cx="246888" cy="246888"/>
          </a:xfrm>
          <a:prstGeom prst="rect">
            <a:avLst/>
          </a:prstGeom>
        </p:spPr>
      </p:pic>
      <p:sp>
        <p:nvSpPr>
          <p:cNvPr id="55" name="TextBox 54"/>
          <p:cNvSpPr txBox="1"/>
          <p:nvPr/>
        </p:nvSpPr>
        <p:spPr>
          <a:xfrm>
            <a:off x="5870448" y="3854195"/>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Every report field present in 100% of runs</a:t>
            </a:r>
          </a:p>
        </p:txBody>
      </p:sp>
      <p:sp>
        <p:nvSpPr>
          <p:cNvPr id="56" name="Rounded Rectangle 55"/>
          <p:cNvSpPr/>
          <p:nvPr/>
        </p:nvSpPr>
        <p:spPr>
          <a:xfrm>
            <a:off x="4846320" y="4370832"/>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57" name="Rounded Rectangle 56"/>
          <p:cNvSpPr/>
          <p:nvPr/>
        </p:nvSpPr>
        <p:spPr>
          <a:xfrm>
            <a:off x="4901184" y="4453128"/>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NFR5</a:t>
            </a:r>
          </a:p>
        </p:txBody>
      </p:sp>
      <p:pic>
        <p:nvPicPr>
          <p:cNvPr id="58" name="Picture 57" descr=""/>
          <p:cNvPicPr>
            <a:picLocks noChangeAspect="1"/>
          </p:cNvPicPr>
          <p:nvPr/>
        </p:nvPicPr>
        <p:blipFill>
          <a:blip r:embed="rId8"/>
          <a:stretch>
            <a:fillRect/>
          </a:stretch>
        </p:blipFill>
        <p:spPr>
          <a:xfrm>
            <a:off x="5577840" y="4471416"/>
            <a:ext cx="246888" cy="246888"/>
          </a:xfrm>
          <a:prstGeom prst="rect">
            <a:avLst/>
          </a:prstGeom>
        </p:spPr>
      </p:pic>
      <p:sp>
        <p:nvSpPr>
          <p:cNvPr id="59" name="TextBox 58"/>
          <p:cNvSpPr txBox="1"/>
          <p:nvPr/>
        </p:nvSpPr>
        <p:spPr>
          <a:xfrm>
            <a:off x="5870448" y="4370832"/>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Reproducible results (fixed seed, pinned versions)</a:t>
            </a:r>
          </a:p>
        </p:txBody>
      </p:sp>
      <p:sp>
        <p:nvSpPr>
          <p:cNvPr id="60" name="Rounded Rectangle 59"/>
          <p:cNvSpPr/>
          <p:nvPr/>
        </p:nvSpPr>
        <p:spPr>
          <a:xfrm>
            <a:off x="4846320" y="4887468"/>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1" name="Rounded Rectangle 60"/>
          <p:cNvSpPr/>
          <p:nvPr/>
        </p:nvSpPr>
        <p:spPr>
          <a:xfrm>
            <a:off x="4901184" y="4969763"/>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NFR6</a:t>
            </a:r>
          </a:p>
        </p:txBody>
      </p:sp>
      <p:pic>
        <p:nvPicPr>
          <p:cNvPr id="62" name="Picture 61" descr=""/>
          <p:cNvPicPr>
            <a:picLocks noChangeAspect="1"/>
          </p:cNvPicPr>
          <p:nvPr/>
        </p:nvPicPr>
        <p:blipFill>
          <a:blip r:embed="rId9"/>
          <a:stretch>
            <a:fillRect/>
          </a:stretch>
        </p:blipFill>
        <p:spPr>
          <a:xfrm>
            <a:off x="5577840" y="4988052"/>
            <a:ext cx="246888" cy="246888"/>
          </a:xfrm>
          <a:prstGeom prst="rect">
            <a:avLst/>
          </a:prstGeom>
        </p:spPr>
      </p:pic>
      <p:sp>
        <p:nvSpPr>
          <p:cNvPr id="63" name="TextBox 62"/>
          <p:cNvSpPr txBox="1"/>
          <p:nvPr/>
        </p:nvSpPr>
        <p:spPr>
          <a:xfrm>
            <a:off x="5870448" y="4887468"/>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ML and rule stages &lt; 1 s each</a:t>
            </a:r>
          </a:p>
        </p:txBody>
      </p:sp>
      <p:sp>
        <p:nvSpPr>
          <p:cNvPr id="64" name="Rounded Rectangle 63"/>
          <p:cNvSpPr/>
          <p:nvPr/>
        </p:nvSpPr>
        <p:spPr>
          <a:xfrm>
            <a:off x="4846320" y="5404103"/>
            <a:ext cx="4069080" cy="448056"/>
          </a:xfrm>
          <a:prstGeom prst="roundRect">
            <a:avLst>
              <a:gd name="adj" fmla="val 2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5" name="Rounded Rectangle 64"/>
          <p:cNvSpPr/>
          <p:nvPr/>
        </p:nvSpPr>
        <p:spPr>
          <a:xfrm>
            <a:off x="4901184" y="5486399"/>
            <a:ext cx="603504" cy="283464"/>
          </a:xfrm>
          <a:prstGeom prst="roundRect">
            <a:avLst>
              <a:gd name="adj" fmla="val 50000"/>
            </a:avLst>
          </a:prstGeom>
          <a:solidFill>
            <a:srgbClr val="404040"/>
          </a:solidFill>
          <a:ln>
            <a:noFill/>
          </a:ln>
        </p:spPr>
        <p:txBody>
          <a:bodyPr rtlCol="0" anchor="ctr" wrap="square" lIns="0" tIns="0" rIns="0" bIns="0">
            <a:noAutofit/>
          </a:bodyPr>
          <a:lstStyle/>
          <a:p>
            <a:pPr algn="ctr"/>
            <a:r>
              <a:rPr sz="1050" b="1" i="0">
                <a:solidFill>
                  <a:srgbClr val="FFFFFF"/>
                </a:solidFill>
                <a:latin typeface="Times New Roman"/>
              </a:rPr>
              <a:t>NFR7</a:t>
            </a:r>
          </a:p>
        </p:txBody>
      </p:sp>
      <p:pic>
        <p:nvPicPr>
          <p:cNvPr id="66" name="Picture 65" descr=""/>
          <p:cNvPicPr>
            <a:picLocks noChangeAspect="1"/>
          </p:cNvPicPr>
          <p:nvPr/>
        </p:nvPicPr>
        <p:blipFill>
          <a:blip r:embed="rId10"/>
          <a:stretch>
            <a:fillRect/>
          </a:stretch>
        </p:blipFill>
        <p:spPr>
          <a:xfrm>
            <a:off x="5577840" y="5504687"/>
            <a:ext cx="246888" cy="246888"/>
          </a:xfrm>
          <a:prstGeom prst="rect">
            <a:avLst/>
          </a:prstGeom>
        </p:spPr>
      </p:pic>
      <p:sp>
        <p:nvSpPr>
          <p:cNvPr id="67" name="TextBox 66"/>
          <p:cNvSpPr txBox="1"/>
          <p:nvPr/>
        </p:nvSpPr>
        <p:spPr>
          <a:xfrm>
            <a:off x="5870448" y="5404103"/>
            <a:ext cx="3017520" cy="448056"/>
          </a:xfrm>
          <a:prstGeom prst="rect">
            <a:avLst/>
          </a:prstGeom>
          <a:noFill/>
        </p:spPr>
        <p:txBody>
          <a:bodyPr wrap="square" lIns="45720" tIns="27432" rIns="45720" bIns="27432" anchor="ctr">
            <a:noAutofit/>
          </a:bodyPr>
          <a:lstStyle/>
          <a:p>
            <a:pPr algn="l"/>
            <a:r>
              <a:rPr sz="1150" b="0" i="0">
                <a:solidFill>
                  <a:srgbClr val="1F1F1F"/>
                </a:solidFill>
                <a:latin typeface="Times New Roman"/>
              </a:rPr>
              <a:t>Runs on a single workstation (≥16 GB RAM)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16. Technology Stack</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Rounded Rectangle 6"/>
          <p:cNvSpPr/>
          <p:nvPr/>
        </p:nvSpPr>
        <p:spPr>
          <a:xfrm>
            <a:off x="228600" y="1792223"/>
            <a:ext cx="1417320" cy="603504"/>
          </a:xfrm>
          <a:prstGeom prst="roundRect">
            <a:avLst>
              <a:gd name="adj" fmla="val 1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8" name="Picture 7" descr=""/>
          <p:cNvPicPr>
            <a:picLocks noChangeAspect="1"/>
          </p:cNvPicPr>
          <p:nvPr/>
        </p:nvPicPr>
        <p:blipFill>
          <a:blip r:embed="rId2"/>
          <a:stretch>
            <a:fillRect/>
          </a:stretch>
        </p:blipFill>
        <p:spPr>
          <a:xfrm>
            <a:off x="804672" y="1847088"/>
            <a:ext cx="256032" cy="256032"/>
          </a:xfrm>
          <a:prstGeom prst="rect">
            <a:avLst/>
          </a:prstGeom>
        </p:spPr>
      </p:pic>
      <p:sp>
        <p:nvSpPr>
          <p:cNvPr id="9" name="TextBox 8"/>
          <p:cNvSpPr txBox="1"/>
          <p:nvPr/>
        </p:nvSpPr>
        <p:spPr>
          <a:xfrm>
            <a:off x="256032" y="2103119"/>
            <a:ext cx="1362456" cy="274320"/>
          </a:xfrm>
          <a:prstGeom prst="rect">
            <a:avLst/>
          </a:prstGeom>
          <a:noFill/>
        </p:spPr>
        <p:txBody>
          <a:bodyPr wrap="square" lIns="18288" tIns="0" rIns="18288" bIns="0" anchor="t">
            <a:noAutofit/>
          </a:bodyPr>
          <a:lstStyle/>
          <a:p>
            <a:pPr algn="ctr"/>
            <a:r>
              <a:rPr sz="1150" b="1" i="0">
                <a:solidFill>
                  <a:srgbClr val="FFFFFF"/>
                </a:solidFill>
                <a:latin typeface="Times New Roman"/>
              </a:rPr>
              <a:t>Interface</a:t>
            </a:r>
          </a:p>
        </p:txBody>
      </p:sp>
      <p:sp>
        <p:nvSpPr>
          <p:cNvPr id="10" name="Rounded Rectangle 9"/>
          <p:cNvSpPr/>
          <p:nvPr/>
        </p:nvSpPr>
        <p:spPr>
          <a:xfrm>
            <a:off x="1737360" y="1792223"/>
            <a:ext cx="4937760" cy="603504"/>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API / DASHBOARD</a:t>
            </a:r>
          </a:p>
          <a:p>
            <a:pPr algn="l"/>
            <a:r>
              <a:rPr sz="1150" b="1" i="0">
                <a:solidFill>
                  <a:srgbClr val="1F1F1F"/>
                </a:solidFill>
                <a:latin typeface="Times New Roman"/>
              </a:rPr>
              <a:t>FastAPI + Streamlit + Plotly</a:t>
            </a:r>
          </a:p>
          <a:p>
            <a:pPr algn="l"/>
            <a:r>
              <a:rPr sz="950" b="0" i="0">
                <a:solidFill>
                  <a:srgbClr val="404040"/>
                </a:solidFill>
                <a:latin typeface="Times New Roman"/>
              </a:rPr>
              <a:t>REST backend and clinician-facing dashboard</a:t>
            </a:r>
          </a:p>
        </p:txBody>
      </p:sp>
      <p:sp>
        <p:nvSpPr>
          <p:cNvPr id="11" name="Rounded Rectangle 10"/>
          <p:cNvSpPr/>
          <p:nvPr/>
        </p:nvSpPr>
        <p:spPr>
          <a:xfrm>
            <a:off x="228600" y="2468880"/>
            <a:ext cx="1417320" cy="603504"/>
          </a:xfrm>
          <a:prstGeom prst="roundRect">
            <a:avLst>
              <a:gd name="adj" fmla="val 1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2" name="Picture 11" descr=""/>
          <p:cNvPicPr>
            <a:picLocks noChangeAspect="1"/>
          </p:cNvPicPr>
          <p:nvPr/>
        </p:nvPicPr>
        <p:blipFill>
          <a:blip r:embed="rId3"/>
          <a:stretch>
            <a:fillRect/>
          </a:stretch>
        </p:blipFill>
        <p:spPr>
          <a:xfrm>
            <a:off x="804672" y="2523744"/>
            <a:ext cx="256032" cy="256032"/>
          </a:xfrm>
          <a:prstGeom prst="rect">
            <a:avLst/>
          </a:prstGeom>
        </p:spPr>
      </p:pic>
      <p:sp>
        <p:nvSpPr>
          <p:cNvPr id="13" name="TextBox 12"/>
          <p:cNvSpPr txBox="1"/>
          <p:nvPr/>
        </p:nvSpPr>
        <p:spPr>
          <a:xfrm>
            <a:off x="256032" y="2779776"/>
            <a:ext cx="1362456" cy="274320"/>
          </a:xfrm>
          <a:prstGeom prst="rect">
            <a:avLst/>
          </a:prstGeom>
          <a:noFill/>
        </p:spPr>
        <p:txBody>
          <a:bodyPr wrap="square" lIns="18288" tIns="0" rIns="18288" bIns="0" anchor="t">
            <a:noAutofit/>
          </a:bodyPr>
          <a:lstStyle/>
          <a:p>
            <a:pPr algn="ctr"/>
            <a:r>
              <a:rPr sz="1150" b="1" i="0">
                <a:solidFill>
                  <a:srgbClr val="FFFFFF"/>
                </a:solidFill>
                <a:latin typeface="Times New Roman"/>
              </a:rPr>
              <a:t>Orchestration</a:t>
            </a:r>
          </a:p>
        </p:txBody>
      </p:sp>
      <p:sp>
        <p:nvSpPr>
          <p:cNvPr id="14" name="Rounded Rectangle 13"/>
          <p:cNvSpPr/>
          <p:nvPr/>
        </p:nvSpPr>
        <p:spPr>
          <a:xfrm>
            <a:off x="1737360" y="2468880"/>
            <a:ext cx="4937760" cy="603504"/>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ORCHESTRATION</a:t>
            </a:r>
          </a:p>
          <a:p>
            <a:pPr algn="l"/>
            <a:r>
              <a:rPr sz="1150" b="1" i="0">
                <a:solidFill>
                  <a:srgbClr val="1F1F1F"/>
                </a:solidFill>
                <a:latin typeface="Times New Roman"/>
              </a:rPr>
              <a:t>LangGraph</a:t>
            </a:r>
          </a:p>
          <a:p>
            <a:pPr algn="l"/>
            <a:r>
              <a:rPr sz="950" b="0" i="0">
                <a:solidFill>
                  <a:srgbClr val="404040"/>
                </a:solidFill>
                <a:latin typeface="Times New Roman"/>
              </a:rPr>
              <a:t>Agent workflow with conditional re-retrieval loops</a:t>
            </a:r>
          </a:p>
        </p:txBody>
      </p:sp>
      <p:sp>
        <p:nvSpPr>
          <p:cNvPr id="15" name="Rounded Rectangle 14"/>
          <p:cNvSpPr/>
          <p:nvPr/>
        </p:nvSpPr>
        <p:spPr>
          <a:xfrm>
            <a:off x="228600" y="3145536"/>
            <a:ext cx="1417320" cy="1005840"/>
          </a:xfrm>
          <a:prstGeom prst="roundRect">
            <a:avLst>
              <a:gd name="adj" fmla="val 1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6" name="Picture 15" descr=""/>
          <p:cNvPicPr>
            <a:picLocks noChangeAspect="1"/>
          </p:cNvPicPr>
          <p:nvPr/>
        </p:nvPicPr>
        <p:blipFill>
          <a:blip r:embed="rId4"/>
          <a:stretch>
            <a:fillRect/>
          </a:stretch>
        </p:blipFill>
        <p:spPr>
          <a:xfrm>
            <a:off x="804672" y="3200400"/>
            <a:ext cx="256032" cy="256032"/>
          </a:xfrm>
          <a:prstGeom prst="rect">
            <a:avLst/>
          </a:prstGeom>
        </p:spPr>
      </p:pic>
      <p:sp>
        <p:nvSpPr>
          <p:cNvPr id="17" name="TextBox 16"/>
          <p:cNvSpPr txBox="1"/>
          <p:nvPr/>
        </p:nvSpPr>
        <p:spPr>
          <a:xfrm>
            <a:off x="256032" y="3456432"/>
            <a:ext cx="1362456" cy="676656"/>
          </a:xfrm>
          <a:prstGeom prst="rect">
            <a:avLst/>
          </a:prstGeom>
          <a:noFill/>
        </p:spPr>
        <p:txBody>
          <a:bodyPr wrap="square" lIns="18288" tIns="0" rIns="18288" bIns="0" anchor="t">
            <a:noAutofit/>
          </a:bodyPr>
          <a:lstStyle/>
          <a:p>
            <a:pPr algn="ctr"/>
            <a:r>
              <a:rPr sz="1150" b="1" i="0">
                <a:solidFill>
                  <a:srgbClr val="FFFFFF"/>
                </a:solidFill>
                <a:latin typeface="Times New Roman"/>
              </a:rPr>
              <a:t>Agents &amp; models</a:t>
            </a:r>
          </a:p>
        </p:txBody>
      </p:sp>
      <p:sp>
        <p:nvSpPr>
          <p:cNvPr id="18" name="Rounded Rectangle 17"/>
          <p:cNvSpPr/>
          <p:nvPr/>
        </p:nvSpPr>
        <p:spPr>
          <a:xfrm>
            <a:off x="1737360" y="3145536"/>
            <a:ext cx="1584960" cy="1005840"/>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MACHINE LEARNING</a:t>
            </a:r>
          </a:p>
          <a:p>
            <a:pPr algn="l"/>
            <a:r>
              <a:rPr sz="1150" b="1" i="0">
                <a:solidFill>
                  <a:srgbClr val="1F1F1F"/>
                </a:solidFill>
                <a:latin typeface="Times New Roman"/>
              </a:rPr>
              <a:t>scikit-learn + XGBoost + SHAP</a:t>
            </a:r>
          </a:p>
          <a:p>
            <a:pPr algn="l"/>
            <a:r>
              <a:rPr sz="950" b="0" i="0">
                <a:solidFill>
                  <a:srgbClr val="404040"/>
                </a:solidFill>
                <a:latin typeface="Times New Roman"/>
              </a:rPr>
              <a:t>Classifier training, inference and explainability [14], [15]</a:t>
            </a:r>
          </a:p>
        </p:txBody>
      </p:sp>
      <p:sp>
        <p:nvSpPr>
          <p:cNvPr id="19" name="Rounded Rectangle 18"/>
          <p:cNvSpPr/>
          <p:nvPr/>
        </p:nvSpPr>
        <p:spPr>
          <a:xfrm>
            <a:off x="3413760" y="3145536"/>
            <a:ext cx="1584960" cy="1005840"/>
          </a:xfrm>
          <a:prstGeom prst="roundRect">
            <a:avLst>
              <a:gd name="adj" fmla="val 10000"/>
            </a:avLst>
          </a:prstGeom>
          <a:solidFill>
            <a:srgbClr val="F2F2F2"/>
          </a:solidFill>
          <a:ln>
            <a:noFill/>
          </a:ln>
        </p:spPr>
        <p:txBody>
          <a:bodyPr rtlCol="0" anchor="ctr" wrap="square" tIns="9144" rIns="73152" bIns="9144">
            <a:noAutofit/>
          </a:bodyPr>
          <a:lstStyle/>
          <a:p>
            <a:pPr algn="l"/>
            <a:r>
              <a:rPr sz="800" b="1" i="0">
                <a:solidFill>
                  <a:srgbClr val="595959"/>
                </a:solidFill>
                <a:latin typeface="Times New Roman"/>
              </a:rPr>
              <a:t>KNOWLEDGE RETRIEVAL</a:t>
            </a:r>
          </a:p>
          <a:p>
            <a:pPr algn="l"/>
            <a:r>
              <a:rPr sz="1150" b="1" i="0">
                <a:solidFill>
                  <a:srgbClr val="1F1F1F"/>
                </a:solidFill>
                <a:latin typeface="Times New Roman"/>
              </a:rPr>
              <a:t>sentence-transformers + FAISS + Neo4j</a:t>
            </a:r>
          </a:p>
          <a:p>
            <a:pPr algn="l"/>
            <a:r>
              <a:rPr sz="950" b="0" i="0">
                <a:solidFill>
                  <a:srgbClr val="404040"/>
                </a:solidFill>
                <a:latin typeface="Times New Roman"/>
              </a:rPr>
              <a:t>GraphRAG [17]: vector search + graph traversal</a:t>
            </a:r>
          </a:p>
        </p:txBody>
      </p:sp>
      <p:sp>
        <p:nvSpPr>
          <p:cNvPr id="20" name="Rounded Rectangle 19"/>
          <p:cNvSpPr/>
          <p:nvPr/>
        </p:nvSpPr>
        <p:spPr>
          <a:xfrm>
            <a:off x="5090160" y="3145536"/>
            <a:ext cx="1584960" cy="1005840"/>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LLM / CONTEXT</a:t>
            </a:r>
          </a:p>
          <a:p>
            <a:pPr algn="l"/>
            <a:r>
              <a:rPr sz="1150" b="1" i="0">
                <a:solidFill>
                  <a:srgbClr val="1F1F1F"/>
                </a:solidFill>
                <a:latin typeface="Times New Roman"/>
              </a:rPr>
              <a:t>Meditron-7B [16] via Ollama</a:t>
            </a:r>
          </a:p>
          <a:p>
            <a:pPr algn="l"/>
            <a:r>
              <a:rPr sz="950" b="0" i="0">
                <a:solidFill>
                  <a:srgbClr val="404040"/>
                </a:solidFill>
                <a:latin typeface="Times New Roman"/>
              </a:rPr>
              <a:t>Medical LLM for context synthesis, runs locally</a:t>
            </a:r>
          </a:p>
        </p:txBody>
      </p:sp>
      <p:sp>
        <p:nvSpPr>
          <p:cNvPr id="21" name="Rounded Rectangle 20"/>
          <p:cNvSpPr/>
          <p:nvPr/>
        </p:nvSpPr>
        <p:spPr>
          <a:xfrm>
            <a:off x="228600" y="4224528"/>
            <a:ext cx="1417320" cy="713232"/>
          </a:xfrm>
          <a:prstGeom prst="roundRect">
            <a:avLst>
              <a:gd name="adj" fmla="val 1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2" name="Picture 21" descr=""/>
          <p:cNvPicPr>
            <a:picLocks noChangeAspect="1"/>
          </p:cNvPicPr>
          <p:nvPr/>
        </p:nvPicPr>
        <p:blipFill>
          <a:blip r:embed="rId5"/>
          <a:stretch>
            <a:fillRect/>
          </a:stretch>
        </p:blipFill>
        <p:spPr>
          <a:xfrm>
            <a:off x="804672" y="4279392"/>
            <a:ext cx="256032" cy="256032"/>
          </a:xfrm>
          <a:prstGeom prst="rect">
            <a:avLst/>
          </a:prstGeom>
        </p:spPr>
      </p:pic>
      <p:sp>
        <p:nvSpPr>
          <p:cNvPr id="23" name="TextBox 22"/>
          <p:cNvSpPr txBox="1"/>
          <p:nvPr/>
        </p:nvSpPr>
        <p:spPr>
          <a:xfrm>
            <a:off x="256032" y="4535424"/>
            <a:ext cx="1362456" cy="384048"/>
          </a:xfrm>
          <a:prstGeom prst="rect">
            <a:avLst/>
          </a:prstGeom>
          <a:noFill/>
        </p:spPr>
        <p:txBody>
          <a:bodyPr wrap="square" lIns="18288" tIns="0" rIns="18288" bIns="0" anchor="t">
            <a:noAutofit/>
          </a:bodyPr>
          <a:lstStyle/>
          <a:p>
            <a:pPr algn="ctr"/>
            <a:r>
              <a:rPr sz="1150" b="1" i="0">
                <a:solidFill>
                  <a:srgbClr val="FFFFFF"/>
                </a:solidFill>
                <a:latin typeface="Times New Roman"/>
              </a:rPr>
              <a:t>Data &amp; storage</a:t>
            </a:r>
          </a:p>
        </p:txBody>
      </p:sp>
      <p:sp>
        <p:nvSpPr>
          <p:cNvPr id="24" name="Rounded Rectangle 23"/>
          <p:cNvSpPr/>
          <p:nvPr/>
        </p:nvSpPr>
        <p:spPr>
          <a:xfrm>
            <a:off x="1737360" y="4224528"/>
            <a:ext cx="2423160" cy="713232"/>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DATA &amp; VALIDATION</a:t>
            </a:r>
          </a:p>
          <a:p>
            <a:pPr algn="l"/>
            <a:r>
              <a:rPr sz="1150" b="1" i="0">
                <a:solidFill>
                  <a:srgbClr val="1F1F1F"/>
                </a:solidFill>
                <a:latin typeface="Times New Roman"/>
              </a:rPr>
              <a:t>pandas + pydantic</a:t>
            </a:r>
          </a:p>
          <a:p>
            <a:pPr algn="l"/>
            <a:r>
              <a:rPr sz="950" b="0" i="0">
                <a:solidFill>
                  <a:srgbClr val="404040"/>
                </a:solidFill>
                <a:latin typeface="Times New Roman"/>
              </a:rPr>
              <a:t>Load, clean and validate patient records</a:t>
            </a:r>
          </a:p>
        </p:txBody>
      </p:sp>
      <p:sp>
        <p:nvSpPr>
          <p:cNvPr id="25" name="Rounded Rectangle 24"/>
          <p:cNvSpPr/>
          <p:nvPr/>
        </p:nvSpPr>
        <p:spPr>
          <a:xfrm>
            <a:off x="4251960" y="4224528"/>
            <a:ext cx="2423160" cy="713232"/>
          </a:xfrm>
          <a:prstGeom prst="roundRect">
            <a:avLst>
              <a:gd name="adj" fmla="val 10000"/>
            </a:avLst>
          </a:prstGeom>
          <a:solidFill>
            <a:srgbClr val="F2F2F2"/>
          </a:solidFill>
          <a:ln>
            <a:noFill/>
          </a:ln>
        </p:spPr>
        <p:txBody>
          <a:bodyPr rtlCol="0" anchor="ctr" wrap="square" tIns="9144" rIns="73152" bIns="9144">
            <a:noAutofit/>
          </a:bodyPr>
          <a:lstStyle/>
          <a:p>
            <a:pPr algn="l"/>
            <a:r>
              <a:rPr sz="800" b="1" i="0">
                <a:solidFill>
                  <a:srgbClr val="595959"/>
                </a:solidFill>
                <a:latin typeface="Times New Roman"/>
              </a:rPr>
              <a:t>AUDIT / STORAGE</a:t>
            </a:r>
          </a:p>
          <a:p>
            <a:pPr algn="l"/>
            <a:r>
              <a:rPr sz="1150" b="1" i="0">
                <a:solidFill>
                  <a:srgbClr val="1F1F1F"/>
                </a:solidFill>
                <a:latin typeface="Times New Roman"/>
              </a:rPr>
              <a:t>SQLite / PostgreSQL</a:t>
            </a:r>
          </a:p>
          <a:p>
            <a:pPr algn="l"/>
            <a:r>
              <a:rPr sz="950" b="0" i="0">
                <a:solidFill>
                  <a:srgbClr val="404040"/>
                </a:solidFill>
                <a:latin typeface="Times New Roman"/>
              </a:rPr>
              <a:t>Append-only audit log and patient case storage</a:t>
            </a:r>
          </a:p>
        </p:txBody>
      </p:sp>
      <p:sp>
        <p:nvSpPr>
          <p:cNvPr id="26" name="Rounded Rectangle 25"/>
          <p:cNvSpPr/>
          <p:nvPr/>
        </p:nvSpPr>
        <p:spPr>
          <a:xfrm>
            <a:off x="228600" y="5010912"/>
            <a:ext cx="1417320" cy="548640"/>
          </a:xfrm>
          <a:prstGeom prst="roundRect">
            <a:avLst>
              <a:gd name="adj" fmla="val 10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7" name="Picture 26" descr=""/>
          <p:cNvPicPr>
            <a:picLocks noChangeAspect="1"/>
          </p:cNvPicPr>
          <p:nvPr/>
        </p:nvPicPr>
        <p:blipFill>
          <a:blip r:embed="rId6"/>
          <a:stretch>
            <a:fillRect/>
          </a:stretch>
        </p:blipFill>
        <p:spPr>
          <a:xfrm>
            <a:off x="804672" y="5065776"/>
            <a:ext cx="256032" cy="256032"/>
          </a:xfrm>
          <a:prstGeom prst="rect">
            <a:avLst/>
          </a:prstGeom>
        </p:spPr>
      </p:pic>
      <p:sp>
        <p:nvSpPr>
          <p:cNvPr id="28" name="TextBox 27"/>
          <p:cNvSpPr txBox="1"/>
          <p:nvPr/>
        </p:nvSpPr>
        <p:spPr>
          <a:xfrm>
            <a:off x="256032" y="5321808"/>
            <a:ext cx="1362456" cy="219456"/>
          </a:xfrm>
          <a:prstGeom prst="rect">
            <a:avLst/>
          </a:prstGeom>
          <a:noFill/>
        </p:spPr>
        <p:txBody>
          <a:bodyPr wrap="square" lIns="18288" tIns="0" rIns="18288" bIns="0" anchor="t">
            <a:noAutofit/>
          </a:bodyPr>
          <a:lstStyle/>
          <a:p>
            <a:pPr algn="ctr"/>
            <a:r>
              <a:rPr sz="1150" b="1" i="0">
                <a:solidFill>
                  <a:srgbClr val="FFFFFF"/>
                </a:solidFill>
                <a:latin typeface="Times New Roman"/>
              </a:rPr>
              <a:t>Foundation</a:t>
            </a:r>
          </a:p>
        </p:txBody>
      </p:sp>
      <p:sp>
        <p:nvSpPr>
          <p:cNvPr id="29" name="Rounded Rectangle 28"/>
          <p:cNvSpPr/>
          <p:nvPr/>
        </p:nvSpPr>
        <p:spPr>
          <a:xfrm>
            <a:off x="1737360" y="5010912"/>
            <a:ext cx="4937760" cy="548640"/>
          </a:xfrm>
          <a:prstGeom prst="roundRect">
            <a:avLst>
              <a:gd name="adj" fmla="val 10000"/>
            </a:avLst>
          </a:prstGeom>
          <a:solidFill>
            <a:srgbClr val="FBECEC"/>
          </a:solidFill>
          <a:ln>
            <a:noFill/>
          </a:ln>
        </p:spPr>
        <p:txBody>
          <a:bodyPr rtlCol="0" anchor="ctr" wrap="square" tIns="9144" rIns="73152" bIns="9144">
            <a:noAutofit/>
          </a:bodyPr>
          <a:lstStyle/>
          <a:p>
            <a:pPr algn="l"/>
            <a:r>
              <a:rPr sz="800" b="1" i="0">
                <a:solidFill>
                  <a:srgbClr val="595959"/>
                </a:solidFill>
                <a:latin typeface="Times New Roman"/>
              </a:rPr>
              <a:t>LANGUAGE</a:t>
            </a:r>
          </a:p>
          <a:p>
            <a:pPr algn="l"/>
            <a:r>
              <a:rPr sz="1150" b="1" i="0">
                <a:solidFill>
                  <a:srgbClr val="1F1F1F"/>
                </a:solidFill>
                <a:latin typeface="Times New Roman"/>
              </a:rPr>
              <a:t>Python 3.11</a:t>
            </a:r>
          </a:p>
          <a:p>
            <a:pPr algn="l"/>
            <a:r>
              <a:rPr sz="950" b="0" i="0">
                <a:solidFill>
                  <a:srgbClr val="404040"/>
                </a:solidFill>
                <a:latin typeface="Times New Roman"/>
              </a:rPr>
              <a:t>Core implementation language</a:t>
            </a:r>
          </a:p>
        </p:txBody>
      </p:sp>
      <p:sp>
        <p:nvSpPr>
          <p:cNvPr id="30" name="TextBox 29"/>
          <p:cNvSpPr txBox="1"/>
          <p:nvPr/>
        </p:nvSpPr>
        <p:spPr>
          <a:xfrm>
            <a:off x="6858000" y="1755648"/>
            <a:ext cx="2057400" cy="274320"/>
          </a:xfrm>
          <a:prstGeom prst="rect">
            <a:avLst/>
          </a:prstGeom>
          <a:noFill/>
        </p:spPr>
        <p:txBody>
          <a:bodyPr wrap="square" lIns="45720" tIns="27432" rIns="45720" bIns="27432" anchor="ctr">
            <a:noAutofit/>
          </a:bodyPr>
          <a:lstStyle/>
          <a:p>
            <a:pPr algn="ctr"/>
            <a:r>
              <a:rPr sz="1000" b="1" i="0">
                <a:solidFill>
                  <a:srgbClr val="595959"/>
                </a:solidFill>
                <a:latin typeface="Times New Roman"/>
              </a:rPr>
              <a:t>ACROSS ALL LAYERS</a:t>
            </a:r>
          </a:p>
        </p:txBody>
      </p:sp>
      <p:sp>
        <p:nvSpPr>
          <p:cNvPr id="31" name="Rounded Rectangle 30"/>
          <p:cNvSpPr/>
          <p:nvPr/>
        </p:nvSpPr>
        <p:spPr>
          <a:xfrm>
            <a:off x="6858000" y="2066544"/>
            <a:ext cx="2057400" cy="1097280"/>
          </a:xfrm>
          <a:prstGeom prst="roundRect">
            <a:avLst>
              <a:gd name="adj" fmla="val 8000"/>
            </a:avLst>
          </a:prstGeom>
          <a:solidFill>
            <a:srgbClr val="FFFFFF"/>
          </a:solidFill>
          <a:ln w="12700">
            <a:solidFill>
              <a:srgbClr val="404040"/>
            </a:solidFill>
            <a:prstDash val="dash"/>
          </a:ln>
        </p:spPr>
        <p:txBody>
          <a:bodyPr rtlCol="0" anchor="t" wrap="square" lIns="45720" tIns="27432" rIns="45720" bIns="27432">
            <a:noAutofit/>
          </a:bodyPr>
          <a:lstStyle/>
          <a:p>
            <a:pPr algn="l"/>
            <a:r>
              <a:rPr sz="1200" b="0" i="0">
                <a:solidFill>
                  <a:srgbClr val="1F1F1F"/>
                </a:solidFill>
                <a:latin typeface="Times New Roman"/>
              </a:rPr>
              <a:t/>
            </a:r>
          </a:p>
        </p:txBody>
      </p:sp>
      <p:sp>
        <p:nvSpPr>
          <p:cNvPr id="32" name="Oval 31"/>
          <p:cNvSpPr/>
          <p:nvPr/>
        </p:nvSpPr>
        <p:spPr>
          <a:xfrm>
            <a:off x="6958584" y="2167128"/>
            <a:ext cx="384048" cy="384048"/>
          </a:xfrm>
          <a:prstGeom prst="ellipse">
            <a:avLst/>
          </a:prstGeom>
          <a:solidFill>
            <a:srgbClr val="40404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3" name="Picture 32" descr=""/>
          <p:cNvPicPr>
            <a:picLocks noChangeAspect="1"/>
          </p:cNvPicPr>
          <p:nvPr/>
        </p:nvPicPr>
        <p:blipFill>
          <a:blip r:embed="rId7"/>
          <a:stretch>
            <a:fillRect/>
          </a:stretch>
        </p:blipFill>
        <p:spPr>
          <a:xfrm>
            <a:off x="7043074" y="2251618"/>
            <a:ext cx="215066" cy="215066"/>
          </a:xfrm>
          <a:prstGeom prst="rect">
            <a:avLst/>
          </a:prstGeom>
        </p:spPr>
      </p:pic>
      <p:sp>
        <p:nvSpPr>
          <p:cNvPr id="34" name="TextBox 33"/>
          <p:cNvSpPr txBox="1"/>
          <p:nvPr/>
        </p:nvSpPr>
        <p:spPr>
          <a:xfrm>
            <a:off x="7406640" y="2157984"/>
            <a:ext cx="1463040" cy="411480"/>
          </a:xfrm>
          <a:prstGeom prst="rect">
            <a:avLst/>
          </a:prstGeom>
          <a:noFill/>
        </p:spPr>
        <p:txBody>
          <a:bodyPr wrap="square" lIns="45720" tIns="27432" rIns="45720" bIns="27432" anchor="ctr">
            <a:noAutofit/>
          </a:bodyPr>
          <a:lstStyle/>
          <a:p>
            <a:pPr algn="l"/>
            <a:r>
              <a:rPr sz="800" b="1" i="0">
                <a:solidFill>
                  <a:srgbClr val="595959"/>
                </a:solidFill>
                <a:latin typeface="Times New Roman"/>
              </a:rPr>
              <a:t>EXPERIMENT TRACKING</a:t>
            </a:r>
          </a:p>
          <a:p>
            <a:pPr algn="l"/>
            <a:r>
              <a:rPr sz="1200" b="1" i="0">
                <a:solidFill>
                  <a:srgbClr val="1F1F1F"/>
                </a:solidFill>
                <a:latin typeface="Times New Roman"/>
              </a:rPr>
              <a:t>MLflow</a:t>
            </a:r>
          </a:p>
        </p:txBody>
      </p:sp>
      <p:sp>
        <p:nvSpPr>
          <p:cNvPr id="35" name="TextBox 34"/>
          <p:cNvSpPr txBox="1"/>
          <p:nvPr/>
        </p:nvSpPr>
        <p:spPr>
          <a:xfrm>
            <a:off x="6931152" y="2596896"/>
            <a:ext cx="1920240" cy="530352"/>
          </a:xfrm>
          <a:prstGeom prst="rect">
            <a:avLst/>
          </a:prstGeom>
          <a:noFill/>
        </p:spPr>
        <p:txBody>
          <a:bodyPr wrap="square" lIns="45720" tIns="27432" rIns="45720" bIns="27432" anchor="ctr">
            <a:noAutofit/>
          </a:bodyPr>
          <a:lstStyle/>
          <a:p>
            <a:pPr algn="ctr"/>
            <a:r>
              <a:rPr sz="1000" b="0" i="0">
                <a:solidFill>
                  <a:srgbClr val="404040"/>
                </a:solidFill>
                <a:latin typeface="Times New Roman"/>
              </a:rPr>
              <a:t>Model versioning, metrics and run comparisons</a:t>
            </a:r>
          </a:p>
        </p:txBody>
      </p:sp>
      <p:sp>
        <p:nvSpPr>
          <p:cNvPr id="36" name="Rounded Rectangle 35"/>
          <p:cNvSpPr/>
          <p:nvPr/>
        </p:nvSpPr>
        <p:spPr>
          <a:xfrm>
            <a:off x="6858000" y="3236976"/>
            <a:ext cx="2057400" cy="1097280"/>
          </a:xfrm>
          <a:prstGeom prst="roundRect">
            <a:avLst>
              <a:gd name="adj" fmla="val 8000"/>
            </a:avLst>
          </a:prstGeom>
          <a:solidFill>
            <a:srgbClr val="FFFFFF"/>
          </a:solidFill>
          <a:ln w="12700">
            <a:solidFill>
              <a:srgbClr val="404040"/>
            </a:solidFill>
            <a:prstDash val="dash"/>
          </a:ln>
        </p:spPr>
        <p:txBody>
          <a:bodyPr rtlCol="0" anchor="t" wrap="square" lIns="45720" tIns="27432" rIns="45720" bIns="27432">
            <a:noAutofit/>
          </a:bodyPr>
          <a:lstStyle/>
          <a:p>
            <a:pPr algn="l"/>
            <a:r>
              <a:rPr sz="1200" b="0" i="0">
                <a:solidFill>
                  <a:srgbClr val="1F1F1F"/>
                </a:solidFill>
                <a:latin typeface="Times New Roman"/>
              </a:rPr>
              <a:t/>
            </a:r>
          </a:p>
        </p:txBody>
      </p:sp>
      <p:sp>
        <p:nvSpPr>
          <p:cNvPr id="37" name="Oval 36"/>
          <p:cNvSpPr/>
          <p:nvPr/>
        </p:nvSpPr>
        <p:spPr>
          <a:xfrm>
            <a:off x="6958584" y="3337560"/>
            <a:ext cx="384048" cy="384048"/>
          </a:xfrm>
          <a:prstGeom prst="ellipse">
            <a:avLst/>
          </a:prstGeom>
          <a:solidFill>
            <a:srgbClr val="40404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8" name="Picture 37" descr=""/>
          <p:cNvPicPr>
            <a:picLocks noChangeAspect="1"/>
          </p:cNvPicPr>
          <p:nvPr/>
        </p:nvPicPr>
        <p:blipFill>
          <a:blip r:embed="rId8"/>
          <a:stretch>
            <a:fillRect/>
          </a:stretch>
        </p:blipFill>
        <p:spPr>
          <a:xfrm>
            <a:off x="7043074" y="3422050"/>
            <a:ext cx="215066" cy="215066"/>
          </a:xfrm>
          <a:prstGeom prst="rect">
            <a:avLst/>
          </a:prstGeom>
        </p:spPr>
      </p:pic>
      <p:sp>
        <p:nvSpPr>
          <p:cNvPr id="39" name="TextBox 38"/>
          <p:cNvSpPr txBox="1"/>
          <p:nvPr/>
        </p:nvSpPr>
        <p:spPr>
          <a:xfrm>
            <a:off x="7406640" y="3328416"/>
            <a:ext cx="1463040" cy="411480"/>
          </a:xfrm>
          <a:prstGeom prst="rect">
            <a:avLst/>
          </a:prstGeom>
          <a:noFill/>
        </p:spPr>
        <p:txBody>
          <a:bodyPr wrap="square" lIns="45720" tIns="27432" rIns="45720" bIns="27432" anchor="ctr">
            <a:noAutofit/>
          </a:bodyPr>
          <a:lstStyle/>
          <a:p>
            <a:pPr algn="l"/>
            <a:r>
              <a:rPr sz="800" b="1" i="0">
                <a:solidFill>
                  <a:srgbClr val="595959"/>
                </a:solidFill>
                <a:latin typeface="Times New Roman"/>
              </a:rPr>
              <a:t>FEDERATED LEARNING</a:t>
            </a:r>
          </a:p>
          <a:p>
            <a:pPr algn="l"/>
            <a:r>
              <a:rPr sz="1200" b="1" i="0">
                <a:solidFill>
                  <a:srgbClr val="1F1F1F"/>
                </a:solidFill>
                <a:latin typeface="Times New Roman"/>
              </a:rPr>
              <a:t>Flower (Flwr)</a:t>
            </a:r>
          </a:p>
        </p:txBody>
      </p:sp>
      <p:sp>
        <p:nvSpPr>
          <p:cNvPr id="40" name="TextBox 39"/>
          <p:cNvSpPr txBox="1"/>
          <p:nvPr/>
        </p:nvSpPr>
        <p:spPr>
          <a:xfrm>
            <a:off x="6931152" y="3767328"/>
            <a:ext cx="1920240" cy="530352"/>
          </a:xfrm>
          <a:prstGeom prst="rect">
            <a:avLst/>
          </a:prstGeom>
          <a:noFill/>
        </p:spPr>
        <p:txBody>
          <a:bodyPr wrap="square" lIns="45720" tIns="27432" rIns="45720" bIns="27432" anchor="ctr">
            <a:noAutofit/>
          </a:bodyPr>
          <a:lstStyle/>
          <a:p>
            <a:pPr algn="ctr"/>
            <a:r>
              <a:rPr sz="1000" b="0" i="0">
                <a:solidFill>
                  <a:srgbClr val="404040"/>
                </a:solidFill>
                <a:latin typeface="Times New Roman"/>
              </a:rPr>
              <a:t>Federated simulation across two hospital datasets</a:t>
            </a:r>
          </a:p>
        </p:txBody>
      </p:sp>
      <p:sp>
        <p:nvSpPr>
          <p:cNvPr id="41" name="Rounded Rectangle 40"/>
          <p:cNvSpPr/>
          <p:nvPr/>
        </p:nvSpPr>
        <p:spPr>
          <a:xfrm>
            <a:off x="6858000" y="4407408"/>
            <a:ext cx="2057400" cy="1097280"/>
          </a:xfrm>
          <a:prstGeom prst="roundRect">
            <a:avLst>
              <a:gd name="adj" fmla="val 8000"/>
            </a:avLst>
          </a:prstGeom>
          <a:solidFill>
            <a:srgbClr val="FFFFFF"/>
          </a:solidFill>
          <a:ln w="12700">
            <a:solidFill>
              <a:srgbClr val="404040"/>
            </a:solidFill>
            <a:prstDash val="dash"/>
          </a:ln>
        </p:spPr>
        <p:txBody>
          <a:bodyPr rtlCol="0" anchor="t" wrap="square" lIns="45720" tIns="27432" rIns="45720" bIns="27432">
            <a:noAutofit/>
          </a:bodyPr>
          <a:lstStyle/>
          <a:p>
            <a:pPr algn="l"/>
            <a:r>
              <a:rPr sz="1200" b="0" i="0">
                <a:solidFill>
                  <a:srgbClr val="1F1F1F"/>
                </a:solidFill>
                <a:latin typeface="Times New Roman"/>
              </a:rPr>
              <a:t/>
            </a:r>
          </a:p>
        </p:txBody>
      </p:sp>
      <p:sp>
        <p:nvSpPr>
          <p:cNvPr id="42" name="Oval 41"/>
          <p:cNvSpPr/>
          <p:nvPr/>
        </p:nvSpPr>
        <p:spPr>
          <a:xfrm>
            <a:off x="6958584" y="4507992"/>
            <a:ext cx="384048" cy="384048"/>
          </a:xfrm>
          <a:prstGeom prst="ellipse">
            <a:avLst/>
          </a:prstGeom>
          <a:solidFill>
            <a:srgbClr val="40404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43" name="Picture 42" descr=""/>
          <p:cNvPicPr>
            <a:picLocks noChangeAspect="1"/>
          </p:cNvPicPr>
          <p:nvPr/>
        </p:nvPicPr>
        <p:blipFill>
          <a:blip r:embed="rId9"/>
          <a:stretch>
            <a:fillRect/>
          </a:stretch>
        </p:blipFill>
        <p:spPr>
          <a:xfrm>
            <a:off x="7043074" y="4592482"/>
            <a:ext cx="215066" cy="215066"/>
          </a:xfrm>
          <a:prstGeom prst="rect">
            <a:avLst/>
          </a:prstGeom>
        </p:spPr>
      </p:pic>
      <p:sp>
        <p:nvSpPr>
          <p:cNvPr id="44" name="TextBox 43"/>
          <p:cNvSpPr txBox="1"/>
          <p:nvPr/>
        </p:nvSpPr>
        <p:spPr>
          <a:xfrm>
            <a:off x="7406640" y="4498848"/>
            <a:ext cx="1463040" cy="411480"/>
          </a:xfrm>
          <a:prstGeom prst="rect">
            <a:avLst/>
          </a:prstGeom>
          <a:noFill/>
        </p:spPr>
        <p:txBody>
          <a:bodyPr wrap="square" lIns="45720" tIns="27432" rIns="45720" bIns="27432" anchor="ctr">
            <a:noAutofit/>
          </a:bodyPr>
          <a:lstStyle/>
          <a:p>
            <a:pPr algn="l"/>
            <a:r>
              <a:rPr sz="800" b="1" i="0">
                <a:solidFill>
                  <a:srgbClr val="595959"/>
                </a:solidFill>
                <a:latin typeface="Times New Roman"/>
              </a:rPr>
              <a:t>TESTING</a:t>
            </a:r>
          </a:p>
          <a:p>
            <a:pPr algn="l"/>
            <a:r>
              <a:rPr sz="1200" b="1" i="0">
                <a:solidFill>
                  <a:srgbClr val="1F1F1F"/>
                </a:solidFill>
                <a:latin typeface="Times New Roman"/>
              </a:rPr>
              <a:t>pytest + Git</a:t>
            </a:r>
          </a:p>
        </p:txBody>
      </p:sp>
      <p:sp>
        <p:nvSpPr>
          <p:cNvPr id="45" name="TextBox 44"/>
          <p:cNvSpPr txBox="1"/>
          <p:nvPr/>
        </p:nvSpPr>
        <p:spPr>
          <a:xfrm>
            <a:off x="6931152" y="4937760"/>
            <a:ext cx="1920240" cy="530352"/>
          </a:xfrm>
          <a:prstGeom prst="rect">
            <a:avLst/>
          </a:prstGeom>
          <a:noFill/>
        </p:spPr>
        <p:txBody>
          <a:bodyPr wrap="square" lIns="45720" tIns="27432" rIns="45720" bIns="27432" anchor="ctr">
            <a:noAutofit/>
          </a:bodyPr>
          <a:lstStyle/>
          <a:p>
            <a:pPr algn="ctr"/>
            <a:r>
              <a:rPr sz="1000" b="0" i="0">
                <a:solidFill>
                  <a:srgbClr val="404040"/>
                </a:solidFill>
                <a:latin typeface="Times New Roman"/>
              </a:rPr>
              <a:t>Test suite: 12 planned cases, TC-01 to TC-12</a:t>
            </a:r>
          </a:p>
        </p:txBody>
      </p:sp>
      <p:sp>
        <p:nvSpPr>
          <p:cNvPr id="46" name="TextBox 45"/>
          <p:cNvSpPr txBox="1"/>
          <p:nvPr/>
        </p:nvSpPr>
        <p:spPr>
          <a:xfrm>
            <a:off x="228600" y="5614416"/>
            <a:ext cx="8686800" cy="256032"/>
          </a:xfrm>
          <a:prstGeom prst="rect">
            <a:avLst/>
          </a:prstGeom>
          <a:noFill/>
        </p:spPr>
        <p:txBody>
          <a:bodyPr wrap="square" lIns="45720" tIns="27432" rIns="45720" bIns="27432" anchor="ctr">
            <a:noAutofit/>
          </a:bodyPr>
          <a:lstStyle/>
          <a:p>
            <a:pPr algn="ctr"/>
            <a:r>
              <a:rPr sz="1100" b="1" i="1">
                <a:solidFill>
                  <a:srgbClr val="404040"/>
                </a:solidFill>
                <a:latin typeface="Times New Roman"/>
              </a:rPr>
              <a:t>Fig. 1.12: </a:t>
            </a:r>
            <a:r>
              <a:rPr sz="1100" b="0" i="1">
                <a:solidFill>
                  <a:srgbClr val="595959"/>
                </a:solidFill>
                <a:latin typeface="Times New Roman"/>
              </a:rPr>
              <a:t>Layered technology stack; the tools on the right serve every layer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17. Testing &amp; Evaluation Plan (Stage II)</a:t>
            </a:r>
          </a:p>
        </p:txBody>
      </p:sp>
      <p:cxnSp>
        <p:nvCxnSpPr>
          <p:cNvPr id="6" name="Connector 5"/>
          <p:cNvCxnSpPr/>
          <p:nvPr/>
        </p:nvCxnSpPr>
        <p:spPr>
          <a:xfrm>
            <a:off x="182880" y="1664208"/>
            <a:ext cx="8778240" cy="0"/>
          </a:xfrm>
          <a:prstGeom prst="line">
            <a:avLst/>
          </a:prstGeom>
          <a:ln w="12700">
            <a:solidFill>
              <a:srgbClr val="8B0000"/>
            </a:solidFill>
          </a:ln>
        </p:spPr>
      </p:cxnSp>
      <p:pic>
        <p:nvPicPr>
          <p:cNvPr id="7" name="Picture 6" descr=""/>
          <p:cNvPicPr>
            <a:picLocks noChangeAspect="1"/>
          </p:cNvPicPr>
          <p:nvPr/>
        </p:nvPicPr>
        <p:blipFill>
          <a:blip r:embed="rId2"/>
          <a:stretch>
            <a:fillRect/>
          </a:stretch>
        </p:blipFill>
        <p:spPr>
          <a:xfrm>
            <a:off x="246888" y="1801368"/>
            <a:ext cx="274320" cy="274320"/>
          </a:xfrm>
          <a:prstGeom prst="rect">
            <a:avLst/>
          </a:prstGeom>
        </p:spPr>
      </p:pic>
      <p:sp>
        <p:nvSpPr>
          <p:cNvPr id="8" name="TextBox 7"/>
          <p:cNvSpPr txBox="1"/>
          <p:nvPr/>
        </p:nvSpPr>
        <p:spPr>
          <a:xfrm>
            <a:off x="566928" y="1755648"/>
            <a:ext cx="4297680" cy="365760"/>
          </a:xfrm>
          <a:prstGeom prst="rect">
            <a:avLst/>
          </a:prstGeom>
          <a:noFill/>
        </p:spPr>
        <p:txBody>
          <a:bodyPr wrap="square" lIns="45720" tIns="27432" rIns="45720" bIns="27432" anchor="ctr">
            <a:noAutofit/>
          </a:bodyPr>
          <a:lstStyle/>
          <a:p>
            <a:pPr algn="l"/>
            <a:r>
              <a:rPr sz="1250" b="1" i="0">
                <a:solidFill>
                  <a:srgbClr val="8B0000"/>
                </a:solidFill>
                <a:latin typeface="Times New Roman"/>
              </a:rPr>
              <a:t>Ablation study: four cumulative conditions on one data split</a:t>
            </a:r>
          </a:p>
        </p:txBody>
      </p:sp>
      <p:sp>
        <p:nvSpPr>
          <p:cNvPr id="9" name="Rounded Rectangle 8"/>
          <p:cNvSpPr/>
          <p:nvPr/>
        </p:nvSpPr>
        <p:spPr>
          <a:xfrm>
            <a:off x="274320" y="3383280"/>
            <a:ext cx="1051560" cy="868680"/>
          </a:xfrm>
          <a:prstGeom prst="roundRect">
            <a:avLst>
              <a:gd name="adj" fmla="val 6000"/>
            </a:avLst>
          </a:prstGeom>
          <a:solidFill>
            <a:srgbClr val="DBE8F5"/>
          </a:solidFill>
          <a:ln w="15875">
            <a:solidFill>
              <a:srgbClr val="34507A"/>
            </a:solidFill>
          </a:ln>
        </p:spPr>
        <p:txBody>
          <a:bodyPr rtlCol="0" anchor="t" wrap="square" lIns="45720" tIns="54864" rIns="45720" bIns="27432">
            <a:noAutofit/>
          </a:bodyPr>
          <a:lstStyle/>
          <a:p>
            <a:pPr algn="ctr"/>
            <a:r>
              <a:rPr sz="1800" b="1" i="0">
                <a:solidFill>
                  <a:srgbClr val="34507A"/>
                </a:solidFill>
                <a:latin typeface="Times New Roman"/>
              </a:rPr>
              <a:t>1</a:t>
            </a:r>
          </a:p>
          <a:p>
            <a:pPr algn="ctr"/>
            <a:r>
              <a:rPr sz="1150" b="1" i="0">
                <a:solidFill>
                  <a:srgbClr val="34507A"/>
                </a:solidFill>
                <a:latin typeface="Times New Roman"/>
              </a:rPr>
              <a:t>ML only</a:t>
            </a:r>
          </a:p>
          <a:p>
            <a:pPr algn="ctr"/>
            <a:r>
              <a:rPr sz="950" b="0" i="0">
                <a:solidFill>
                  <a:srgbClr val="1F1F1F"/>
                </a:solidFill>
                <a:latin typeface="Times New Roman"/>
              </a:rPr>
              <a:t>XGBoost classifier baseline</a:t>
            </a:r>
          </a:p>
        </p:txBody>
      </p:sp>
      <p:sp>
        <p:nvSpPr>
          <p:cNvPr id="10" name="Rounded Rectangle 9"/>
          <p:cNvSpPr/>
          <p:nvPr/>
        </p:nvSpPr>
        <p:spPr>
          <a:xfrm>
            <a:off x="1417320" y="3035808"/>
            <a:ext cx="1051560" cy="1216152"/>
          </a:xfrm>
          <a:prstGeom prst="roundRect">
            <a:avLst>
              <a:gd name="adj" fmla="val 6000"/>
            </a:avLst>
          </a:prstGeom>
          <a:solidFill>
            <a:srgbClr val="E1F0DC"/>
          </a:solidFill>
          <a:ln w="15875">
            <a:solidFill>
              <a:srgbClr val="3F7A3C"/>
            </a:solidFill>
          </a:ln>
        </p:spPr>
        <p:txBody>
          <a:bodyPr rtlCol="0" anchor="t" wrap="square" lIns="45720" tIns="54864" rIns="45720" bIns="27432">
            <a:noAutofit/>
          </a:bodyPr>
          <a:lstStyle/>
          <a:p>
            <a:pPr algn="ctr"/>
            <a:r>
              <a:rPr sz="1800" b="1" i="0">
                <a:solidFill>
                  <a:srgbClr val="3F7A3C"/>
                </a:solidFill>
                <a:latin typeface="Times New Roman"/>
              </a:rPr>
              <a:t>2</a:t>
            </a:r>
          </a:p>
          <a:p>
            <a:pPr algn="ctr"/>
            <a:r>
              <a:rPr sz="1150" b="1" i="0">
                <a:solidFill>
                  <a:srgbClr val="3F7A3C"/>
                </a:solidFill>
                <a:latin typeface="Times New Roman"/>
              </a:rPr>
              <a:t>+ Rules</a:t>
            </a:r>
          </a:p>
          <a:p>
            <a:pPr algn="ctr"/>
            <a:r>
              <a:rPr sz="950" b="0" i="0">
                <a:solidFill>
                  <a:srgbClr val="1F1F1F"/>
                </a:solidFill>
                <a:latin typeface="Times New Roman"/>
              </a:rPr>
              <a:t>Clinical rulebase overlay</a:t>
            </a:r>
          </a:p>
        </p:txBody>
      </p:sp>
      <p:sp>
        <p:nvSpPr>
          <p:cNvPr id="11" name="Rounded Rectangle 10"/>
          <p:cNvSpPr/>
          <p:nvPr/>
        </p:nvSpPr>
        <p:spPr>
          <a:xfrm>
            <a:off x="2560320" y="2688336"/>
            <a:ext cx="1051560" cy="1563624"/>
          </a:xfrm>
          <a:prstGeom prst="roundRect">
            <a:avLst>
              <a:gd name="adj" fmla="val 6000"/>
            </a:avLst>
          </a:prstGeom>
          <a:solidFill>
            <a:srgbClr val="F7DCDC"/>
          </a:solidFill>
          <a:ln w="15875">
            <a:solidFill>
              <a:srgbClr val="B04848"/>
            </a:solidFill>
          </a:ln>
        </p:spPr>
        <p:txBody>
          <a:bodyPr rtlCol="0" anchor="t" wrap="square" lIns="45720" tIns="54864" rIns="45720" bIns="27432">
            <a:noAutofit/>
          </a:bodyPr>
          <a:lstStyle/>
          <a:p>
            <a:pPr algn="ctr"/>
            <a:r>
              <a:rPr sz="1800" b="1" i="0">
                <a:solidFill>
                  <a:srgbClr val="B04848"/>
                </a:solidFill>
                <a:latin typeface="Times New Roman"/>
              </a:rPr>
              <a:t>3</a:t>
            </a:r>
          </a:p>
          <a:p>
            <a:pPr algn="ctr"/>
            <a:r>
              <a:rPr sz="1150" b="1" i="0">
                <a:solidFill>
                  <a:srgbClr val="B04848"/>
                </a:solidFill>
                <a:latin typeface="Times New Roman"/>
              </a:rPr>
              <a:t>+ Retrieval</a:t>
            </a:r>
          </a:p>
          <a:p>
            <a:pPr algn="ctr"/>
            <a:r>
              <a:rPr sz="950" b="0" i="0">
                <a:solidFill>
                  <a:srgbClr val="1F1F1F"/>
                </a:solidFill>
                <a:latin typeface="Times New Roman"/>
              </a:rPr>
              <a:t>FAISS + Neo4j GraphRAG</a:t>
            </a:r>
          </a:p>
        </p:txBody>
      </p:sp>
      <p:sp>
        <p:nvSpPr>
          <p:cNvPr id="12" name="Rounded Rectangle 11"/>
          <p:cNvSpPr/>
          <p:nvPr/>
        </p:nvSpPr>
        <p:spPr>
          <a:xfrm>
            <a:off x="3703320" y="2340864"/>
            <a:ext cx="1051560" cy="1911095"/>
          </a:xfrm>
          <a:prstGeom prst="roundRect">
            <a:avLst>
              <a:gd name="adj" fmla="val 6000"/>
            </a:avLst>
          </a:prstGeom>
          <a:solidFill>
            <a:srgbClr val="E5DEF6"/>
          </a:solidFill>
          <a:ln w="15875">
            <a:solidFill>
              <a:srgbClr val="4E4775"/>
            </a:solidFill>
          </a:ln>
        </p:spPr>
        <p:txBody>
          <a:bodyPr rtlCol="0" anchor="t" wrap="square" lIns="45720" tIns="54864" rIns="45720" bIns="27432">
            <a:noAutofit/>
          </a:bodyPr>
          <a:lstStyle/>
          <a:p>
            <a:pPr algn="ctr"/>
            <a:r>
              <a:rPr sz="1800" b="1" i="0">
                <a:solidFill>
                  <a:srgbClr val="4E4775"/>
                </a:solidFill>
                <a:latin typeface="Times New Roman"/>
              </a:rPr>
              <a:t>4</a:t>
            </a:r>
          </a:p>
          <a:p>
            <a:pPr algn="ctr"/>
            <a:r>
              <a:rPr sz="1150" b="1" i="0">
                <a:solidFill>
                  <a:srgbClr val="4E4775"/>
                </a:solidFill>
                <a:latin typeface="Times New Roman"/>
              </a:rPr>
              <a:t>Full fusion</a:t>
            </a:r>
          </a:p>
          <a:p>
            <a:pPr algn="ctr"/>
            <a:r>
              <a:rPr sz="950" b="0" i="0">
                <a:solidFill>
                  <a:srgbClr val="1F1F1F"/>
                </a:solidFill>
                <a:latin typeface="Times New Roman"/>
              </a:rPr>
              <a:t>All agents + confidence scoring</a:t>
            </a:r>
          </a:p>
        </p:txBody>
      </p:sp>
      <p:cxnSp>
        <p:nvCxnSpPr>
          <p:cNvPr id="13" name="Connector 12"/>
          <p:cNvCxnSpPr/>
          <p:nvPr/>
        </p:nvCxnSpPr>
        <p:spPr>
          <a:xfrm>
            <a:off x="274320" y="4370832"/>
            <a:ext cx="4480560" cy="0"/>
          </a:xfrm>
          <a:prstGeom prst="line">
            <a:avLst/>
          </a:prstGeom>
          <a:ln w="15875">
            <a:solidFill>
              <a:srgbClr val="595959"/>
            </a:solidFill>
            <a:tailEnd type="triangle" w="med" len="med"/>
          </a:ln>
        </p:spPr>
      </p:cxnSp>
      <p:sp>
        <p:nvSpPr>
          <p:cNvPr id="14" name="TextBox 13"/>
          <p:cNvSpPr txBox="1"/>
          <p:nvPr/>
        </p:nvSpPr>
        <p:spPr>
          <a:xfrm>
            <a:off x="228600" y="4398264"/>
            <a:ext cx="4572000" cy="237744"/>
          </a:xfrm>
          <a:prstGeom prst="rect">
            <a:avLst/>
          </a:prstGeom>
          <a:noFill/>
        </p:spPr>
        <p:txBody>
          <a:bodyPr wrap="square" lIns="45720" tIns="27432" rIns="45720" bIns="27432" anchor="ctr">
            <a:noAutofit/>
          </a:bodyPr>
          <a:lstStyle/>
          <a:p>
            <a:pPr algn="ctr"/>
            <a:r>
              <a:rPr sz="1000" b="1" i="1">
                <a:solidFill>
                  <a:srgbClr val="404040"/>
                </a:solidFill>
                <a:latin typeface="Times New Roman"/>
              </a:rPr>
              <a:t>Fig. 1.13: </a:t>
            </a:r>
            <a:r>
              <a:rPr sz="1000" b="0" i="1">
                <a:solidFill>
                  <a:srgbClr val="595959"/>
                </a:solidFill>
                <a:latin typeface="Times New Roman"/>
              </a:rPr>
              <a:t>Four cumulative ablation conditions; each adds one component</a:t>
            </a:r>
          </a:p>
        </p:txBody>
      </p:sp>
      <p:sp>
        <p:nvSpPr>
          <p:cNvPr id="15" name="TextBox 14"/>
          <p:cNvSpPr txBox="1"/>
          <p:nvPr/>
        </p:nvSpPr>
        <p:spPr>
          <a:xfrm>
            <a:off x="228600" y="4681728"/>
            <a:ext cx="3657600" cy="274320"/>
          </a:xfrm>
          <a:prstGeom prst="rect">
            <a:avLst/>
          </a:prstGeom>
          <a:noFill/>
        </p:spPr>
        <p:txBody>
          <a:bodyPr wrap="square" lIns="45720" tIns="27432" rIns="45720" bIns="27432" anchor="ctr">
            <a:noAutofit/>
          </a:bodyPr>
          <a:lstStyle/>
          <a:p>
            <a:pPr algn="l"/>
            <a:r>
              <a:rPr sz="1250" b="1" i="0">
                <a:solidFill>
                  <a:srgbClr val="8B0000"/>
                </a:solidFill>
                <a:latin typeface="Times New Roman"/>
              </a:rPr>
              <a:t>Metrics</a:t>
            </a:r>
          </a:p>
        </p:txBody>
      </p:sp>
      <p:sp>
        <p:nvSpPr>
          <p:cNvPr id="16" name="Rounded Rectangle 15"/>
          <p:cNvSpPr/>
          <p:nvPr/>
        </p:nvSpPr>
        <p:spPr>
          <a:xfrm>
            <a:off x="228600" y="4992624"/>
            <a:ext cx="3015691"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Accuracy · Precision · Recall · F1 · ROC-AUC</a:t>
            </a:r>
          </a:p>
        </p:txBody>
      </p:sp>
      <p:sp>
        <p:nvSpPr>
          <p:cNvPr id="17" name="Rounded Rectangle 16"/>
          <p:cNvSpPr/>
          <p:nvPr/>
        </p:nvSpPr>
        <p:spPr>
          <a:xfrm>
            <a:off x="3335731" y="4992624"/>
            <a:ext cx="1633118"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Calibration error (ECE)</a:t>
            </a:r>
          </a:p>
        </p:txBody>
      </p:sp>
      <p:sp>
        <p:nvSpPr>
          <p:cNvPr id="18" name="Rounded Rectangle 17"/>
          <p:cNvSpPr/>
          <p:nvPr/>
        </p:nvSpPr>
        <p:spPr>
          <a:xfrm>
            <a:off x="228600" y="5321808"/>
            <a:ext cx="1567281"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Evidence precision @ 5</a:t>
            </a:r>
          </a:p>
        </p:txBody>
      </p:sp>
      <p:sp>
        <p:nvSpPr>
          <p:cNvPr id="19" name="Rounded Rectangle 18"/>
          <p:cNvSpPr/>
          <p:nvPr/>
        </p:nvSpPr>
        <p:spPr>
          <a:xfrm>
            <a:off x="1887321" y="5321808"/>
            <a:ext cx="1238097"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Disagreement rate</a:t>
            </a:r>
          </a:p>
        </p:txBody>
      </p:sp>
      <p:sp>
        <p:nvSpPr>
          <p:cNvPr id="20" name="Rounded Rectangle 19"/>
          <p:cNvSpPr/>
          <p:nvPr/>
        </p:nvSpPr>
        <p:spPr>
          <a:xfrm>
            <a:off x="228600" y="5650992"/>
            <a:ext cx="1303934"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End-to-end latency</a:t>
            </a:r>
          </a:p>
        </p:txBody>
      </p:sp>
      <p:sp>
        <p:nvSpPr>
          <p:cNvPr id="21" name="Rounded Rectangle 20"/>
          <p:cNvSpPr/>
          <p:nvPr/>
        </p:nvSpPr>
        <p:spPr>
          <a:xfrm>
            <a:off x="1623974" y="5650992"/>
            <a:ext cx="974750" cy="274320"/>
          </a:xfrm>
          <a:prstGeom prst="roundRect">
            <a:avLst>
              <a:gd name="adj" fmla="val 50000"/>
            </a:avLst>
          </a:prstGeom>
          <a:solidFill>
            <a:srgbClr val="F2F2F2"/>
          </a:solidFill>
          <a:ln w="6350">
            <a:solidFill>
              <a:srgbClr val="BFBFBF"/>
            </a:solidFill>
          </a:ln>
        </p:spPr>
        <p:txBody>
          <a:bodyPr rtlCol="0" anchor="ctr" wrap="square" lIns="18288" tIns="0" rIns="18288" bIns="0">
            <a:noAutofit/>
          </a:bodyPr>
          <a:lstStyle/>
          <a:p>
            <a:pPr algn="ctr"/>
            <a:r>
              <a:rPr sz="1000" b="0" i="0">
                <a:solidFill>
                  <a:srgbClr val="1F1F1F"/>
                </a:solidFill>
                <a:latin typeface="Times New Roman"/>
              </a:rPr>
              <a:t>Cost per case</a:t>
            </a:r>
          </a:p>
        </p:txBody>
      </p:sp>
      <p:pic>
        <p:nvPicPr>
          <p:cNvPr id="22" name="Picture 21" descr=""/>
          <p:cNvPicPr>
            <a:picLocks noChangeAspect="1"/>
          </p:cNvPicPr>
          <p:nvPr/>
        </p:nvPicPr>
        <p:blipFill>
          <a:blip r:embed="rId3"/>
          <a:stretch>
            <a:fillRect/>
          </a:stretch>
        </p:blipFill>
        <p:spPr>
          <a:xfrm>
            <a:off x="5138928" y="1801368"/>
            <a:ext cx="274320" cy="274320"/>
          </a:xfrm>
          <a:prstGeom prst="rect">
            <a:avLst/>
          </a:prstGeom>
        </p:spPr>
      </p:pic>
      <p:sp>
        <p:nvSpPr>
          <p:cNvPr id="23" name="TextBox 22"/>
          <p:cNvSpPr txBox="1"/>
          <p:nvPr/>
        </p:nvSpPr>
        <p:spPr>
          <a:xfrm>
            <a:off x="5458968" y="1755648"/>
            <a:ext cx="3474720" cy="365760"/>
          </a:xfrm>
          <a:prstGeom prst="rect">
            <a:avLst/>
          </a:prstGeom>
          <a:noFill/>
        </p:spPr>
        <p:txBody>
          <a:bodyPr wrap="square" lIns="45720" tIns="27432" rIns="45720" bIns="27432" anchor="ctr">
            <a:noAutofit/>
          </a:bodyPr>
          <a:lstStyle/>
          <a:p>
            <a:pPr algn="l"/>
            <a:r>
              <a:rPr sz="1250" b="1" i="0">
                <a:solidFill>
                  <a:srgbClr val="8B0000"/>
                </a:solidFill>
                <a:latin typeface="Times New Roman"/>
              </a:rPr>
              <a:t>Design targets (Stage I → Stage II)</a:t>
            </a:r>
          </a:p>
        </p:txBody>
      </p:sp>
      <p:sp>
        <p:nvSpPr>
          <p:cNvPr id="24" name="Rounded Rectangle 23"/>
          <p:cNvSpPr/>
          <p:nvPr/>
        </p:nvSpPr>
        <p:spPr>
          <a:xfrm>
            <a:off x="5120640" y="2212848"/>
            <a:ext cx="1828800" cy="105156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5" name="TextBox 24"/>
          <p:cNvSpPr txBox="1"/>
          <p:nvPr/>
        </p:nvSpPr>
        <p:spPr>
          <a:xfrm>
            <a:off x="5120640" y="2286000"/>
            <a:ext cx="1828800" cy="502920"/>
          </a:xfrm>
          <a:prstGeom prst="rect">
            <a:avLst/>
          </a:prstGeom>
          <a:noFill/>
        </p:spPr>
        <p:txBody>
          <a:bodyPr wrap="square" lIns="45720" tIns="27432" rIns="45720" bIns="27432" anchor="ctr">
            <a:noAutofit/>
          </a:bodyPr>
          <a:lstStyle/>
          <a:p>
            <a:pPr algn="ctr"/>
            <a:r>
              <a:rPr sz="2800" b="1" i="0">
                <a:solidFill>
                  <a:srgbClr val="8B0000"/>
                </a:solidFill>
                <a:latin typeface="Times New Roman"/>
              </a:rPr>
              <a:t>≤ 30 s</a:t>
            </a:r>
          </a:p>
        </p:txBody>
      </p:sp>
      <p:sp>
        <p:nvSpPr>
          <p:cNvPr id="26" name="TextBox 25"/>
          <p:cNvSpPr txBox="1"/>
          <p:nvPr/>
        </p:nvSpPr>
        <p:spPr>
          <a:xfrm>
            <a:off x="5193792" y="2788920"/>
            <a:ext cx="1682496" cy="438912"/>
          </a:xfrm>
          <a:prstGeom prst="rect">
            <a:avLst/>
          </a:prstGeom>
          <a:noFill/>
        </p:spPr>
        <p:txBody>
          <a:bodyPr wrap="square" lIns="45720" tIns="27432" rIns="45720" bIns="27432" anchor="t">
            <a:noAutofit/>
          </a:bodyPr>
          <a:lstStyle/>
          <a:p>
            <a:pPr algn="ctr"/>
            <a:r>
              <a:rPr sz="1050" b="0" i="0">
                <a:solidFill>
                  <a:srgbClr val="1F1F1F"/>
                </a:solidFill>
                <a:latin typeface="Times New Roman"/>
              </a:rPr>
              <a:t>End-to-end latency per case</a:t>
            </a:r>
          </a:p>
        </p:txBody>
      </p:sp>
      <p:sp>
        <p:nvSpPr>
          <p:cNvPr id="27" name="Rounded Rectangle 26"/>
          <p:cNvSpPr/>
          <p:nvPr/>
        </p:nvSpPr>
        <p:spPr>
          <a:xfrm>
            <a:off x="7040879" y="2212848"/>
            <a:ext cx="1828800" cy="105156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8" name="TextBox 27"/>
          <p:cNvSpPr txBox="1"/>
          <p:nvPr/>
        </p:nvSpPr>
        <p:spPr>
          <a:xfrm>
            <a:off x="7040879" y="2286000"/>
            <a:ext cx="1828800" cy="502920"/>
          </a:xfrm>
          <a:prstGeom prst="rect">
            <a:avLst/>
          </a:prstGeom>
          <a:noFill/>
        </p:spPr>
        <p:txBody>
          <a:bodyPr wrap="square" lIns="45720" tIns="27432" rIns="45720" bIns="27432" anchor="ctr">
            <a:noAutofit/>
          </a:bodyPr>
          <a:lstStyle/>
          <a:p>
            <a:pPr algn="ctr"/>
            <a:r>
              <a:rPr sz="2800" b="1" i="0">
                <a:solidFill>
                  <a:srgbClr val="8B0000"/>
                </a:solidFill>
                <a:latin typeface="Times New Roman"/>
              </a:rPr>
              <a:t>&lt; 1 s</a:t>
            </a:r>
          </a:p>
        </p:txBody>
      </p:sp>
      <p:sp>
        <p:nvSpPr>
          <p:cNvPr id="29" name="TextBox 28"/>
          <p:cNvSpPr txBox="1"/>
          <p:nvPr/>
        </p:nvSpPr>
        <p:spPr>
          <a:xfrm>
            <a:off x="7114031" y="2788920"/>
            <a:ext cx="1682496" cy="438912"/>
          </a:xfrm>
          <a:prstGeom prst="rect">
            <a:avLst/>
          </a:prstGeom>
          <a:noFill/>
        </p:spPr>
        <p:txBody>
          <a:bodyPr wrap="square" lIns="45720" tIns="27432" rIns="45720" bIns="27432" anchor="t">
            <a:noAutofit/>
          </a:bodyPr>
          <a:lstStyle/>
          <a:p>
            <a:pPr algn="ctr"/>
            <a:r>
              <a:rPr sz="1050" b="0" i="0">
                <a:solidFill>
                  <a:srgbClr val="1F1F1F"/>
                </a:solidFill>
                <a:latin typeface="Times New Roman"/>
              </a:rPr>
              <a:t>ML and rule stages, each</a:t>
            </a:r>
          </a:p>
        </p:txBody>
      </p:sp>
      <p:sp>
        <p:nvSpPr>
          <p:cNvPr id="30" name="Rounded Rectangle 29"/>
          <p:cNvSpPr/>
          <p:nvPr/>
        </p:nvSpPr>
        <p:spPr>
          <a:xfrm>
            <a:off x="5120640" y="3355848"/>
            <a:ext cx="1828800" cy="105156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1" name="TextBox 30"/>
          <p:cNvSpPr txBox="1"/>
          <p:nvPr/>
        </p:nvSpPr>
        <p:spPr>
          <a:xfrm>
            <a:off x="5120640" y="3429000"/>
            <a:ext cx="1828800" cy="502920"/>
          </a:xfrm>
          <a:prstGeom prst="rect">
            <a:avLst/>
          </a:prstGeom>
          <a:noFill/>
        </p:spPr>
        <p:txBody>
          <a:bodyPr wrap="square" lIns="45720" tIns="27432" rIns="45720" bIns="27432" anchor="ctr">
            <a:noAutofit/>
          </a:bodyPr>
          <a:lstStyle/>
          <a:p>
            <a:pPr algn="ctr"/>
            <a:r>
              <a:rPr sz="2800" b="1" i="0">
                <a:solidFill>
                  <a:srgbClr val="8B0000"/>
                </a:solidFill>
                <a:latin typeface="Times New Roman"/>
              </a:rPr>
              <a:t>100%</a:t>
            </a:r>
          </a:p>
        </p:txBody>
      </p:sp>
      <p:sp>
        <p:nvSpPr>
          <p:cNvPr id="32" name="TextBox 31"/>
          <p:cNvSpPr txBox="1"/>
          <p:nvPr/>
        </p:nvSpPr>
        <p:spPr>
          <a:xfrm>
            <a:off x="5193792" y="3931920"/>
            <a:ext cx="1682496" cy="438912"/>
          </a:xfrm>
          <a:prstGeom prst="rect">
            <a:avLst/>
          </a:prstGeom>
          <a:noFill/>
        </p:spPr>
        <p:txBody>
          <a:bodyPr wrap="square" lIns="45720" tIns="27432" rIns="45720" bIns="27432" anchor="t">
            <a:noAutofit/>
          </a:bodyPr>
          <a:lstStyle/>
          <a:p>
            <a:pPr algn="ctr"/>
            <a:r>
              <a:rPr sz="1050" b="0" i="0">
                <a:solidFill>
                  <a:srgbClr val="1F1F1F"/>
                </a:solidFill>
                <a:latin typeface="Times New Roman"/>
              </a:rPr>
              <a:t>Reports with all mandatory fields</a:t>
            </a:r>
          </a:p>
        </p:txBody>
      </p:sp>
      <p:sp>
        <p:nvSpPr>
          <p:cNvPr id="33" name="Rounded Rectangle 32"/>
          <p:cNvSpPr/>
          <p:nvPr/>
        </p:nvSpPr>
        <p:spPr>
          <a:xfrm>
            <a:off x="7040879" y="3355848"/>
            <a:ext cx="1828800" cy="105156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4" name="TextBox 33"/>
          <p:cNvSpPr txBox="1"/>
          <p:nvPr/>
        </p:nvSpPr>
        <p:spPr>
          <a:xfrm>
            <a:off x="7040879" y="3429000"/>
            <a:ext cx="1828800" cy="502920"/>
          </a:xfrm>
          <a:prstGeom prst="rect">
            <a:avLst/>
          </a:prstGeom>
          <a:noFill/>
        </p:spPr>
        <p:txBody>
          <a:bodyPr wrap="square" lIns="45720" tIns="27432" rIns="45720" bIns="27432" anchor="ctr">
            <a:noAutofit/>
          </a:bodyPr>
          <a:lstStyle/>
          <a:p>
            <a:pPr algn="ctr"/>
            <a:r>
              <a:rPr sz="2800" b="1" i="0">
                <a:solidFill>
                  <a:srgbClr val="8B0000"/>
                </a:solidFill>
                <a:latin typeface="Times New Roman"/>
              </a:rPr>
              <a:t>12</a:t>
            </a:r>
          </a:p>
        </p:txBody>
      </p:sp>
      <p:sp>
        <p:nvSpPr>
          <p:cNvPr id="35" name="TextBox 34"/>
          <p:cNvSpPr txBox="1"/>
          <p:nvPr/>
        </p:nvSpPr>
        <p:spPr>
          <a:xfrm>
            <a:off x="7114031" y="3931920"/>
            <a:ext cx="1682496" cy="438912"/>
          </a:xfrm>
          <a:prstGeom prst="rect">
            <a:avLst/>
          </a:prstGeom>
          <a:noFill/>
        </p:spPr>
        <p:txBody>
          <a:bodyPr wrap="square" lIns="45720" tIns="27432" rIns="45720" bIns="27432" anchor="t">
            <a:noAutofit/>
          </a:bodyPr>
          <a:lstStyle/>
          <a:p>
            <a:pPr algn="ctr"/>
            <a:r>
              <a:rPr sz="1050" b="0" i="0">
                <a:solidFill>
                  <a:srgbClr val="1F1F1F"/>
                </a:solidFill>
                <a:latin typeface="Times New Roman"/>
              </a:rPr>
              <a:t>Planned test cases, TC-01 to TC-12</a:t>
            </a:r>
          </a:p>
        </p:txBody>
      </p:sp>
      <p:sp>
        <p:nvSpPr>
          <p:cNvPr id="36" name="Rounded Rectangle 35"/>
          <p:cNvSpPr/>
          <p:nvPr/>
        </p:nvSpPr>
        <p:spPr>
          <a:xfrm>
            <a:off x="5120640" y="4590288"/>
            <a:ext cx="3749039" cy="1298448"/>
          </a:xfrm>
          <a:prstGeom prst="roundRect">
            <a:avLst>
              <a:gd name="adj" fmla="val 8000"/>
            </a:avLst>
          </a:prstGeom>
          <a:solidFill>
            <a:srgbClr val="40404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7" name="Oval 36"/>
          <p:cNvSpPr/>
          <p:nvPr/>
        </p:nvSpPr>
        <p:spPr>
          <a:xfrm>
            <a:off x="5321808" y="4937760"/>
            <a:ext cx="603504" cy="60350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38" name="Picture 37" descr=""/>
          <p:cNvPicPr>
            <a:picLocks noChangeAspect="1"/>
          </p:cNvPicPr>
          <p:nvPr/>
        </p:nvPicPr>
        <p:blipFill>
          <a:blip r:embed="rId4"/>
          <a:stretch>
            <a:fillRect/>
          </a:stretch>
        </p:blipFill>
        <p:spPr>
          <a:xfrm>
            <a:off x="5454578" y="5070530"/>
            <a:ext cx="337962" cy="337962"/>
          </a:xfrm>
          <a:prstGeom prst="rect">
            <a:avLst/>
          </a:prstGeom>
        </p:spPr>
      </p:pic>
      <p:sp>
        <p:nvSpPr>
          <p:cNvPr id="39" name="TextBox 38"/>
          <p:cNvSpPr txBox="1"/>
          <p:nvPr/>
        </p:nvSpPr>
        <p:spPr>
          <a:xfrm>
            <a:off x="6053328" y="4645152"/>
            <a:ext cx="2788920" cy="1188720"/>
          </a:xfrm>
          <a:prstGeom prst="rect">
            <a:avLst/>
          </a:prstGeom>
          <a:noFill/>
        </p:spPr>
        <p:txBody>
          <a:bodyPr wrap="square" lIns="45720" tIns="27432" rIns="45720" bIns="27432" anchor="ctr">
            <a:noAutofit/>
          </a:bodyPr>
          <a:lstStyle/>
          <a:p>
            <a:pPr algn="l"/>
            <a:r>
              <a:rPr sz="950" b="1" i="0">
                <a:solidFill>
                  <a:srgbClr val="D9D9D9"/>
                </a:solidFill>
                <a:latin typeface="Times New Roman"/>
              </a:rPr>
              <a:t>DATASET</a:t>
            </a:r>
          </a:p>
          <a:p>
            <a:pPr algn="l"/>
            <a:r>
              <a:rPr sz="1400" b="1" i="0">
                <a:solidFill>
                  <a:srgbClr val="FFFFFF"/>
                </a:solidFill>
                <a:latin typeface="Times New Roman"/>
              </a:rPr>
              <a:t>Cleveland Heart Disease (UCI)</a:t>
            </a:r>
          </a:p>
          <a:p>
            <a:pPr algn="l"/>
            <a:r>
              <a:rPr sz="1250" b="0" i="0">
                <a:solidFill>
                  <a:srgbClr val="F2F2F2"/>
                </a:solidFill>
                <a:latin typeface="Times New Roman"/>
              </a:rPr>
              <a:t>303 rows · 13 features [13]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18. Dataset Split &amp; Cross-Validation Folds</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TextBox 6"/>
          <p:cNvSpPr txBox="1"/>
          <p:nvPr/>
        </p:nvSpPr>
        <p:spPr>
          <a:xfrm>
            <a:off x="228600" y="1737360"/>
            <a:ext cx="5669280" cy="292608"/>
          </a:xfrm>
          <a:prstGeom prst="rect">
            <a:avLst/>
          </a:prstGeom>
          <a:noFill/>
        </p:spPr>
        <p:txBody>
          <a:bodyPr wrap="square" lIns="45720" tIns="27432" rIns="45720" bIns="27432" anchor="ctr">
            <a:noAutofit/>
          </a:bodyPr>
          <a:lstStyle/>
          <a:p>
            <a:pPr algn="l"/>
            <a:r>
              <a:rPr sz="1300" b="1" i="0">
                <a:solidFill>
                  <a:srgbClr val="8B0000"/>
                </a:solidFill>
                <a:latin typeface="Times New Roman"/>
              </a:rPr>
              <a:t>A. Hold-out split used for the reported results</a:t>
            </a:r>
          </a:p>
        </p:txBody>
      </p:sp>
      <p:sp>
        <p:nvSpPr>
          <p:cNvPr id="8" name="TextBox 7"/>
          <p:cNvSpPr txBox="1"/>
          <p:nvPr/>
        </p:nvSpPr>
        <p:spPr>
          <a:xfrm>
            <a:off x="5852160" y="1737360"/>
            <a:ext cx="3063240" cy="292608"/>
          </a:xfrm>
          <a:prstGeom prst="rect">
            <a:avLst/>
          </a:prstGeom>
          <a:noFill/>
        </p:spPr>
        <p:txBody>
          <a:bodyPr wrap="square" lIns="45720" tIns="27432" rIns="45720" bIns="27432" anchor="ctr">
            <a:noAutofit/>
          </a:bodyPr>
          <a:lstStyle/>
          <a:p>
            <a:pPr algn="r"/>
            <a:r>
              <a:rPr sz="1050" b="0" i="1">
                <a:solidFill>
                  <a:srgbClr val="595959"/>
                </a:solidFill>
                <a:latin typeface="Times New Roman"/>
              </a:rPr>
              <a:t>Cleveland Heart Disease [13]: 303 records</a:t>
            </a:r>
          </a:p>
        </p:txBody>
      </p:sp>
      <p:sp>
        <p:nvSpPr>
          <p:cNvPr id="9" name="Rounded Rectangle 8"/>
          <p:cNvSpPr/>
          <p:nvPr/>
        </p:nvSpPr>
        <p:spPr>
          <a:xfrm>
            <a:off x="228600" y="2084832"/>
            <a:ext cx="6032173" cy="658368"/>
          </a:xfrm>
          <a:prstGeom prst="roundRect">
            <a:avLst>
              <a:gd name="adj" fmla="val 10000"/>
            </a:avLst>
          </a:prstGeom>
          <a:solidFill>
            <a:srgbClr val="DBE8F5"/>
          </a:solidFill>
          <a:ln w="15875">
            <a:solidFill>
              <a:srgbClr val="34507A"/>
            </a:solidFill>
          </a:ln>
        </p:spPr>
        <p:txBody>
          <a:bodyPr rtlCol="0" anchor="ctr" wrap="square" lIns="27432" tIns="0" rIns="27432" bIns="0">
            <a:noAutofit/>
          </a:bodyPr>
          <a:lstStyle/>
          <a:p>
            <a:pPr algn="ctr"/>
            <a:r>
              <a:rPr sz="1150" b="1" i="0">
                <a:solidFill>
                  <a:srgbClr val="34507A"/>
                </a:solidFill>
                <a:latin typeface="Times New Roman"/>
              </a:rPr>
              <a:t>Training set</a:t>
            </a:r>
          </a:p>
          <a:p>
            <a:pPr algn="ctr"/>
            <a:r>
              <a:rPr sz="1000" b="1" i="0">
                <a:solidFill>
                  <a:srgbClr val="1F1F1F"/>
                </a:solidFill>
                <a:latin typeface="Times New Roman"/>
              </a:rPr>
              <a:t>212 records · 70%</a:t>
            </a:r>
          </a:p>
          <a:p>
            <a:pPr algn="ctr"/>
            <a:r>
              <a:rPr sz="900" b="0" i="0">
                <a:solidFill>
                  <a:srgbClr val="404040"/>
                </a:solidFill>
                <a:latin typeface="Times New Roman"/>
              </a:rPr>
              <a:t>97 disease / 115 healthy</a:t>
            </a:r>
          </a:p>
        </p:txBody>
      </p:sp>
      <p:sp>
        <p:nvSpPr>
          <p:cNvPr id="10" name="TextBox 9"/>
          <p:cNvSpPr txBox="1"/>
          <p:nvPr/>
        </p:nvSpPr>
        <p:spPr>
          <a:xfrm>
            <a:off x="228600" y="2761488"/>
            <a:ext cx="6032173" cy="438912"/>
          </a:xfrm>
          <a:prstGeom prst="rect">
            <a:avLst/>
          </a:prstGeom>
          <a:noFill/>
        </p:spPr>
        <p:txBody>
          <a:bodyPr wrap="square" lIns="18288" tIns="0" rIns="18288" bIns="0" anchor="t">
            <a:noAutofit/>
          </a:bodyPr>
          <a:lstStyle/>
          <a:p>
            <a:pPr algn="ctr"/>
            <a:r>
              <a:rPr sz="950" b="0" i="1">
                <a:solidFill>
                  <a:srgbClr val="404040"/>
                </a:solidFill>
                <a:latin typeface="Times New Roman"/>
              </a:rPr>
              <a:t>fits the XGBoost [14] model</a:t>
            </a:r>
          </a:p>
        </p:txBody>
      </p:sp>
      <p:sp>
        <p:nvSpPr>
          <p:cNvPr id="11" name="Rounded Rectangle 10"/>
          <p:cNvSpPr/>
          <p:nvPr/>
        </p:nvSpPr>
        <p:spPr>
          <a:xfrm>
            <a:off x="6306493" y="2084832"/>
            <a:ext cx="1244398" cy="658368"/>
          </a:xfrm>
          <a:prstGeom prst="roundRect">
            <a:avLst>
              <a:gd name="adj" fmla="val 10000"/>
            </a:avLst>
          </a:prstGeom>
          <a:solidFill>
            <a:srgbClr val="E5DEF6"/>
          </a:solidFill>
          <a:ln w="15875">
            <a:solidFill>
              <a:srgbClr val="4E4775"/>
            </a:solidFill>
          </a:ln>
        </p:spPr>
        <p:txBody>
          <a:bodyPr rtlCol="0" anchor="ctr" wrap="square" lIns="27432" tIns="0" rIns="27432" bIns="0">
            <a:noAutofit/>
          </a:bodyPr>
          <a:lstStyle/>
          <a:p>
            <a:pPr algn="ctr"/>
            <a:r>
              <a:rPr sz="1150" b="1" i="0">
                <a:solidFill>
                  <a:srgbClr val="4E4775"/>
                </a:solidFill>
                <a:latin typeface="Times New Roman"/>
              </a:rPr>
              <a:t>Validation set</a:t>
            </a:r>
          </a:p>
          <a:p>
            <a:pPr algn="ctr"/>
            <a:r>
              <a:rPr sz="1000" b="1" i="0">
                <a:solidFill>
                  <a:srgbClr val="1F1F1F"/>
                </a:solidFill>
                <a:latin typeface="Times New Roman"/>
              </a:rPr>
              <a:t>45 records · 15%</a:t>
            </a:r>
          </a:p>
          <a:p>
            <a:pPr algn="ctr"/>
            <a:r>
              <a:rPr sz="900" b="0" i="0">
                <a:solidFill>
                  <a:srgbClr val="404040"/>
                </a:solidFill>
                <a:latin typeface="Times New Roman"/>
              </a:rPr>
              <a:t>21 disease / 24 healthy</a:t>
            </a:r>
          </a:p>
        </p:txBody>
      </p:sp>
      <p:sp>
        <p:nvSpPr>
          <p:cNvPr id="12" name="TextBox 11"/>
          <p:cNvSpPr txBox="1"/>
          <p:nvPr/>
        </p:nvSpPr>
        <p:spPr>
          <a:xfrm>
            <a:off x="6306493" y="2761488"/>
            <a:ext cx="1244398" cy="438912"/>
          </a:xfrm>
          <a:prstGeom prst="rect">
            <a:avLst/>
          </a:prstGeom>
          <a:noFill/>
        </p:spPr>
        <p:txBody>
          <a:bodyPr wrap="square" lIns="18288" tIns="0" rIns="18288" bIns="0" anchor="t">
            <a:noAutofit/>
          </a:bodyPr>
          <a:lstStyle/>
          <a:p>
            <a:pPr algn="ctr"/>
            <a:r>
              <a:rPr sz="950" b="0" i="1">
                <a:solidFill>
                  <a:srgbClr val="404040"/>
                </a:solidFill>
                <a:latin typeface="Times New Roman"/>
              </a:rPr>
              <a:t>kept aside to tune fusion weights in Stage II</a:t>
            </a:r>
          </a:p>
        </p:txBody>
      </p:sp>
      <p:sp>
        <p:nvSpPr>
          <p:cNvPr id="13" name="Rounded Rectangle 12"/>
          <p:cNvSpPr/>
          <p:nvPr/>
        </p:nvSpPr>
        <p:spPr>
          <a:xfrm>
            <a:off x="7596611" y="2084832"/>
            <a:ext cx="1273068" cy="658368"/>
          </a:xfrm>
          <a:prstGeom prst="roundRect">
            <a:avLst>
              <a:gd name="adj" fmla="val 10000"/>
            </a:avLst>
          </a:prstGeom>
          <a:solidFill>
            <a:srgbClr val="F7DCDC"/>
          </a:solidFill>
          <a:ln w="15875">
            <a:solidFill>
              <a:srgbClr val="B04848"/>
            </a:solidFill>
          </a:ln>
        </p:spPr>
        <p:txBody>
          <a:bodyPr rtlCol="0" anchor="ctr" wrap="square" lIns="27432" tIns="0" rIns="27432" bIns="0">
            <a:noAutofit/>
          </a:bodyPr>
          <a:lstStyle/>
          <a:p>
            <a:pPr algn="ctr"/>
            <a:r>
              <a:rPr sz="1150" b="1" i="0">
                <a:solidFill>
                  <a:srgbClr val="B04848"/>
                </a:solidFill>
                <a:latin typeface="Times New Roman"/>
              </a:rPr>
              <a:t>Test set</a:t>
            </a:r>
          </a:p>
          <a:p>
            <a:pPr algn="ctr"/>
            <a:r>
              <a:rPr sz="1000" b="1" i="0">
                <a:solidFill>
                  <a:srgbClr val="1F1F1F"/>
                </a:solidFill>
                <a:latin typeface="Times New Roman"/>
              </a:rPr>
              <a:t>46 records · 15%</a:t>
            </a:r>
          </a:p>
          <a:p>
            <a:pPr algn="ctr"/>
            <a:r>
              <a:rPr sz="900" b="0" i="0">
                <a:solidFill>
                  <a:srgbClr val="404040"/>
                </a:solidFill>
                <a:latin typeface="Times New Roman"/>
              </a:rPr>
              <a:t>21 disease / 25 healthy</a:t>
            </a:r>
          </a:p>
        </p:txBody>
      </p:sp>
      <p:sp>
        <p:nvSpPr>
          <p:cNvPr id="14" name="TextBox 13"/>
          <p:cNvSpPr txBox="1"/>
          <p:nvPr/>
        </p:nvSpPr>
        <p:spPr>
          <a:xfrm>
            <a:off x="7596611" y="2761488"/>
            <a:ext cx="1273068" cy="438912"/>
          </a:xfrm>
          <a:prstGeom prst="rect">
            <a:avLst/>
          </a:prstGeom>
          <a:noFill/>
        </p:spPr>
        <p:txBody>
          <a:bodyPr wrap="square" lIns="18288" tIns="0" rIns="18288" bIns="0" anchor="t">
            <a:noAutofit/>
          </a:bodyPr>
          <a:lstStyle/>
          <a:p>
            <a:pPr algn="ctr"/>
            <a:r>
              <a:rPr sz="950" b="0" i="1">
                <a:solidFill>
                  <a:srgbClr val="404040"/>
                </a:solidFill>
                <a:latin typeface="Times New Roman"/>
              </a:rPr>
              <a:t>used once, for the confusion matrix</a:t>
            </a:r>
          </a:p>
        </p:txBody>
      </p:sp>
      <p:sp>
        <p:nvSpPr>
          <p:cNvPr id="15" name="TextBox 14"/>
          <p:cNvSpPr txBox="1"/>
          <p:nvPr/>
        </p:nvSpPr>
        <p:spPr>
          <a:xfrm>
            <a:off x="228600" y="3236976"/>
            <a:ext cx="5669280" cy="292608"/>
          </a:xfrm>
          <a:prstGeom prst="rect">
            <a:avLst/>
          </a:prstGeom>
          <a:noFill/>
        </p:spPr>
        <p:txBody>
          <a:bodyPr wrap="square" lIns="45720" tIns="27432" rIns="45720" bIns="27432" anchor="ctr">
            <a:noAutofit/>
          </a:bodyPr>
          <a:lstStyle/>
          <a:p>
            <a:pPr algn="l"/>
            <a:r>
              <a:rPr sz="1300" b="1" i="0">
                <a:solidFill>
                  <a:srgbClr val="8B0000"/>
                </a:solidFill>
                <a:latin typeface="Times New Roman"/>
              </a:rPr>
              <a:t>B. 5-fold stratified cross-validation (robustness check)</a:t>
            </a:r>
          </a:p>
        </p:txBody>
      </p:sp>
      <p:sp>
        <p:nvSpPr>
          <p:cNvPr id="16" name="Rounded Rectangle 15"/>
          <p:cNvSpPr/>
          <p:nvPr/>
        </p:nvSpPr>
        <p:spPr>
          <a:xfrm>
            <a:off x="6629400" y="3273552"/>
            <a:ext cx="1170432" cy="237744"/>
          </a:xfrm>
          <a:prstGeom prst="roundRect">
            <a:avLst>
              <a:gd name="adj" fmla="val 50000"/>
            </a:avLst>
          </a:prstGeom>
          <a:solidFill>
            <a:srgbClr val="DBE8F5"/>
          </a:solidFill>
          <a:ln w="9525">
            <a:solidFill>
              <a:srgbClr val="34507A"/>
            </a:solidFill>
          </a:ln>
        </p:spPr>
        <p:txBody>
          <a:bodyPr rtlCol="0" anchor="ctr" wrap="square" lIns="0" tIns="0" rIns="0" bIns="0">
            <a:noAutofit/>
          </a:bodyPr>
          <a:lstStyle/>
          <a:p>
            <a:pPr algn="ctr"/>
            <a:r>
              <a:rPr sz="950" b="1" i="0">
                <a:solidFill>
                  <a:srgbClr val="34507A"/>
                </a:solidFill>
                <a:latin typeface="Times New Roman"/>
              </a:rPr>
              <a:t>Training folds</a:t>
            </a:r>
          </a:p>
        </p:txBody>
      </p:sp>
      <p:sp>
        <p:nvSpPr>
          <p:cNvPr id="17" name="Rounded Rectangle 16"/>
          <p:cNvSpPr/>
          <p:nvPr/>
        </p:nvSpPr>
        <p:spPr>
          <a:xfrm>
            <a:off x="7882127" y="3273552"/>
            <a:ext cx="1033271" cy="237744"/>
          </a:xfrm>
          <a:prstGeom prst="roundRect">
            <a:avLst>
              <a:gd name="adj" fmla="val 5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fold</a:t>
            </a:r>
          </a:p>
        </p:txBody>
      </p:sp>
      <p:sp>
        <p:nvSpPr>
          <p:cNvPr id="18" name="TextBox 17"/>
          <p:cNvSpPr txBox="1"/>
          <p:nvPr/>
        </p:nvSpPr>
        <p:spPr>
          <a:xfrm>
            <a:off x="1097280" y="3547871"/>
            <a:ext cx="969264"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Fold 1</a:t>
            </a:r>
          </a:p>
        </p:txBody>
      </p:sp>
      <p:sp>
        <p:nvSpPr>
          <p:cNvPr id="19" name="TextBox 18"/>
          <p:cNvSpPr txBox="1"/>
          <p:nvPr/>
        </p:nvSpPr>
        <p:spPr>
          <a:xfrm>
            <a:off x="2103120" y="3547871"/>
            <a:ext cx="969264"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Fold 2</a:t>
            </a:r>
          </a:p>
        </p:txBody>
      </p:sp>
      <p:sp>
        <p:nvSpPr>
          <p:cNvPr id="20" name="TextBox 19"/>
          <p:cNvSpPr txBox="1"/>
          <p:nvPr/>
        </p:nvSpPr>
        <p:spPr>
          <a:xfrm>
            <a:off x="3108960" y="3547871"/>
            <a:ext cx="969264"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Fold 3</a:t>
            </a:r>
          </a:p>
        </p:txBody>
      </p:sp>
      <p:sp>
        <p:nvSpPr>
          <p:cNvPr id="21" name="TextBox 20"/>
          <p:cNvSpPr txBox="1"/>
          <p:nvPr/>
        </p:nvSpPr>
        <p:spPr>
          <a:xfrm>
            <a:off x="4114800" y="3547871"/>
            <a:ext cx="969264"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Fold 4</a:t>
            </a:r>
          </a:p>
        </p:txBody>
      </p:sp>
      <p:sp>
        <p:nvSpPr>
          <p:cNvPr id="22" name="TextBox 21"/>
          <p:cNvSpPr txBox="1"/>
          <p:nvPr/>
        </p:nvSpPr>
        <p:spPr>
          <a:xfrm>
            <a:off x="5120640" y="3547871"/>
            <a:ext cx="969264"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Fold 5</a:t>
            </a:r>
          </a:p>
        </p:txBody>
      </p:sp>
      <p:sp>
        <p:nvSpPr>
          <p:cNvPr id="23" name="TextBox 22"/>
          <p:cNvSpPr txBox="1"/>
          <p:nvPr/>
        </p:nvSpPr>
        <p:spPr>
          <a:xfrm>
            <a:off x="6217920" y="3547871"/>
            <a:ext cx="1188720"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Accuracy</a:t>
            </a:r>
          </a:p>
        </p:txBody>
      </p:sp>
      <p:sp>
        <p:nvSpPr>
          <p:cNvPr id="24" name="TextBox 23"/>
          <p:cNvSpPr txBox="1"/>
          <p:nvPr/>
        </p:nvSpPr>
        <p:spPr>
          <a:xfrm>
            <a:off x="7498079" y="3547871"/>
            <a:ext cx="1188720" cy="237744"/>
          </a:xfrm>
          <a:prstGeom prst="rect">
            <a:avLst/>
          </a:prstGeom>
          <a:noFill/>
        </p:spPr>
        <p:txBody>
          <a:bodyPr wrap="square" lIns="45720" tIns="27432" rIns="45720" bIns="27432" anchor="ctr">
            <a:noAutofit/>
          </a:bodyPr>
          <a:lstStyle/>
          <a:p>
            <a:pPr algn="ctr"/>
            <a:r>
              <a:rPr sz="1050" b="1" i="0">
                <a:solidFill>
                  <a:srgbClr val="404040"/>
                </a:solidFill>
                <a:latin typeface="Times New Roman"/>
              </a:rPr>
              <a:t>F1-score</a:t>
            </a:r>
          </a:p>
        </p:txBody>
      </p:sp>
      <p:sp>
        <p:nvSpPr>
          <p:cNvPr id="25" name="TextBox 24"/>
          <p:cNvSpPr txBox="1"/>
          <p:nvPr/>
        </p:nvSpPr>
        <p:spPr>
          <a:xfrm>
            <a:off x="228600" y="3803904"/>
            <a:ext cx="841248" cy="274320"/>
          </a:xfrm>
          <a:prstGeom prst="rect">
            <a:avLst/>
          </a:prstGeom>
          <a:noFill/>
        </p:spPr>
        <p:txBody>
          <a:bodyPr wrap="square" lIns="45720" tIns="27432" rIns="45720" bIns="27432" anchor="ctr">
            <a:noAutofit/>
          </a:bodyPr>
          <a:lstStyle/>
          <a:p>
            <a:pPr algn="l"/>
            <a:r>
              <a:rPr sz="1050" b="1" i="0">
                <a:solidFill>
                  <a:srgbClr val="1F1F1F"/>
                </a:solidFill>
                <a:latin typeface="Times New Roman"/>
              </a:rPr>
              <a:t>Round 1</a:t>
            </a:r>
          </a:p>
        </p:txBody>
      </p:sp>
      <p:sp>
        <p:nvSpPr>
          <p:cNvPr id="26" name="Rounded Rectangle 25"/>
          <p:cNvSpPr/>
          <p:nvPr/>
        </p:nvSpPr>
        <p:spPr>
          <a:xfrm>
            <a:off x="1097280" y="3803904"/>
            <a:ext cx="969264" cy="274320"/>
          </a:xfrm>
          <a:prstGeom prst="roundRect">
            <a:avLst>
              <a:gd name="adj" fmla="val 2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 61</a:t>
            </a:r>
          </a:p>
        </p:txBody>
      </p:sp>
      <p:sp>
        <p:nvSpPr>
          <p:cNvPr id="27" name="Rounded Rectangle 26"/>
          <p:cNvSpPr/>
          <p:nvPr/>
        </p:nvSpPr>
        <p:spPr>
          <a:xfrm>
            <a:off x="2103120" y="3803904"/>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28" name="Rounded Rectangle 27"/>
          <p:cNvSpPr/>
          <p:nvPr/>
        </p:nvSpPr>
        <p:spPr>
          <a:xfrm>
            <a:off x="3108960" y="3803904"/>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29" name="Rounded Rectangle 28"/>
          <p:cNvSpPr/>
          <p:nvPr/>
        </p:nvSpPr>
        <p:spPr>
          <a:xfrm>
            <a:off x="4114800" y="3803904"/>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0" name="Rounded Rectangle 29"/>
          <p:cNvSpPr/>
          <p:nvPr/>
        </p:nvSpPr>
        <p:spPr>
          <a:xfrm>
            <a:off x="5120640" y="3803904"/>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1" name="TextBox 30"/>
          <p:cNvSpPr txBox="1"/>
          <p:nvPr/>
        </p:nvSpPr>
        <p:spPr>
          <a:xfrm>
            <a:off x="6217920" y="3803904"/>
            <a:ext cx="1188720" cy="274320"/>
          </a:xfrm>
          <a:prstGeom prst="rect">
            <a:avLst/>
          </a:prstGeom>
          <a:noFill/>
        </p:spPr>
        <p:txBody>
          <a:bodyPr wrap="square" lIns="45720" tIns="27432" rIns="45720" bIns="27432" anchor="ctr">
            <a:noAutofit/>
          </a:bodyPr>
          <a:lstStyle/>
          <a:p>
            <a:pPr algn="ctr"/>
            <a:r>
              <a:rPr sz="1100" b="1" i="0">
                <a:solidFill>
                  <a:srgbClr val="8B0000"/>
                </a:solidFill>
                <a:latin typeface="Times New Roman"/>
              </a:rPr>
              <a:t>80.3%</a:t>
            </a:r>
          </a:p>
        </p:txBody>
      </p:sp>
      <p:sp>
        <p:nvSpPr>
          <p:cNvPr id="32" name="TextBox 31"/>
          <p:cNvSpPr txBox="1"/>
          <p:nvPr/>
        </p:nvSpPr>
        <p:spPr>
          <a:xfrm>
            <a:off x="7498079" y="3803904"/>
            <a:ext cx="1188720" cy="274320"/>
          </a:xfrm>
          <a:prstGeom prst="rect">
            <a:avLst/>
          </a:prstGeom>
          <a:noFill/>
        </p:spPr>
        <p:txBody>
          <a:bodyPr wrap="square" lIns="45720" tIns="27432" rIns="45720" bIns="27432" anchor="ctr">
            <a:noAutofit/>
          </a:bodyPr>
          <a:lstStyle/>
          <a:p>
            <a:pPr algn="ctr"/>
            <a:r>
              <a:rPr sz="1100" b="0" i="0">
                <a:solidFill>
                  <a:srgbClr val="1F1F1F"/>
                </a:solidFill>
                <a:latin typeface="Times New Roman"/>
              </a:rPr>
              <a:t>77.8%</a:t>
            </a:r>
          </a:p>
        </p:txBody>
      </p:sp>
      <p:sp>
        <p:nvSpPr>
          <p:cNvPr id="33" name="TextBox 32"/>
          <p:cNvSpPr txBox="1"/>
          <p:nvPr/>
        </p:nvSpPr>
        <p:spPr>
          <a:xfrm>
            <a:off x="228600" y="4114800"/>
            <a:ext cx="841248" cy="274320"/>
          </a:xfrm>
          <a:prstGeom prst="rect">
            <a:avLst/>
          </a:prstGeom>
          <a:noFill/>
        </p:spPr>
        <p:txBody>
          <a:bodyPr wrap="square" lIns="45720" tIns="27432" rIns="45720" bIns="27432" anchor="ctr">
            <a:noAutofit/>
          </a:bodyPr>
          <a:lstStyle/>
          <a:p>
            <a:pPr algn="l"/>
            <a:r>
              <a:rPr sz="1050" b="1" i="0">
                <a:solidFill>
                  <a:srgbClr val="1F1F1F"/>
                </a:solidFill>
                <a:latin typeface="Times New Roman"/>
              </a:rPr>
              <a:t>Round 2</a:t>
            </a:r>
          </a:p>
        </p:txBody>
      </p:sp>
      <p:sp>
        <p:nvSpPr>
          <p:cNvPr id="34" name="Rounded Rectangle 33"/>
          <p:cNvSpPr/>
          <p:nvPr/>
        </p:nvSpPr>
        <p:spPr>
          <a:xfrm>
            <a:off x="1097280" y="4114800"/>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5" name="Rounded Rectangle 34"/>
          <p:cNvSpPr/>
          <p:nvPr/>
        </p:nvSpPr>
        <p:spPr>
          <a:xfrm>
            <a:off x="2103120" y="4114800"/>
            <a:ext cx="969264" cy="274320"/>
          </a:xfrm>
          <a:prstGeom prst="roundRect">
            <a:avLst>
              <a:gd name="adj" fmla="val 2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 61</a:t>
            </a:r>
          </a:p>
        </p:txBody>
      </p:sp>
      <p:sp>
        <p:nvSpPr>
          <p:cNvPr id="36" name="Rounded Rectangle 35"/>
          <p:cNvSpPr/>
          <p:nvPr/>
        </p:nvSpPr>
        <p:spPr>
          <a:xfrm>
            <a:off x="3108960" y="4114800"/>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7" name="Rounded Rectangle 36"/>
          <p:cNvSpPr/>
          <p:nvPr/>
        </p:nvSpPr>
        <p:spPr>
          <a:xfrm>
            <a:off x="4114800" y="4114800"/>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8" name="Rounded Rectangle 37"/>
          <p:cNvSpPr/>
          <p:nvPr/>
        </p:nvSpPr>
        <p:spPr>
          <a:xfrm>
            <a:off x="5120640" y="4114800"/>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39" name="TextBox 38"/>
          <p:cNvSpPr txBox="1"/>
          <p:nvPr/>
        </p:nvSpPr>
        <p:spPr>
          <a:xfrm>
            <a:off x="6217920" y="4114800"/>
            <a:ext cx="1188720" cy="274320"/>
          </a:xfrm>
          <a:prstGeom prst="rect">
            <a:avLst/>
          </a:prstGeom>
          <a:noFill/>
        </p:spPr>
        <p:txBody>
          <a:bodyPr wrap="square" lIns="45720" tIns="27432" rIns="45720" bIns="27432" anchor="ctr">
            <a:noAutofit/>
          </a:bodyPr>
          <a:lstStyle/>
          <a:p>
            <a:pPr algn="ctr"/>
            <a:r>
              <a:rPr sz="1100" b="1" i="0">
                <a:solidFill>
                  <a:srgbClr val="8B0000"/>
                </a:solidFill>
                <a:latin typeface="Times New Roman"/>
              </a:rPr>
              <a:t>80.3%</a:t>
            </a:r>
          </a:p>
        </p:txBody>
      </p:sp>
      <p:sp>
        <p:nvSpPr>
          <p:cNvPr id="40" name="TextBox 39"/>
          <p:cNvSpPr txBox="1"/>
          <p:nvPr/>
        </p:nvSpPr>
        <p:spPr>
          <a:xfrm>
            <a:off x="7498079" y="4114800"/>
            <a:ext cx="1188720" cy="274320"/>
          </a:xfrm>
          <a:prstGeom prst="rect">
            <a:avLst/>
          </a:prstGeom>
          <a:noFill/>
        </p:spPr>
        <p:txBody>
          <a:bodyPr wrap="square" lIns="45720" tIns="27432" rIns="45720" bIns="27432" anchor="ctr">
            <a:noAutofit/>
          </a:bodyPr>
          <a:lstStyle/>
          <a:p>
            <a:pPr algn="ctr"/>
            <a:r>
              <a:rPr sz="1100" b="0" i="0">
                <a:solidFill>
                  <a:srgbClr val="1F1F1F"/>
                </a:solidFill>
                <a:latin typeface="Times New Roman"/>
              </a:rPr>
              <a:t>79.3%</a:t>
            </a:r>
          </a:p>
        </p:txBody>
      </p:sp>
      <p:sp>
        <p:nvSpPr>
          <p:cNvPr id="41" name="TextBox 40"/>
          <p:cNvSpPr txBox="1"/>
          <p:nvPr/>
        </p:nvSpPr>
        <p:spPr>
          <a:xfrm>
            <a:off x="228600" y="4425696"/>
            <a:ext cx="841248" cy="274320"/>
          </a:xfrm>
          <a:prstGeom prst="rect">
            <a:avLst/>
          </a:prstGeom>
          <a:noFill/>
        </p:spPr>
        <p:txBody>
          <a:bodyPr wrap="square" lIns="45720" tIns="27432" rIns="45720" bIns="27432" anchor="ctr">
            <a:noAutofit/>
          </a:bodyPr>
          <a:lstStyle/>
          <a:p>
            <a:pPr algn="l"/>
            <a:r>
              <a:rPr sz="1050" b="1" i="0">
                <a:solidFill>
                  <a:srgbClr val="1F1F1F"/>
                </a:solidFill>
                <a:latin typeface="Times New Roman"/>
              </a:rPr>
              <a:t>Round 3</a:t>
            </a:r>
          </a:p>
        </p:txBody>
      </p:sp>
      <p:sp>
        <p:nvSpPr>
          <p:cNvPr id="42" name="Rounded Rectangle 41"/>
          <p:cNvSpPr/>
          <p:nvPr/>
        </p:nvSpPr>
        <p:spPr>
          <a:xfrm>
            <a:off x="1097280" y="4425696"/>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43" name="Rounded Rectangle 42"/>
          <p:cNvSpPr/>
          <p:nvPr/>
        </p:nvSpPr>
        <p:spPr>
          <a:xfrm>
            <a:off x="2103120" y="4425696"/>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44" name="Rounded Rectangle 43"/>
          <p:cNvSpPr/>
          <p:nvPr/>
        </p:nvSpPr>
        <p:spPr>
          <a:xfrm>
            <a:off x="3108960" y="4425696"/>
            <a:ext cx="969264" cy="274320"/>
          </a:xfrm>
          <a:prstGeom prst="roundRect">
            <a:avLst>
              <a:gd name="adj" fmla="val 2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 61</a:t>
            </a:r>
          </a:p>
        </p:txBody>
      </p:sp>
      <p:sp>
        <p:nvSpPr>
          <p:cNvPr id="45" name="Rounded Rectangle 44"/>
          <p:cNvSpPr/>
          <p:nvPr/>
        </p:nvSpPr>
        <p:spPr>
          <a:xfrm>
            <a:off x="4114800" y="4425696"/>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46" name="Rounded Rectangle 45"/>
          <p:cNvSpPr/>
          <p:nvPr/>
        </p:nvSpPr>
        <p:spPr>
          <a:xfrm>
            <a:off x="5120640" y="4425696"/>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47" name="TextBox 46"/>
          <p:cNvSpPr txBox="1"/>
          <p:nvPr/>
        </p:nvSpPr>
        <p:spPr>
          <a:xfrm>
            <a:off x="6217920" y="4425696"/>
            <a:ext cx="1188720" cy="274320"/>
          </a:xfrm>
          <a:prstGeom prst="rect">
            <a:avLst/>
          </a:prstGeom>
          <a:noFill/>
        </p:spPr>
        <p:txBody>
          <a:bodyPr wrap="square" lIns="45720" tIns="27432" rIns="45720" bIns="27432" anchor="ctr">
            <a:noAutofit/>
          </a:bodyPr>
          <a:lstStyle/>
          <a:p>
            <a:pPr algn="ctr"/>
            <a:r>
              <a:rPr sz="1100" b="1" i="0">
                <a:solidFill>
                  <a:srgbClr val="8B0000"/>
                </a:solidFill>
                <a:latin typeface="Times New Roman"/>
              </a:rPr>
              <a:t>85.2%</a:t>
            </a:r>
          </a:p>
        </p:txBody>
      </p:sp>
      <p:sp>
        <p:nvSpPr>
          <p:cNvPr id="48" name="TextBox 47"/>
          <p:cNvSpPr txBox="1"/>
          <p:nvPr/>
        </p:nvSpPr>
        <p:spPr>
          <a:xfrm>
            <a:off x="7498079" y="4425696"/>
            <a:ext cx="1188720" cy="274320"/>
          </a:xfrm>
          <a:prstGeom prst="rect">
            <a:avLst/>
          </a:prstGeom>
          <a:noFill/>
        </p:spPr>
        <p:txBody>
          <a:bodyPr wrap="square" lIns="45720" tIns="27432" rIns="45720" bIns="27432" anchor="ctr">
            <a:noAutofit/>
          </a:bodyPr>
          <a:lstStyle/>
          <a:p>
            <a:pPr algn="ctr"/>
            <a:r>
              <a:rPr sz="1100" b="0" i="0">
                <a:solidFill>
                  <a:srgbClr val="1F1F1F"/>
                </a:solidFill>
                <a:latin typeface="Times New Roman"/>
              </a:rPr>
              <a:t>84.2%</a:t>
            </a:r>
          </a:p>
        </p:txBody>
      </p:sp>
      <p:sp>
        <p:nvSpPr>
          <p:cNvPr id="49" name="TextBox 48"/>
          <p:cNvSpPr txBox="1"/>
          <p:nvPr/>
        </p:nvSpPr>
        <p:spPr>
          <a:xfrm>
            <a:off x="228600" y="4736592"/>
            <a:ext cx="841248" cy="274320"/>
          </a:xfrm>
          <a:prstGeom prst="rect">
            <a:avLst/>
          </a:prstGeom>
          <a:noFill/>
        </p:spPr>
        <p:txBody>
          <a:bodyPr wrap="square" lIns="45720" tIns="27432" rIns="45720" bIns="27432" anchor="ctr">
            <a:noAutofit/>
          </a:bodyPr>
          <a:lstStyle/>
          <a:p>
            <a:pPr algn="l"/>
            <a:r>
              <a:rPr sz="1050" b="1" i="0">
                <a:solidFill>
                  <a:srgbClr val="1F1F1F"/>
                </a:solidFill>
                <a:latin typeface="Times New Roman"/>
              </a:rPr>
              <a:t>Round 4</a:t>
            </a:r>
          </a:p>
        </p:txBody>
      </p:sp>
      <p:sp>
        <p:nvSpPr>
          <p:cNvPr id="50" name="Rounded Rectangle 49"/>
          <p:cNvSpPr/>
          <p:nvPr/>
        </p:nvSpPr>
        <p:spPr>
          <a:xfrm>
            <a:off x="1097280" y="4736592"/>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51" name="Rounded Rectangle 50"/>
          <p:cNvSpPr/>
          <p:nvPr/>
        </p:nvSpPr>
        <p:spPr>
          <a:xfrm>
            <a:off x="2103120" y="4736592"/>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52" name="Rounded Rectangle 51"/>
          <p:cNvSpPr/>
          <p:nvPr/>
        </p:nvSpPr>
        <p:spPr>
          <a:xfrm>
            <a:off x="3108960" y="4736592"/>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53" name="Rounded Rectangle 52"/>
          <p:cNvSpPr/>
          <p:nvPr/>
        </p:nvSpPr>
        <p:spPr>
          <a:xfrm>
            <a:off x="4114800" y="4736592"/>
            <a:ext cx="969264" cy="274320"/>
          </a:xfrm>
          <a:prstGeom prst="roundRect">
            <a:avLst>
              <a:gd name="adj" fmla="val 2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 60</a:t>
            </a:r>
          </a:p>
        </p:txBody>
      </p:sp>
      <p:sp>
        <p:nvSpPr>
          <p:cNvPr id="54" name="Rounded Rectangle 53"/>
          <p:cNvSpPr/>
          <p:nvPr/>
        </p:nvSpPr>
        <p:spPr>
          <a:xfrm>
            <a:off x="5120640" y="4736592"/>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55" name="TextBox 54"/>
          <p:cNvSpPr txBox="1"/>
          <p:nvPr/>
        </p:nvSpPr>
        <p:spPr>
          <a:xfrm>
            <a:off x="6217920" y="4736592"/>
            <a:ext cx="1188720" cy="274320"/>
          </a:xfrm>
          <a:prstGeom prst="rect">
            <a:avLst/>
          </a:prstGeom>
          <a:noFill/>
        </p:spPr>
        <p:txBody>
          <a:bodyPr wrap="square" lIns="45720" tIns="27432" rIns="45720" bIns="27432" anchor="ctr">
            <a:noAutofit/>
          </a:bodyPr>
          <a:lstStyle/>
          <a:p>
            <a:pPr algn="ctr"/>
            <a:r>
              <a:rPr sz="1100" b="1" i="0">
                <a:solidFill>
                  <a:srgbClr val="8B0000"/>
                </a:solidFill>
                <a:latin typeface="Times New Roman"/>
              </a:rPr>
              <a:t>80.0%</a:t>
            </a:r>
          </a:p>
        </p:txBody>
      </p:sp>
      <p:sp>
        <p:nvSpPr>
          <p:cNvPr id="56" name="TextBox 55"/>
          <p:cNvSpPr txBox="1"/>
          <p:nvPr/>
        </p:nvSpPr>
        <p:spPr>
          <a:xfrm>
            <a:off x="7498079" y="4736592"/>
            <a:ext cx="1188720" cy="274320"/>
          </a:xfrm>
          <a:prstGeom prst="rect">
            <a:avLst/>
          </a:prstGeom>
          <a:noFill/>
        </p:spPr>
        <p:txBody>
          <a:bodyPr wrap="square" lIns="45720" tIns="27432" rIns="45720" bIns="27432" anchor="ctr">
            <a:noAutofit/>
          </a:bodyPr>
          <a:lstStyle/>
          <a:p>
            <a:pPr algn="ctr"/>
            <a:r>
              <a:rPr sz="1100" b="0" i="0">
                <a:solidFill>
                  <a:srgbClr val="1F1F1F"/>
                </a:solidFill>
                <a:latin typeface="Times New Roman"/>
              </a:rPr>
              <a:t>76.0%</a:t>
            </a:r>
          </a:p>
        </p:txBody>
      </p:sp>
      <p:sp>
        <p:nvSpPr>
          <p:cNvPr id="57" name="TextBox 56"/>
          <p:cNvSpPr txBox="1"/>
          <p:nvPr/>
        </p:nvSpPr>
        <p:spPr>
          <a:xfrm>
            <a:off x="228600" y="5047488"/>
            <a:ext cx="841248" cy="274320"/>
          </a:xfrm>
          <a:prstGeom prst="rect">
            <a:avLst/>
          </a:prstGeom>
          <a:noFill/>
        </p:spPr>
        <p:txBody>
          <a:bodyPr wrap="square" lIns="45720" tIns="27432" rIns="45720" bIns="27432" anchor="ctr">
            <a:noAutofit/>
          </a:bodyPr>
          <a:lstStyle/>
          <a:p>
            <a:pPr algn="l"/>
            <a:r>
              <a:rPr sz="1050" b="1" i="0">
                <a:solidFill>
                  <a:srgbClr val="1F1F1F"/>
                </a:solidFill>
                <a:latin typeface="Times New Roman"/>
              </a:rPr>
              <a:t>Round 5</a:t>
            </a:r>
          </a:p>
        </p:txBody>
      </p:sp>
      <p:sp>
        <p:nvSpPr>
          <p:cNvPr id="58" name="Rounded Rectangle 57"/>
          <p:cNvSpPr/>
          <p:nvPr/>
        </p:nvSpPr>
        <p:spPr>
          <a:xfrm>
            <a:off x="1097280" y="5047488"/>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59" name="Rounded Rectangle 58"/>
          <p:cNvSpPr/>
          <p:nvPr/>
        </p:nvSpPr>
        <p:spPr>
          <a:xfrm>
            <a:off x="2103120" y="5047488"/>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60" name="Rounded Rectangle 59"/>
          <p:cNvSpPr/>
          <p:nvPr/>
        </p:nvSpPr>
        <p:spPr>
          <a:xfrm>
            <a:off x="3108960" y="5047488"/>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61" name="Rounded Rectangle 60"/>
          <p:cNvSpPr/>
          <p:nvPr/>
        </p:nvSpPr>
        <p:spPr>
          <a:xfrm>
            <a:off x="4114800" y="5047488"/>
            <a:ext cx="969264" cy="274320"/>
          </a:xfrm>
          <a:prstGeom prst="roundRect">
            <a:avLst>
              <a:gd name="adj" fmla="val 20000"/>
            </a:avLst>
          </a:prstGeom>
          <a:solidFill>
            <a:srgbClr val="DBE8F5"/>
          </a:solidFill>
          <a:ln w="6350">
            <a:solidFill>
              <a:srgbClr val="34507A"/>
            </a:solidFill>
          </a:ln>
        </p:spPr>
        <p:txBody>
          <a:bodyPr rtlCol="0" anchor="ctr" wrap="square" lIns="0" tIns="0" rIns="0" bIns="0">
            <a:noAutofit/>
          </a:bodyPr>
          <a:lstStyle/>
          <a:p>
            <a:pPr algn="ctr"/>
            <a:r>
              <a:rPr sz="950" b="0" i="0">
                <a:solidFill>
                  <a:srgbClr val="34507A"/>
                </a:solidFill>
                <a:latin typeface="Times New Roman"/>
              </a:rPr>
              <a:t>Train</a:t>
            </a:r>
          </a:p>
        </p:txBody>
      </p:sp>
      <p:sp>
        <p:nvSpPr>
          <p:cNvPr id="62" name="Rounded Rectangle 61"/>
          <p:cNvSpPr/>
          <p:nvPr/>
        </p:nvSpPr>
        <p:spPr>
          <a:xfrm>
            <a:off x="5120640" y="5047488"/>
            <a:ext cx="969264" cy="274320"/>
          </a:xfrm>
          <a:prstGeom prst="roundRect">
            <a:avLst>
              <a:gd name="adj" fmla="val 20000"/>
            </a:avLst>
          </a:prstGeom>
          <a:solidFill>
            <a:srgbClr val="B04848"/>
          </a:solidFill>
          <a:ln>
            <a:noFill/>
          </a:ln>
        </p:spPr>
        <p:txBody>
          <a:bodyPr rtlCol="0" anchor="ctr" wrap="square" lIns="0" tIns="0" rIns="0" bIns="0">
            <a:noAutofit/>
          </a:bodyPr>
          <a:lstStyle/>
          <a:p>
            <a:pPr algn="ctr"/>
            <a:r>
              <a:rPr sz="950" b="1" i="0">
                <a:solidFill>
                  <a:srgbClr val="FFFFFF"/>
                </a:solidFill>
                <a:latin typeface="Times New Roman"/>
              </a:rPr>
              <a:t>Test · 60</a:t>
            </a:r>
          </a:p>
        </p:txBody>
      </p:sp>
      <p:sp>
        <p:nvSpPr>
          <p:cNvPr id="63" name="TextBox 62"/>
          <p:cNvSpPr txBox="1"/>
          <p:nvPr/>
        </p:nvSpPr>
        <p:spPr>
          <a:xfrm>
            <a:off x="6217920" y="5047488"/>
            <a:ext cx="1188720" cy="274320"/>
          </a:xfrm>
          <a:prstGeom prst="rect">
            <a:avLst/>
          </a:prstGeom>
          <a:noFill/>
        </p:spPr>
        <p:txBody>
          <a:bodyPr wrap="square" lIns="45720" tIns="27432" rIns="45720" bIns="27432" anchor="ctr">
            <a:noAutofit/>
          </a:bodyPr>
          <a:lstStyle/>
          <a:p>
            <a:pPr algn="ctr"/>
            <a:r>
              <a:rPr sz="1100" b="1" i="0">
                <a:solidFill>
                  <a:srgbClr val="8B0000"/>
                </a:solidFill>
                <a:latin typeface="Times New Roman"/>
              </a:rPr>
              <a:t>85.0%</a:t>
            </a:r>
          </a:p>
        </p:txBody>
      </p:sp>
      <p:sp>
        <p:nvSpPr>
          <p:cNvPr id="64" name="TextBox 63"/>
          <p:cNvSpPr txBox="1"/>
          <p:nvPr/>
        </p:nvSpPr>
        <p:spPr>
          <a:xfrm>
            <a:off x="7498079" y="5047488"/>
            <a:ext cx="1188720" cy="274320"/>
          </a:xfrm>
          <a:prstGeom prst="rect">
            <a:avLst/>
          </a:prstGeom>
          <a:noFill/>
        </p:spPr>
        <p:txBody>
          <a:bodyPr wrap="square" lIns="45720" tIns="27432" rIns="45720" bIns="27432" anchor="ctr">
            <a:noAutofit/>
          </a:bodyPr>
          <a:lstStyle/>
          <a:p>
            <a:pPr algn="ctr"/>
            <a:r>
              <a:rPr sz="1100" b="0" i="0">
                <a:solidFill>
                  <a:srgbClr val="1F1F1F"/>
                </a:solidFill>
                <a:latin typeface="Times New Roman"/>
              </a:rPr>
              <a:t>82.4%</a:t>
            </a:r>
          </a:p>
        </p:txBody>
      </p:sp>
      <p:sp>
        <p:nvSpPr>
          <p:cNvPr id="65" name="Rounded Rectangle 64"/>
          <p:cNvSpPr/>
          <p:nvPr/>
        </p:nvSpPr>
        <p:spPr>
          <a:xfrm>
            <a:off x="228600" y="5358384"/>
            <a:ext cx="8686800" cy="292608"/>
          </a:xfrm>
          <a:prstGeom prst="roundRect">
            <a:avLst>
              <a:gd name="adj" fmla="val 30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66" name="TextBox 65"/>
          <p:cNvSpPr txBox="1"/>
          <p:nvPr/>
        </p:nvSpPr>
        <p:spPr>
          <a:xfrm>
            <a:off x="274320" y="5358384"/>
            <a:ext cx="5852160" cy="292608"/>
          </a:xfrm>
          <a:prstGeom prst="rect">
            <a:avLst/>
          </a:prstGeom>
          <a:noFill/>
        </p:spPr>
        <p:txBody>
          <a:bodyPr wrap="square" lIns="45720" tIns="27432" rIns="45720" bIns="27432" anchor="ctr">
            <a:noAutofit/>
          </a:bodyPr>
          <a:lstStyle/>
          <a:p>
            <a:pPr algn="r"/>
            <a:r>
              <a:rPr sz="1050" b="0" i="0">
                <a:solidFill>
                  <a:srgbClr val="404040"/>
                </a:solidFill>
                <a:latin typeface="Times New Roman"/>
              </a:rPr>
              <a:t>Each round trains on 242–243 records and tests on the remaining 60–61. Mean ± SD:</a:t>
            </a:r>
          </a:p>
        </p:txBody>
      </p:sp>
      <p:sp>
        <p:nvSpPr>
          <p:cNvPr id="67" name="TextBox 66"/>
          <p:cNvSpPr txBox="1"/>
          <p:nvPr/>
        </p:nvSpPr>
        <p:spPr>
          <a:xfrm>
            <a:off x="6217920" y="5358384"/>
            <a:ext cx="1188720" cy="292608"/>
          </a:xfrm>
          <a:prstGeom prst="rect">
            <a:avLst/>
          </a:prstGeom>
          <a:noFill/>
        </p:spPr>
        <p:txBody>
          <a:bodyPr wrap="square" lIns="0" tIns="0" rIns="0" bIns="0" anchor="ctr">
            <a:noAutofit/>
          </a:bodyPr>
          <a:lstStyle/>
          <a:p>
            <a:pPr algn="ctr"/>
            <a:r>
              <a:rPr sz="1100" b="1" i="0">
                <a:solidFill>
                  <a:srgbClr val="8B0000"/>
                </a:solidFill>
                <a:latin typeface="Times New Roman"/>
              </a:rPr>
              <a:t>82.2%±2.4%</a:t>
            </a:r>
          </a:p>
        </p:txBody>
      </p:sp>
      <p:sp>
        <p:nvSpPr>
          <p:cNvPr id="68" name="TextBox 67"/>
          <p:cNvSpPr txBox="1"/>
          <p:nvPr/>
        </p:nvSpPr>
        <p:spPr>
          <a:xfrm>
            <a:off x="7498079" y="5358384"/>
            <a:ext cx="1188720" cy="292608"/>
          </a:xfrm>
          <a:prstGeom prst="rect">
            <a:avLst/>
          </a:prstGeom>
          <a:noFill/>
        </p:spPr>
        <p:txBody>
          <a:bodyPr wrap="square" lIns="45720" tIns="27432" rIns="45720" bIns="27432" anchor="ctr">
            <a:noAutofit/>
          </a:bodyPr>
          <a:lstStyle/>
          <a:p>
            <a:pPr algn="ctr"/>
            <a:r>
              <a:rPr sz="1100" b="1" i="0">
                <a:solidFill>
                  <a:srgbClr val="1F1F1F"/>
                </a:solidFill>
                <a:latin typeface="Times New Roman"/>
              </a:rPr>
              <a:t>79.9%</a:t>
            </a:r>
          </a:p>
        </p:txBody>
      </p:sp>
      <p:sp>
        <p:nvSpPr>
          <p:cNvPr id="69" name="TextBox 68"/>
          <p:cNvSpPr txBox="1"/>
          <p:nvPr/>
        </p:nvSpPr>
        <p:spPr>
          <a:xfrm>
            <a:off x="228600" y="5687568"/>
            <a:ext cx="8686800" cy="256032"/>
          </a:xfrm>
          <a:prstGeom prst="rect">
            <a:avLst/>
          </a:prstGeom>
          <a:noFill/>
        </p:spPr>
        <p:txBody>
          <a:bodyPr wrap="square" lIns="45720" tIns="27432" rIns="45720" bIns="27432" anchor="ctr">
            <a:noAutofit/>
          </a:bodyPr>
          <a:lstStyle/>
          <a:p>
            <a:pPr algn="ctr"/>
            <a:r>
              <a:rPr sz="1050" b="1" i="1">
                <a:solidFill>
                  <a:srgbClr val="404040"/>
                </a:solidFill>
                <a:latin typeface="Times New Roman"/>
              </a:rPr>
              <a:t>Fig. 1.14: </a:t>
            </a:r>
            <a:r>
              <a:rPr sz="1050" b="0" i="1">
                <a:solidFill>
                  <a:srgbClr val="595959"/>
                </a:solidFill>
                <a:latin typeface="Times New Roman"/>
              </a:rPr>
              <a:t>Data split and 5-fold cross-validation: in round k, fold k is the test fold and the other four folds train the 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19. Baseline Results: Confusion Matrix</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TextBox 6"/>
          <p:cNvSpPr txBox="1"/>
          <p:nvPr/>
        </p:nvSpPr>
        <p:spPr>
          <a:xfrm>
            <a:off x="1143000" y="1737360"/>
            <a:ext cx="3520440" cy="274320"/>
          </a:xfrm>
          <a:prstGeom prst="rect">
            <a:avLst/>
          </a:prstGeom>
          <a:noFill/>
        </p:spPr>
        <p:txBody>
          <a:bodyPr wrap="square" lIns="45720" tIns="27432" rIns="45720" bIns="27432" anchor="ctr">
            <a:noAutofit/>
          </a:bodyPr>
          <a:lstStyle/>
          <a:p>
            <a:pPr algn="ctr"/>
            <a:r>
              <a:rPr sz="1200" b="1" i="0">
                <a:solidFill>
                  <a:srgbClr val="404040"/>
                </a:solidFill>
                <a:latin typeface="Times New Roman"/>
              </a:rPr>
              <a:t>Predicted class</a:t>
            </a:r>
          </a:p>
        </p:txBody>
      </p:sp>
      <p:sp>
        <p:nvSpPr>
          <p:cNvPr id="8" name="Rounded Rectangle 7"/>
          <p:cNvSpPr/>
          <p:nvPr/>
        </p:nvSpPr>
        <p:spPr>
          <a:xfrm>
            <a:off x="1143000" y="2039112"/>
            <a:ext cx="1737360" cy="329184"/>
          </a:xfrm>
          <a:prstGeom prst="roundRect">
            <a:avLst>
              <a:gd name="adj" fmla="val 20000"/>
            </a:avLst>
          </a:prstGeom>
          <a:solidFill>
            <a:srgbClr val="404040"/>
          </a:solidFill>
          <a:ln>
            <a:noFill/>
          </a:ln>
        </p:spPr>
        <p:txBody>
          <a:bodyPr rtlCol="0" anchor="ctr" wrap="square" lIns="45720" tIns="27432" rIns="45720" bIns="27432">
            <a:noAutofit/>
          </a:bodyPr>
          <a:lstStyle/>
          <a:p>
            <a:pPr algn="ctr"/>
            <a:r>
              <a:rPr sz="1150" b="1" i="0">
                <a:solidFill>
                  <a:srgbClr val="FFFFFF"/>
                </a:solidFill>
                <a:latin typeface="Times New Roman"/>
              </a:rPr>
              <a:t>No disease</a:t>
            </a:r>
          </a:p>
        </p:txBody>
      </p:sp>
      <p:sp>
        <p:nvSpPr>
          <p:cNvPr id="9" name="Rounded Rectangle 8"/>
          <p:cNvSpPr/>
          <p:nvPr/>
        </p:nvSpPr>
        <p:spPr>
          <a:xfrm>
            <a:off x="2926080" y="2039112"/>
            <a:ext cx="1737360" cy="329184"/>
          </a:xfrm>
          <a:prstGeom prst="roundRect">
            <a:avLst>
              <a:gd name="adj" fmla="val 20000"/>
            </a:avLst>
          </a:prstGeom>
          <a:solidFill>
            <a:srgbClr val="404040"/>
          </a:solidFill>
          <a:ln>
            <a:noFill/>
          </a:ln>
        </p:spPr>
        <p:txBody>
          <a:bodyPr rtlCol="0" anchor="ctr" wrap="square" lIns="45720" tIns="27432" rIns="45720" bIns="27432">
            <a:noAutofit/>
          </a:bodyPr>
          <a:lstStyle/>
          <a:p>
            <a:pPr algn="ctr"/>
            <a:r>
              <a:rPr sz="1150" b="1" i="0">
                <a:solidFill>
                  <a:srgbClr val="FFFFFF"/>
                </a:solidFill>
                <a:latin typeface="Times New Roman"/>
              </a:rPr>
              <a:t>Disease</a:t>
            </a:r>
          </a:p>
        </p:txBody>
      </p:sp>
      <p:sp>
        <p:nvSpPr>
          <p:cNvPr id="10" name="Rounded Rectangle 9"/>
          <p:cNvSpPr/>
          <p:nvPr/>
        </p:nvSpPr>
        <p:spPr>
          <a:xfrm>
            <a:off x="228600" y="2423160"/>
            <a:ext cx="868680" cy="1325880"/>
          </a:xfrm>
          <a:prstGeom prst="roundRect">
            <a:avLst>
              <a:gd name="adj" fmla="val 10000"/>
            </a:avLst>
          </a:prstGeom>
          <a:solidFill>
            <a:srgbClr val="404040"/>
          </a:solidFill>
          <a:ln>
            <a:noFill/>
          </a:ln>
        </p:spPr>
        <p:txBody>
          <a:bodyPr rtlCol="0" anchor="ctr" wrap="square" lIns="27432" tIns="0" rIns="27432" bIns="0">
            <a:noAutofit/>
          </a:bodyPr>
          <a:lstStyle/>
          <a:p>
            <a:pPr algn="ctr"/>
            <a:r>
              <a:rPr sz="1000" b="0" i="0">
                <a:solidFill>
                  <a:srgbClr val="D9D9D9"/>
                </a:solidFill>
                <a:latin typeface="Times New Roman"/>
              </a:rPr>
              <a:t>Actual</a:t>
            </a:r>
          </a:p>
          <a:p>
            <a:pPr algn="ctr"/>
            <a:r>
              <a:rPr sz="1100" b="1" i="0">
                <a:solidFill>
                  <a:srgbClr val="FFFFFF"/>
                </a:solidFill>
                <a:latin typeface="Times New Roman"/>
              </a:rPr>
              <a:t>No disease</a:t>
            </a:r>
          </a:p>
        </p:txBody>
      </p:sp>
      <p:sp>
        <p:nvSpPr>
          <p:cNvPr id="11" name="Rounded Rectangle 10"/>
          <p:cNvSpPr/>
          <p:nvPr/>
        </p:nvSpPr>
        <p:spPr>
          <a:xfrm>
            <a:off x="228600" y="3794760"/>
            <a:ext cx="868680" cy="1325880"/>
          </a:xfrm>
          <a:prstGeom prst="roundRect">
            <a:avLst>
              <a:gd name="adj" fmla="val 10000"/>
            </a:avLst>
          </a:prstGeom>
          <a:solidFill>
            <a:srgbClr val="404040"/>
          </a:solidFill>
          <a:ln>
            <a:noFill/>
          </a:ln>
        </p:spPr>
        <p:txBody>
          <a:bodyPr rtlCol="0" anchor="ctr" wrap="square" lIns="27432" tIns="0" rIns="27432" bIns="0">
            <a:noAutofit/>
          </a:bodyPr>
          <a:lstStyle/>
          <a:p>
            <a:pPr algn="ctr"/>
            <a:r>
              <a:rPr sz="1000" b="0" i="0">
                <a:solidFill>
                  <a:srgbClr val="D9D9D9"/>
                </a:solidFill>
                <a:latin typeface="Times New Roman"/>
              </a:rPr>
              <a:t>Actual</a:t>
            </a:r>
          </a:p>
          <a:p>
            <a:pPr algn="ctr"/>
            <a:r>
              <a:rPr sz="1100" b="1" i="0">
                <a:solidFill>
                  <a:srgbClr val="FFFFFF"/>
                </a:solidFill>
                <a:latin typeface="Times New Roman"/>
              </a:rPr>
              <a:t>Disease</a:t>
            </a:r>
          </a:p>
        </p:txBody>
      </p:sp>
      <p:sp>
        <p:nvSpPr>
          <p:cNvPr id="12" name="Rounded Rectangle 11"/>
          <p:cNvSpPr/>
          <p:nvPr/>
        </p:nvSpPr>
        <p:spPr>
          <a:xfrm>
            <a:off x="1143000" y="2423160"/>
            <a:ext cx="1737360" cy="1325880"/>
          </a:xfrm>
          <a:prstGeom prst="roundRect">
            <a:avLst>
              <a:gd name="adj" fmla="val 6000"/>
            </a:avLst>
          </a:prstGeom>
          <a:solidFill>
            <a:srgbClr val="E1F0DC"/>
          </a:solidFill>
          <a:ln w="15875">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3" name="TextBox 12"/>
          <p:cNvSpPr txBox="1"/>
          <p:nvPr/>
        </p:nvSpPr>
        <p:spPr>
          <a:xfrm>
            <a:off x="1143000" y="2496312"/>
            <a:ext cx="1737360" cy="566928"/>
          </a:xfrm>
          <a:prstGeom prst="rect">
            <a:avLst/>
          </a:prstGeom>
          <a:noFill/>
        </p:spPr>
        <p:txBody>
          <a:bodyPr wrap="square" lIns="45720" tIns="27432" rIns="45720" bIns="27432" anchor="ctr">
            <a:noAutofit/>
          </a:bodyPr>
          <a:lstStyle/>
          <a:p>
            <a:pPr algn="ctr"/>
            <a:r>
              <a:rPr sz="3200" b="1" i="0">
                <a:solidFill>
                  <a:srgbClr val="3F7A3C"/>
                </a:solidFill>
                <a:latin typeface="Times New Roman"/>
              </a:rPr>
              <a:t>21</a:t>
            </a:r>
          </a:p>
        </p:txBody>
      </p:sp>
      <p:sp>
        <p:nvSpPr>
          <p:cNvPr id="14" name="TextBox 13"/>
          <p:cNvSpPr txBox="1"/>
          <p:nvPr/>
        </p:nvSpPr>
        <p:spPr>
          <a:xfrm>
            <a:off x="1188720" y="3081528"/>
            <a:ext cx="1645920" cy="640080"/>
          </a:xfrm>
          <a:prstGeom prst="rect">
            <a:avLst/>
          </a:prstGeom>
          <a:noFill/>
        </p:spPr>
        <p:txBody>
          <a:bodyPr wrap="square" lIns="45720" tIns="27432" rIns="45720" bIns="27432" anchor="t">
            <a:noAutofit/>
          </a:bodyPr>
          <a:lstStyle/>
          <a:p>
            <a:pPr algn="ctr"/>
            <a:r>
              <a:rPr sz="1100" b="1" i="0">
                <a:solidFill>
                  <a:srgbClr val="3F7A3C"/>
                </a:solidFill>
                <a:latin typeface="Times New Roman"/>
              </a:rPr>
              <a:t>True negatives (TN)</a:t>
            </a:r>
          </a:p>
          <a:p>
            <a:pPr algn="ctr"/>
            <a:r>
              <a:rPr sz="950" b="0" i="0">
                <a:solidFill>
                  <a:srgbClr val="1F1F1F"/>
                </a:solidFill>
                <a:latin typeface="Times New Roman"/>
              </a:rPr>
              <a:t>healthy, predicted healthy</a:t>
            </a:r>
          </a:p>
        </p:txBody>
      </p:sp>
      <p:sp>
        <p:nvSpPr>
          <p:cNvPr id="15" name="Rounded Rectangle 14"/>
          <p:cNvSpPr/>
          <p:nvPr/>
        </p:nvSpPr>
        <p:spPr>
          <a:xfrm>
            <a:off x="2926080" y="2423160"/>
            <a:ext cx="1737360" cy="1325880"/>
          </a:xfrm>
          <a:prstGeom prst="roundRect">
            <a:avLst>
              <a:gd name="adj" fmla="val 6000"/>
            </a:avLst>
          </a:prstGeom>
          <a:solidFill>
            <a:srgbClr val="F7DCDC"/>
          </a:solidFill>
          <a:ln w="15875">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6" name="TextBox 15"/>
          <p:cNvSpPr txBox="1"/>
          <p:nvPr/>
        </p:nvSpPr>
        <p:spPr>
          <a:xfrm>
            <a:off x="2926080" y="2496312"/>
            <a:ext cx="1737360" cy="566928"/>
          </a:xfrm>
          <a:prstGeom prst="rect">
            <a:avLst/>
          </a:prstGeom>
          <a:noFill/>
        </p:spPr>
        <p:txBody>
          <a:bodyPr wrap="square" lIns="45720" tIns="27432" rIns="45720" bIns="27432" anchor="ctr">
            <a:noAutofit/>
          </a:bodyPr>
          <a:lstStyle/>
          <a:p>
            <a:pPr algn="ctr"/>
            <a:r>
              <a:rPr sz="3200" b="1" i="0">
                <a:solidFill>
                  <a:srgbClr val="B04848"/>
                </a:solidFill>
                <a:latin typeface="Times New Roman"/>
              </a:rPr>
              <a:t>4</a:t>
            </a:r>
          </a:p>
        </p:txBody>
      </p:sp>
      <p:sp>
        <p:nvSpPr>
          <p:cNvPr id="17" name="TextBox 16"/>
          <p:cNvSpPr txBox="1"/>
          <p:nvPr/>
        </p:nvSpPr>
        <p:spPr>
          <a:xfrm>
            <a:off x="2971800" y="3081528"/>
            <a:ext cx="1645920" cy="640080"/>
          </a:xfrm>
          <a:prstGeom prst="rect">
            <a:avLst/>
          </a:prstGeom>
          <a:noFill/>
        </p:spPr>
        <p:txBody>
          <a:bodyPr wrap="square" lIns="45720" tIns="27432" rIns="45720" bIns="27432" anchor="t">
            <a:noAutofit/>
          </a:bodyPr>
          <a:lstStyle/>
          <a:p>
            <a:pPr algn="ctr"/>
            <a:r>
              <a:rPr sz="1100" b="1" i="0">
                <a:solidFill>
                  <a:srgbClr val="B04848"/>
                </a:solidFill>
                <a:latin typeface="Times New Roman"/>
              </a:rPr>
              <a:t>False positives (FP)</a:t>
            </a:r>
          </a:p>
          <a:p>
            <a:pPr algn="ctr"/>
            <a:r>
              <a:rPr sz="950" b="0" i="0">
                <a:solidFill>
                  <a:srgbClr val="1F1F1F"/>
                </a:solidFill>
                <a:latin typeface="Times New Roman"/>
              </a:rPr>
              <a:t>healthy, flagged as disease</a:t>
            </a:r>
          </a:p>
        </p:txBody>
      </p:sp>
      <p:sp>
        <p:nvSpPr>
          <p:cNvPr id="18" name="Rounded Rectangle 17"/>
          <p:cNvSpPr/>
          <p:nvPr/>
        </p:nvSpPr>
        <p:spPr>
          <a:xfrm>
            <a:off x="1143000" y="3794760"/>
            <a:ext cx="1737360" cy="1325880"/>
          </a:xfrm>
          <a:prstGeom prst="roundRect">
            <a:avLst>
              <a:gd name="adj" fmla="val 6000"/>
            </a:avLst>
          </a:prstGeom>
          <a:solidFill>
            <a:srgbClr val="F7DCDC"/>
          </a:solidFill>
          <a:ln w="15875">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19" name="TextBox 18"/>
          <p:cNvSpPr txBox="1"/>
          <p:nvPr/>
        </p:nvSpPr>
        <p:spPr>
          <a:xfrm>
            <a:off x="1143000" y="3867912"/>
            <a:ext cx="1737360" cy="566928"/>
          </a:xfrm>
          <a:prstGeom prst="rect">
            <a:avLst/>
          </a:prstGeom>
          <a:noFill/>
        </p:spPr>
        <p:txBody>
          <a:bodyPr wrap="square" lIns="45720" tIns="27432" rIns="45720" bIns="27432" anchor="ctr">
            <a:noAutofit/>
          </a:bodyPr>
          <a:lstStyle/>
          <a:p>
            <a:pPr algn="ctr"/>
            <a:r>
              <a:rPr sz="3200" b="1" i="0">
                <a:solidFill>
                  <a:srgbClr val="B04848"/>
                </a:solidFill>
                <a:latin typeface="Times New Roman"/>
              </a:rPr>
              <a:t>2</a:t>
            </a:r>
          </a:p>
        </p:txBody>
      </p:sp>
      <p:sp>
        <p:nvSpPr>
          <p:cNvPr id="20" name="TextBox 19"/>
          <p:cNvSpPr txBox="1"/>
          <p:nvPr/>
        </p:nvSpPr>
        <p:spPr>
          <a:xfrm>
            <a:off x="1188720" y="4453128"/>
            <a:ext cx="1645920" cy="640080"/>
          </a:xfrm>
          <a:prstGeom prst="rect">
            <a:avLst/>
          </a:prstGeom>
          <a:noFill/>
        </p:spPr>
        <p:txBody>
          <a:bodyPr wrap="square" lIns="45720" tIns="27432" rIns="45720" bIns="27432" anchor="t">
            <a:noAutofit/>
          </a:bodyPr>
          <a:lstStyle/>
          <a:p>
            <a:pPr algn="ctr"/>
            <a:r>
              <a:rPr sz="1100" b="1" i="0">
                <a:solidFill>
                  <a:srgbClr val="B04848"/>
                </a:solidFill>
                <a:latin typeface="Times New Roman"/>
              </a:rPr>
              <a:t>False negatives (FN)</a:t>
            </a:r>
          </a:p>
          <a:p>
            <a:pPr algn="ctr"/>
            <a:r>
              <a:rPr sz="950" b="0" i="0">
                <a:solidFill>
                  <a:srgbClr val="1F1F1F"/>
                </a:solidFill>
                <a:latin typeface="Times New Roman"/>
              </a:rPr>
              <a:t>disease missed by the model</a:t>
            </a:r>
          </a:p>
        </p:txBody>
      </p:sp>
      <p:sp>
        <p:nvSpPr>
          <p:cNvPr id="21" name="Rounded Rectangle 20"/>
          <p:cNvSpPr/>
          <p:nvPr/>
        </p:nvSpPr>
        <p:spPr>
          <a:xfrm>
            <a:off x="2926080" y="3794760"/>
            <a:ext cx="1737360" cy="1325880"/>
          </a:xfrm>
          <a:prstGeom prst="roundRect">
            <a:avLst>
              <a:gd name="adj" fmla="val 6000"/>
            </a:avLst>
          </a:prstGeom>
          <a:solidFill>
            <a:srgbClr val="E1F0DC"/>
          </a:solidFill>
          <a:ln w="15875">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2" name="TextBox 21"/>
          <p:cNvSpPr txBox="1"/>
          <p:nvPr/>
        </p:nvSpPr>
        <p:spPr>
          <a:xfrm>
            <a:off x="2926080" y="3867912"/>
            <a:ext cx="1737360" cy="566928"/>
          </a:xfrm>
          <a:prstGeom prst="rect">
            <a:avLst/>
          </a:prstGeom>
          <a:noFill/>
        </p:spPr>
        <p:txBody>
          <a:bodyPr wrap="square" lIns="45720" tIns="27432" rIns="45720" bIns="27432" anchor="ctr">
            <a:noAutofit/>
          </a:bodyPr>
          <a:lstStyle/>
          <a:p>
            <a:pPr algn="ctr"/>
            <a:r>
              <a:rPr sz="3200" b="1" i="0">
                <a:solidFill>
                  <a:srgbClr val="3F7A3C"/>
                </a:solidFill>
                <a:latin typeface="Times New Roman"/>
              </a:rPr>
              <a:t>19</a:t>
            </a:r>
          </a:p>
        </p:txBody>
      </p:sp>
      <p:sp>
        <p:nvSpPr>
          <p:cNvPr id="23" name="TextBox 22"/>
          <p:cNvSpPr txBox="1"/>
          <p:nvPr/>
        </p:nvSpPr>
        <p:spPr>
          <a:xfrm>
            <a:off x="2971800" y="4453128"/>
            <a:ext cx="1645920" cy="640080"/>
          </a:xfrm>
          <a:prstGeom prst="rect">
            <a:avLst/>
          </a:prstGeom>
          <a:noFill/>
        </p:spPr>
        <p:txBody>
          <a:bodyPr wrap="square" lIns="45720" tIns="27432" rIns="45720" bIns="27432" anchor="t">
            <a:noAutofit/>
          </a:bodyPr>
          <a:lstStyle/>
          <a:p>
            <a:pPr algn="ctr"/>
            <a:r>
              <a:rPr sz="1100" b="1" i="0">
                <a:solidFill>
                  <a:srgbClr val="3F7A3C"/>
                </a:solidFill>
                <a:latin typeface="Times New Roman"/>
              </a:rPr>
              <a:t>True positives (TP)</a:t>
            </a:r>
          </a:p>
          <a:p>
            <a:pPr algn="ctr"/>
            <a:r>
              <a:rPr sz="950" b="0" i="0">
                <a:solidFill>
                  <a:srgbClr val="1F1F1F"/>
                </a:solidFill>
                <a:latin typeface="Times New Roman"/>
              </a:rPr>
              <a:t>disease, correctly detected</a:t>
            </a:r>
          </a:p>
        </p:txBody>
      </p:sp>
      <p:sp>
        <p:nvSpPr>
          <p:cNvPr id="24" name="TextBox 23"/>
          <p:cNvSpPr txBox="1"/>
          <p:nvPr/>
        </p:nvSpPr>
        <p:spPr>
          <a:xfrm>
            <a:off x="228600" y="5212080"/>
            <a:ext cx="4526280" cy="384048"/>
          </a:xfrm>
          <a:prstGeom prst="rect">
            <a:avLst/>
          </a:prstGeom>
          <a:noFill/>
        </p:spPr>
        <p:txBody>
          <a:bodyPr wrap="square" lIns="45720" tIns="27432" rIns="45720" bIns="27432" anchor="ctr">
            <a:noAutofit/>
          </a:bodyPr>
          <a:lstStyle/>
          <a:p>
            <a:pPr algn="ctr"/>
            <a:r>
              <a:rPr sz="1000" b="1" i="1">
                <a:solidFill>
                  <a:srgbClr val="404040"/>
                </a:solidFill>
                <a:latin typeface="Times New Roman"/>
              </a:rPr>
              <a:t>Fig. 1.15: </a:t>
            </a:r>
            <a:r>
              <a:rPr sz="1000" b="0" i="1">
                <a:solidFill>
                  <a:srgbClr val="595959"/>
                </a:solidFill>
                <a:latin typeface="Times New Roman"/>
              </a:rPr>
              <a:t>Confusion matrix, XGBoost [14] baseline, test set (n = 46)</a:t>
            </a:r>
          </a:p>
        </p:txBody>
      </p:sp>
      <p:sp>
        <p:nvSpPr>
          <p:cNvPr id="25" name="TextBox 24"/>
          <p:cNvSpPr txBox="1"/>
          <p:nvPr/>
        </p:nvSpPr>
        <p:spPr>
          <a:xfrm>
            <a:off x="228600" y="5596128"/>
            <a:ext cx="4526280" cy="347472"/>
          </a:xfrm>
          <a:prstGeom prst="rect">
            <a:avLst/>
          </a:prstGeom>
          <a:noFill/>
        </p:spPr>
        <p:txBody>
          <a:bodyPr wrap="square" lIns="45720" tIns="27432" rIns="45720" bIns="27432" anchor="ctr">
            <a:noAutofit/>
          </a:bodyPr>
          <a:lstStyle/>
          <a:p>
            <a:pPr algn="ctr"/>
            <a:r>
              <a:rPr sz="950" b="0" i="0">
                <a:solidFill>
                  <a:srgbClr val="595959"/>
                </a:solidFill>
                <a:latin typeface="Times New Roman"/>
              </a:rPr>
              <a:t>Trained on the 212-record training set; scored once on the 46-record test set (stratified, seed 42, threshold 0.5). Data: Cleveland Heart Disease [13].</a:t>
            </a:r>
          </a:p>
        </p:txBody>
      </p:sp>
      <p:sp>
        <p:nvSpPr>
          <p:cNvPr id="26" name="Rounded Rectangle 25"/>
          <p:cNvSpPr/>
          <p:nvPr/>
        </p:nvSpPr>
        <p:spPr>
          <a:xfrm>
            <a:off x="4983480" y="1783080"/>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27" name="TextBox 26"/>
          <p:cNvSpPr txBox="1"/>
          <p:nvPr/>
        </p:nvSpPr>
        <p:spPr>
          <a:xfrm>
            <a:off x="5029200" y="1819656"/>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Accuracy</a:t>
            </a:r>
          </a:p>
        </p:txBody>
      </p:sp>
      <p:sp>
        <p:nvSpPr>
          <p:cNvPr id="28" name="TextBox 27"/>
          <p:cNvSpPr txBox="1"/>
          <p:nvPr/>
        </p:nvSpPr>
        <p:spPr>
          <a:xfrm>
            <a:off x="4983480" y="2057400"/>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87.0%</a:t>
            </a:r>
          </a:p>
        </p:txBody>
      </p:sp>
      <p:sp>
        <p:nvSpPr>
          <p:cNvPr id="29" name="TextBox 28"/>
          <p:cNvSpPr txBox="1"/>
          <p:nvPr/>
        </p:nvSpPr>
        <p:spPr>
          <a:xfrm>
            <a:off x="5029200" y="2450592"/>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(TP + TN) / N</a:t>
            </a:r>
          </a:p>
        </p:txBody>
      </p:sp>
      <p:sp>
        <p:nvSpPr>
          <p:cNvPr id="30" name="Rounded Rectangle 29"/>
          <p:cNvSpPr/>
          <p:nvPr/>
        </p:nvSpPr>
        <p:spPr>
          <a:xfrm>
            <a:off x="6995160" y="1783080"/>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1" name="TextBox 30"/>
          <p:cNvSpPr txBox="1"/>
          <p:nvPr/>
        </p:nvSpPr>
        <p:spPr>
          <a:xfrm>
            <a:off x="7040880" y="1819656"/>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Precision</a:t>
            </a:r>
          </a:p>
        </p:txBody>
      </p:sp>
      <p:sp>
        <p:nvSpPr>
          <p:cNvPr id="32" name="TextBox 31"/>
          <p:cNvSpPr txBox="1"/>
          <p:nvPr/>
        </p:nvSpPr>
        <p:spPr>
          <a:xfrm>
            <a:off x="6995160" y="2057400"/>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82.6%</a:t>
            </a:r>
          </a:p>
        </p:txBody>
      </p:sp>
      <p:sp>
        <p:nvSpPr>
          <p:cNvPr id="33" name="TextBox 32"/>
          <p:cNvSpPr txBox="1"/>
          <p:nvPr/>
        </p:nvSpPr>
        <p:spPr>
          <a:xfrm>
            <a:off x="7040880" y="2450592"/>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TP / (TP + FP)</a:t>
            </a:r>
          </a:p>
        </p:txBody>
      </p:sp>
      <p:sp>
        <p:nvSpPr>
          <p:cNvPr id="34" name="Rounded Rectangle 33"/>
          <p:cNvSpPr/>
          <p:nvPr/>
        </p:nvSpPr>
        <p:spPr>
          <a:xfrm>
            <a:off x="4983480" y="2770632"/>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5" name="TextBox 34"/>
          <p:cNvSpPr txBox="1"/>
          <p:nvPr/>
        </p:nvSpPr>
        <p:spPr>
          <a:xfrm>
            <a:off x="5029200" y="2807208"/>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Recall (sensitivity)</a:t>
            </a:r>
          </a:p>
        </p:txBody>
      </p:sp>
      <p:sp>
        <p:nvSpPr>
          <p:cNvPr id="36" name="TextBox 35"/>
          <p:cNvSpPr txBox="1"/>
          <p:nvPr/>
        </p:nvSpPr>
        <p:spPr>
          <a:xfrm>
            <a:off x="4983480" y="3044952"/>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90.5%</a:t>
            </a:r>
          </a:p>
        </p:txBody>
      </p:sp>
      <p:sp>
        <p:nvSpPr>
          <p:cNvPr id="37" name="TextBox 36"/>
          <p:cNvSpPr txBox="1"/>
          <p:nvPr/>
        </p:nvSpPr>
        <p:spPr>
          <a:xfrm>
            <a:off x="5029200" y="3438144"/>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TP / (TP + FN)</a:t>
            </a:r>
          </a:p>
        </p:txBody>
      </p:sp>
      <p:sp>
        <p:nvSpPr>
          <p:cNvPr id="38" name="Rounded Rectangle 37"/>
          <p:cNvSpPr/>
          <p:nvPr/>
        </p:nvSpPr>
        <p:spPr>
          <a:xfrm>
            <a:off x="6995160" y="2770632"/>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9" name="TextBox 38"/>
          <p:cNvSpPr txBox="1"/>
          <p:nvPr/>
        </p:nvSpPr>
        <p:spPr>
          <a:xfrm>
            <a:off x="7040880" y="2807208"/>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Specificity</a:t>
            </a:r>
          </a:p>
        </p:txBody>
      </p:sp>
      <p:sp>
        <p:nvSpPr>
          <p:cNvPr id="40" name="TextBox 39"/>
          <p:cNvSpPr txBox="1"/>
          <p:nvPr/>
        </p:nvSpPr>
        <p:spPr>
          <a:xfrm>
            <a:off x="6995160" y="3044952"/>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84.0%</a:t>
            </a:r>
          </a:p>
        </p:txBody>
      </p:sp>
      <p:sp>
        <p:nvSpPr>
          <p:cNvPr id="41" name="TextBox 40"/>
          <p:cNvSpPr txBox="1"/>
          <p:nvPr/>
        </p:nvSpPr>
        <p:spPr>
          <a:xfrm>
            <a:off x="7040880" y="3438144"/>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TN / (TN + FP)</a:t>
            </a:r>
          </a:p>
        </p:txBody>
      </p:sp>
      <p:sp>
        <p:nvSpPr>
          <p:cNvPr id="42" name="Rounded Rectangle 41"/>
          <p:cNvSpPr/>
          <p:nvPr/>
        </p:nvSpPr>
        <p:spPr>
          <a:xfrm>
            <a:off x="4983480" y="3758184"/>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3" name="TextBox 42"/>
          <p:cNvSpPr txBox="1"/>
          <p:nvPr/>
        </p:nvSpPr>
        <p:spPr>
          <a:xfrm>
            <a:off x="5029200" y="3794760"/>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F1-score</a:t>
            </a:r>
          </a:p>
        </p:txBody>
      </p:sp>
      <p:sp>
        <p:nvSpPr>
          <p:cNvPr id="44" name="TextBox 43"/>
          <p:cNvSpPr txBox="1"/>
          <p:nvPr/>
        </p:nvSpPr>
        <p:spPr>
          <a:xfrm>
            <a:off x="4983480" y="4032504"/>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86.4%</a:t>
            </a:r>
          </a:p>
        </p:txBody>
      </p:sp>
      <p:sp>
        <p:nvSpPr>
          <p:cNvPr id="45" name="TextBox 44"/>
          <p:cNvSpPr txBox="1"/>
          <p:nvPr/>
        </p:nvSpPr>
        <p:spPr>
          <a:xfrm>
            <a:off x="5029200" y="4425696"/>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2 · P · R / (P + R)</a:t>
            </a:r>
          </a:p>
        </p:txBody>
      </p:sp>
      <p:sp>
        <p:nvSpPr>
          <p:cNvPr id="46" name="Rounded Rectangle 45"/>
          <p:cNvSpPr/>
          <p:nvPr/>
        </p:nvSpPr>
        <p:spPr>
          <a:xfrm>
            <a:off x="6995160" y="3758184"/>
            <a:ext cx="1920240" cy="914400"/>
          </a:xfrm>
          <a:prstGeom prst="roundRect">
            <a:avLst>
              <a:gd name="adj" fmla="val 8000"/>
            </a:avLst>
          </a:prstGeom>
          <a:solidFill>
            <a:srgbClr val="FBECEC"/>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7" name="TextBox 46"/>
          <p:cNvSpPr txBox="1"/>
          <p:nvPr/>
        </p:nvSpPr>
        <p:spPr>
          <a:xfrm>
            <a:off x="7040880" y="3794760"/>
            <a:ext cx="1828800" cy="256032"/>
          </a:xfrm>
          <a:prstGeom prst="rect">
            <a:avLst/>
          </a:prstGeom>
          <a:noFill/>
        </p:spPr>
        <p:txBody>
          <a:bodyPr wrap="square" lIns="45720" tIns="27432" rIns="45720" bIns="27432" anchor="ctr">
            <a:noAutofit/>
          </a:bodyPr>
          <a:lstStyle/>
          <a:p>
            <a:pPr algn="ctr"/>
            <a:r>
              <a:rPr sz="1100" b="1" i="0">
                <a:solidFill>
                  <a:srgbClr val="404040"/>
                </a:solidFill>
                <a:latin typeface="Times New Roman"/>
              </a:rPr>
              <a:t>ROC-AUC</a:t>
            </a:r>
          </a:p>
        </p:txBody>
      </p:sp>
      <p:sp>
        <p:nvSpPr>
          <p:cNvPr id="48" name="TextBox 47"/>
          <p:cNvSpPr txBox="1"/>
          <p:nvPr/>
        </p:nvSpPr>
        <p:spPr>
          <a:xfrm>
            <a:off x="6995160" y="4032504"/>
            <a:ext cx="1920240" cy="411480"/>
          </a:xfrm>
          <a:prstGeom prst="rect">
            <a:avLst/>
          </a:prstGeom>
          <a:noFill/>
        </p:spPr>
        <p:txBody>
          <a:bodyPr wrap="square" lIns="45720" tIns="27432" rIns="45720" bIns="27432" anchor="ctr">
            <a:noAutofit/>
          </a:bodyPr>
          <a:lstStyle/>
          <a:p>
            <a:pPr algn="ctr"/>
            <a:r>
              <a:rPr sz="2200" b="1" i="0">
                <a:solidFill>
                  <a:srgbClr val="8B0000"/>
                </a:solidFill>
                <a:latin typeface="Times New Roman"/>
              </a:rPr>
              <a:t>0.949</a:t>
            </a:r>
          </a:p>
        </p:txBody>
      </p:sp>
      <p:sp>
        <p:nvSpPr>
          <p:cNvPr id="49" name="TextBox 48"/>
          <p:cNvSpPr txBox="1"/>
          <p:nvPr/>
        </p:nvSpPr>
        <p:spPr>
          <a:xfrm>
            <a:off x="7040880" y="4425696"/>
            <a:ext cx="1828800" cy="219456"/>
          </a:xfrm>
          <a:prstGeom prst="rect">
            <a:avLst/>
          </a:prstGeom>
          <a:noFill/>
        </p:spPr>
        <p:txBody>
          <a:bodyPr wrap="square" lIns="45720" tIns="27432" rIns="45720" bIns="27432" anchor="ctr">
            <a:noAutofit/>
          </a:bodyPr>
          <a:lstStyle/>
          <a:p>
            <a:pPr algn="ctr"/>
            <a:r>
              <a:rPr sz="950" b="0" i="1">
                <a:solidFill>
                  <a:srgbClr val="595959"/>
                </a:solidFill>
                <a:latin typeface="Times New Roman"/>
              </a:rPr>
              <a:t>area under the ROC curve</a:t>
            </a:r>
          </a:p>
        </p:txBody>
      </p:sp>
      <p:sp>
        <p:nvSpPr>
          <p:cNvPr id="50" name="Rounded Rectangle 49"/>
          <p:cNvSpPr/>
          <p:nvPr/>
        </p:nvSpPr>
        <p:spPr>
          <a:xfrm>
            <a:off x="4983480" y="4800600"/>
            <a:ext cx="3931920" cy="384048"/>
          </a:xfrm>
          <a:prstGeom prst="roundRect">
            <a:avLst>
              <a:gd name="adj" fmla="val 30000"/>
            </a:avLst>
          </a:prstGeom>
          <a:solidFill>
            <a:srgbClr val="F2F2F2"/>
          </a:solidFill>
          <a:ln>
            <a:noFill/>
          </a:ln>
        </p:spPr>
        <p:txBody>
          <a:bodyPr rtlCol="0" anchor="ctr" wrap="square" lIns="45720" tIns="0" rIns="45720" bIns="0">
            <a:noAutofit/>
          </a:bodyPr>
          <a:lstStyle/>
          <a:p>
            <a:pPr algn="ctr"/>
            <a:r>
              <a:rPr sz="1050" b="0" i="0">
                <a:solidFill>
                  <a:srgbClr val="404040"/>
                </a:solidFill>
                <a:latin typeface="Times New Roman"/>
              </a:rPr>
              <a:t>5-fold cross-validation accuracy (303 records): </a:t>
            </a:r>
            <a:r>
              <a:rPr sz="1050" b="1" i="0">
                <a:solidFill>
                  <a:srgbClr val="8B0000"/>
                </a:solidFill>
                <a:latin typeface="Times New Roman"/>
              </a:rPr>
              <a:t>82.2% ± 2.4%</a:t>
            </a:r>
          </a:p>
        </p:txBody>
      </p:sp>
      <p:sp>
        <p:nvSpPr>
          <p:cNvPr id="51" name="Rounded Rectangle 50"/>
          <p:cNvSpPr/>
          <p:nvPr/>
        </p:nvSpPr>
        <p:spPr>
          <a:xfrm>
            <a:off x="4983480" y="5285232"/>
            <a:ext cx="3931920" cy="658368"/>
          </a:xfrm>
          <a:prstGeom prst="roundRect">
            <a:avLst>
              <a:gd name="adj" fmla="val 10000"/>
            </a:avLst>
          </a:prstGeom>
          <a:solidFill>
            <a:srgbClr val="FFFFFF"/>
          </a:solidFill>
          <a:ln w="12700">
            <a:solidFill>
              <a:srgbClr val="8B0000"/>
            </a:solidFill>
          </a:ln>
        </p:spPr>
        <p:txBody>
          <a:bodyPr rtlCol="0" anchor="ctr" wrap="square" tIns="27432" bIns="27432">
            <a:noAutofit/>
          </a:bodyPr>
          <a:lstStyle/>
          <a:p>
            <a:pPr algn="ctr"/>
            <a:r>
              <a:rPr sz="1000" b="0" i="0">
                <a:solidFill>
                  <a:srgbClr val="1F1F1F"/>
                </a:solidFill>
                <a:latin typeface="Times New Roman"/>
              </a:rPr>
              <a:t>These are ML-only results. In Stage II the full fusion pipeline is scored on the same split, so the gain from each added agent can be measured against this baseline.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20. Conclusion &amp; Future Scope</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Oval 6"/>
          <p:cNvSpPr/>
          <p:nvPr/>
        </p:nvSpPr>
        <p:spPr>
          <a:xfrm>
            <a:off x="256032" y="1792223"/>
            <a:ext cx="402336" cy="402336"/>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8" name="Picture 7" descr=""/>
          <p:cNvPicPr>
            <a:picLocks noChangeAspect="1"/>
          </p:cNvPicPr>
          <p:nvPr/>
        </p:nvPicPr>
        <p:blipFill>
          <a:blip r:embed="rId2"/>
          <a:stretch>
            <a:fillRect/>
          </a:stretch>
        </p:blipFill>
        <p:spPr>
          <a:xfrm>
            <a:off x="344545" y="1880737"/>
            <a:ext cx="225308" cy="225308"/>
          </a:xfrm>
          <a:prstGeom prst="rect">
            <a:avLst/>
          </a:prstGeom>
        </p:spPr>
      </p:pic>
      <p:sp>
        <p:nvSpPr>
          <p:cNvPr id="9" name="TextBox 8"/>
          <p:cNvSpPr txBox="1"/>
          <p:nvPr/>
        </p:nvSpPr>
        <p:spPr>
          <a:xfrm>
            <a:off x="731520" y="1792223"/>
            <a:ext cx="3474720" cy="402336"/>
          </a:xfrm>
          <a:prstGeom prst="rect">
            <a:avLst/>
          </a:prstGeom>
          <a:noFill/>
        </p:spPr>
        <p:txBody>
          <a:bodyPr wrap="square" lIns="45720" tIns="27432" rIns="45720" bIns="27432" anchor="ctr">
            <a:noAutofit/>
          </a:bodyPr>
          <a:lstStyle/>
          <a:p>
            <a:pPr algn="l"/>
            <a:r>
              <a:rPr sz="1500" b="1" i="0">
                <a:solidFill>
                  <a:srgbClr val="8B0000"/>
                </a:solidFill>
                <a:latin typeface="Times New Roman"/>
              </a:rPr>
              <a:t>Stage I outcomes</a:t>
            </a:r>
          </a:p>
        </p:txBody>
      </p:sp>
      <p:sp>
        <p:nvSpPr>
          <p:cNvPr id="10" name="Rounded Rectangle 9"/>
          <p:cNvSpPr/>
          <p:nvPr/>
        </p:nvSpPr>
        <p:spPr>
          <a:xfrm>
            <a:off x="228600" y="2304288"/>
            <a:ext cx="4114800" cy="512064"/>
          </a:xfrm>
          <a:prstGeom prst="roundRect">
            <a:avLst>
              <a:gd name="adj" fmla="val 15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1" name="Picture 10" descr=""/>
          <p:cNvPicPr>
            <a:picLocks noChangeAspect="1"/>
          </p:cNvPicPr>
          <p:nvPr/>
        </p:nvPicPr>
        <p:blipFill>
          <a:blip r:embed="rId3"/>
          <a:stretch>
            <a:fillRect/>
          </a:stretch>
        </p:blipFill>
        <p:spPr>
          <a:xfrm>
            <a:off x="347472" y="2423159"/>
            <a:ext cx="274320" cy="274320"/>
          </a:xfrm>
          <a:prstGeom prst="rect">
            <a:avLst/>
          </a:prstGeom>
        </p:spPr>
      </p:pic>
      <p:sp>
        <p:nvSpPr>
          <p:cNvPr id="12" name="TextBox 11"/>
          <p:cNvSpPr txBox="1"/>
          <p:nvPr/>
        </p:nvSpPr>
        <p:spPr>
          <a:xfrm>
            <a:off x="713232" y="2304288"/>
            <a:ext cx="3584448" cy="512064"/>
          </a:xfrm>
          <a:prstGeom prst="rect">
            <a:avLst/>
          </a:prstGeom>
          <a:noFill/>
        </p:spPr>
        <p:txBody>
          <a:bodyPr wrap="square" lIns="45720" tIns="27432" rIns="45720" bIns="27432" anchor="ctr">
            <a:noAutofit/>
          </a:bodyPr>
          <a:lstStyle/>
          <a:p>
            <a:pPr algn="l"/>
            <a:r>
              <a:rPr sz="1200" b="0" i="0">
                <a:solidFill>
                  <a:srgbClr val="1F1F1F"/>
                </a:solidFill>
                <a:latin typeface="Times New Roman"/>
              </a:rPr>
              <a:t>9 functional + 7 non-functional requirements specified</a:t>
            </a:r>
          </a:p>
        </p:txBody>
      </p:sp>
      <p:sp>
        <p:nvSpPr>
          <p:cNvPr id="13" name="Rounded Rectangle 12"/>
          <p:cNvSpPr/>
          <p:nvPr/>
        </p:nvSpPr>
        <p:spPr>
          <a:xfrm>
            <a:off x="228600" y="2889504"/>
            <a:ext cx="4114800" cy="512064"/>
          </a:xfrm>
          <a:prstGeom prst="roundRect">
            <a:avLst>
              <a:gd name="adj" fmla="val 15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4" name="Picture 13" descr=""/>
          <p:cNvPicPr>
            <a:picLocks noChangeAspect="1"/>
          </p:cNvPicPr>
          <p:nvPr/>
        </p:nvPicPr>
        <p:blipFill>
          <a:blip r:embed="rId3"/>
          <a:stretch>
            <a:fillRect/>
          </a:stretch>
        </p:blipFill>
        <p:spPr>
          <a:xfrm>
            <a:off x="347472" y="3008376"/>
            <a:ext cx="274320" cy="274320"/>
          </a:xfrm>
          <a:prstGeom prst="rect">
            <a:avLst/>
          </a:prstGeom>
        </p:spPr>
      </p:pic>
      <p:sp>
        <p:nvSpPr>
          <p:cNvPr id="15" name="TextBox 14"/>
          <p:cNvSpPr txBox="1"/>
          <p:nvPr/>
        </p:nvSpPr>
        <p:spPr>
          <a:xfrm>
            <a:off x="713232" y="2889504"/>
            <a:ext cx="3584448" cy="512064"/>
          </a:xfrm>
          <a:prstGeom prst="rect">
            <a:avLst/>
          </a:prstGeom>
          <a:noFill/>
        </p:spPr>
        <p:txBody>
          <a:bodyPr wrap="square" lIns="45720" tIns="27432" rIns="45720" bIns="27432" anchor="ctr">
            <a:noAutofit/>
          </a:bodyPr>
          <a:lstStyle/>
          <a:p>
            <a:pPr algn="l"/>
            <a:r>
              <a:rPr sz="1200" b="0" i="0">
                <a:solidFill>
                  <a:srgbClr val="1F1F1F"/>
                </a:solidFill>
                <a:latin typeface="Times New Roman"/>
              </a:rPr>
              <a:t>Architecture with explicit typed agent output contracts</a:t>
            </a:r>
          </a:p>
        </p:txBody>
      </p:sp>
      <p:sp>
        <p:nvSpPr>
          <p:cNvPr id="16" name="Rounded Rectangle 15"/>
          <p:cNvSpPr/>
          <p:nvPr/>
        </p:nvSpPr>
        <p:spPr>
          <a:xfrm>
            <a:off x="228600" y="3474719"/>
            <a:ext cx="4114800" cy="512064"/>
          </a:xfrm>
          <a:prstGeom prst="roundRect">
            <a:avLst>
              <a:gd name="adj" fmla="val 15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7" name="Picture 16" descr=""/>
          <p:cNvPicPr>
            <a:picLocks noChangeAspect="1"/>
          </p:cNvPicPr>
          <p:nvPr/>
        </p:nvPicPr>
        <p:blipFill>
          <a:blip r:embed="rId3"/>
          <a:stretch>
            <a:fillRect/>
          </a:stretch>
        </p:blipFill>
        <p:spPr>
          <a:xfrm>
            <a:off x="347472" y="3593591"/>
            <a:ext cx="274320" cy="274320"/>
          </a:xfrm>
          <a:prstGeom prst="rect">
            <a:avLst/>
          </a:prstGeom>
        </p:spPr>
      </p:pic>
      <p:sp>
        <p:nvSpPr>
          <p:cNvPr id="18" name="TextBox 17"/>
          <p:cNvSpPr txBox="1"/>
          <p:nvPr/>
        </p:nvSpPr>
        <p:spPr>
          <a:xfrm>
            <a:off x="713232" y="3474719"/>
            <a:ext cx="3584448" cy="512064"/>
          </a:xfrm>
          <a:prstGeom prst="rect">
            <a:avLst/>
          </a:prstGeom>
          <a:noFill/>
        </p:spPr>
        <p:txBody>
          <a:bodyPr wrap="square" lIns="45720" tIns="27432" rIns="45720" bIns="27432" anchor="ctr">
            <a:noAutofit/>
          </a:bodyPr>
          <a:lstStyle/>
          <a:p>
            <a:pPr algn="l"/>
            <a:r>
              <a:rPr sz="1200" b="0" i="0">
                <a:solidFill>
                  <a:srgbClr val="1F1F1F"/>
                </a:solidFill>
                <a:latin typeface="Times New Roman"/>
              </a:rPr>
              <a:t>Level 0 &amp; 1 DFDs and three UML diagrams</a:t>
            </a:r>
          </a:p>
        </p:txBody>
      </p:sp>
      <p:sp>
        <p:nvSpPr>
          <p:cNvPr id="19" name="Rounded Rectangle 18"/>
          <p:cNvSpPr/>
          <p:nvPr/>
        </p:nvSpPr>
        <p:spPr>
          <a:xfrm>
            <a:off x="228600" y="4059936"/>
            <a:ext cx="4114800" cy="512064"/>
          </a:xfrm>
          <a:prstGeom prst="roundRect">
            <a:avLst>
              <a:gd name="adj" fmla="val 15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0" name="Picture 19" descr=""/>
          <p:cNvPicPr>
            <a:picLocks noChangeAspect="1"/>
          </p:cNvPicPr>
          <p:nvPr/>
        </p:nvPicPr>
        <p:blipFill>
          <a:blip r:embed="rId3"/>
          <a:stretch>
            <a:fillRect/>
          </a:stretch>
        </p:blipFill>
        <p:spPr>
          <a:xfrm>
            <a:off x="347472" y="4178808"/>
            <a:ext cx="274320" cy="274320"/>
          </a:xfrm>
          <a:prstGeom prst="rect">
            <a:avLst/>
          </a:prstGeom>
        </p:spPr>
      </p:pic>
      <p:sp>
        <p:nvSpPr>
          <p:cNvPr id="21" name="TextBox 20"/>
          <p:cNvSpPr txBox="1"/>
          <p:nvPr/>
        </p:nvSpPr>
        <p:spPr>
          <a:xfrm>
            <a:off x="713232" y="4059936"/>
            <a:ext cx="3584448" cy="512064"/>
          </a:xfrm>
          <a:prstGeom prst="rect">
            <a:avLst/>
          </a:prstGeom>
          <a:noFill/>
        </p:spPr>
        <p:txBody>
          <a:bodyPr wrap="square" lIns="45720" tIns="27432" rIns="45720" bIns="27432" anchor="ctr">
            <a:noAutofit/>
          </a:bodyPr>
          <a:lstStyle/>
          <a:p>
            <a:pPr algn="l"/>
            <a:r>
              <a:rPr sz="1200" b="0" i="0">
                <a:solidFill>
                  <a:srgbClr val="1F1F1F"/>
                </a:solidFill>
                <a:latin typeface="Times New Roman"/>
              </a:rPr>
              <a:t>Reference module logic and 12-case test plan</a:t>
            </a:r>
          </a:p>
        </p:txBody>
      </p:sp>
      <p:sp>
        <p:nvSpPr>
          <p:cNvPr id="22" name="Rounded Rectangle 21"/>
          <p:cNvSpPr/>
          <p:nvPr/>
        </p:nvSpPr>
        <p:spPr>
          <a:xfrm>
            <a:off x="228600" y="4645152"/>
            <a:ext cx="4114800" cy="512064"/>
          </a:xfrm>
          <a:prstGeom prst="roundRect">
            <a:avLst>
              <a:gd name="adj" fmla="val 15000"/>
            </a:avLst>
          </a:prstGeom>
          <a:solidFill>
            <a:srgbClr val="F2F2F2"/>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3" name="Picture 22" descr=""/>
          <p:cNvPicPr>
            <a:picLocks noChangeAspect="1"/>
          </p:cNvPicPr>
          <p:nvPr/>
        </p:nvPicPr>
        <p:blipFill>
          <a:blip r:embed="rId3"/>
          <a:stretch>
            <a:fillRect/>
          </a:stretch>
        </p:blipFill>
        <p:spPr>
          <a:xfrm>
            <a:off x="347472" y="4764024"/>
            <a:ext cx="274320" cy="274320"/>
          </a:xfrm>
          <a:prstGeom prst="rect">
            <a:avLst/>
          </a:prstGeom>
        </p:spPr>
      </p:pic>
      <p:sp>
        <p:nvSpPr>
          <p:cNvPr id="24" name="TextBox 23"/>
          <p:cNvSpPr txBox="1"/>
          <p:nvPr/>
        </p:nvSpPr>
        <p:spPr>
          <a:xfrm>
            <a:off x="713232" y="4645152"/>
            <a:ext cx="3584448" cy="512064"/>
          </a:xfrm>
          <a:prstGeom prst="rect">
            <a:avLst/>
          </a:prstGeom>
          <a:noFill/>
        </p:spPr>
        <p:txBody>
          <a:bodyPr wrap="square" lIns="45720" tIns="27432" rIns="45720" bIns="27432" anchor="ctr">
            <a:noAutofit/>
          </a:bodyPr>
          <a:lstStyle/>
          <a:p>
            <a:pPr algn="l"/>
            <a:r>
              <a:rPr sz="1200" b="0" i="0">
                <a:solidFill>
                  <a:srgbClr val="1F1F1F"/>
                </a:solidFill>
                <a:latin typeface="Times New Roman"/>
              </a:rPr>
              <a:t>Research paper submitted to IJAICMES (October 2026)</a:t>
            </a:r>
          </a:p>
        </p:txBody>
      </p:sp>
      <p:sp>
        <p:nvSpPr>
          <p:cNvPr id="25" name="Oval 24"/>
          <p:cNvSpPr/>
          <p:nvPr/>
        </p:nvSpPr>
        <p:spPr>
          <a:xfrm>
            <a:off x="4645152" y="1792223"/>
            <a:ext cx="402336" cy="402336"/>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6" name="Picture 25" descr=""/>
          <p:cNvPicPr>
            <a:picLocks noChangeAspect="1"/>
          </p:cNvPicPr>
          <p:nvPr/>
        </p:nvPicPr>
        <p:blipFill>
          <a:blip r:embed="rId4"/>
          <a:stretch>
            <a:fillRect/>
          </a:stretch>
        </p:blipFill>
        <p:spPr>
          <a:xfrm>
            <a:off x="4733665" y="1880737"/>
            <a:ext cx="225308" cy="225308"/>
          </a:xfrm>
          <a:prstGeom prst="rect">
            <a:avLst/>
          </a:prstGeom>
        </p:spPr>
      </p:pic>
      <p:sp>
        <p:nvSpPr>
          <p:cNvPr id="27" name="TextBox 26"/>
          <p:cNvSpPr txBox="1"/>
          <p:nvPr/>
        </p:nvSpPr>
        <p:spPr>
          <a:xfrm>
            <a:off x="5120640" y="1792223"/>
            <a:ext cx="3474720" cy="402336"/>
          </a:xfrm>
          <a:prstGeom prst="rect">
            <a:avLst/>
          </a:prstGeom>
          <a:noFill/>
        </p:spPr>
        <p:txBody>
          <a:bodyPr wrap="square" lIns="45720" tIns="27432" rIns="45720" bIns="27432" anchor="ctr">
            <a:noAutofit/>
          </a:bodyPr>
          <a:lstStyle/>
          <a:p>
            <a:pPr algn="l"/>
            <a:r>
              <a:rPr sz="1500" b="1" i="0">
                <a:solidFill>
                  <a:srgbClr val="8B0000"/>
                </a:solidFill>
                <a:latin typeface="Times New Roman"/>
              </a:rPr>
              <a:t>Future scope</a:t>
            </a:r>
          </a:p>
        </p:txBody>
      </p:sp>
      <p:cxnSp>
        <p:nvCxnSpPr>
          <p:cNvPr id="28" name="Connector 27"/>
          <p:cNvCxnSpPr/>
          <p:nvPr/>
        </p:nvCxnSpPr>
        <p:spPr>
          <a:xfrm>
            <a:off x="4846320" y="2450592"/>
            <a:ext cx="0" cy="2670048"/>
          </a:xfrm>
          <a:prstGeom prst="line">
            <a:avLst/>
          </a:prstGeom>
          <a:ln w="25400">
            <a:solidFill>
              <a:srgbClr val="BFBFBF"/>
            </a:solidFill>
          </a:ln>
        </p:spPr>
      </p:cxnSp>
      <p:sp>
        <p:nvSpPr>
          <p:cNvPr id="29" name="Oval 28"/>
          <p:cNvSpPr/>
          <p:nvPr/>
        </p:nvSpPr>
        <p:spPr>
          <a:xfrm>
            <a:off x="4727448" y="2331720"/>
            <a:ext cx="237744" cy="237744"/>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0" name="TextBox 29"/>
          <p:cNvSpPr txBox="1"/>
          <p:nvPr/>
        </p:nvSpPr>
        <p:spPr>
          <a:xfrm>
            <a:off x="5074920" y="2249424"/>
            <a:ext cx="3840480" cy="402336"/>
          </a:xfrm>
          <a:prstGeom prst="rect">
            <a:avLst/>
          </a:prstGeom>
          <a:noFill/>
        </p:spPr>
        <p:txBody>
          <a:bodyPr wrap="square" lIns="45720" tIns="27432" rIns="45720" bIns="27432" anchor="ctr">
            <a:noAutofit/>
          </a:bodyPr>
          <a:lstStyle/>
          <a:p>
            <a:pPr algn="l"/>
            <a:r>
              <a:rPr sz="1150" b="1" i="0">
                <a:solidFill>
                  <a:srgbClr val="8B0000"/>
                </a:solidFill>
                <a:latin typeface="Times New Roman"/>
              </a:rPr>
              <a:t>Stage II: build and evaluate the full prototype</a:t>
            </a:r>
          </a:p>
        </p:txBody>
      </p:sp>
      <p:sp>
        <p:nvSpPr>
          <p:cNvPr id="31" name="Oval 30"/>
          <p:cNvSpPr/>
          <p:nvPr/>
        </p:nvSpPr>
        <p:spPr>
          <a:xfrm>
            <a:off x="4764024" y="2816352"/>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2" name="TextBox 31"/>
          <p:cNvSpPr txBox="1"/>
          <p:nvPr/>
        </p:nvSpPr>
        <p:spPr>
          <a:xfrm>
            <a:off x="5074920" y="2697479"/>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Hospital integration: EHR exports, HL7 FHIR, access control</a:t>
            </a:r>
          </a:p>
        </p:txBody>
      </p:sp>
      <p:sp>
        <p:nvSpPr>
          <p:cNvPr id="33" name="Oval 32"/>
          <p:cNvSpPr/>
          <p:nvPr/>
        </p:nvSpPr>
        <p:spPr>
          <a:xfrm>
            <a:off x="4764024" y="3264408"/>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4" name="TextBox 33"/>
          <p:cNvSpPr txBox="1"/>
          <p:nvPr/>
        </p:nvSpPr>
        <p:spPr>
          <a:xfrm>
            <a:off x="5074920" y="3145536"/>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Ontologies, knowledge graphs and specialized medical models</a:t>
            </a:r>
          </a:p>
        </p:txBody>
      </p:sp>
      <p:sp>
        <p:nvSpPr>
          <p:cNvPr id="35" name="Oval 34"/>
          <p:cNvSpPr/>
          <p:nvPr/>
        </p:nvSpPr>
        <p:spPr>
          <a:xfrm>
            <a:off x="4764024" y="3712464"/>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6" name="TextBox 35"/>
          <p:cNvSpPr txBox="1"/>
          <p:nvPr/>
        </p:nvSpPr>
        <p:spPr>
          <a:xfrm>
            <a:off x="5074920" y="3593592"/>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Longitudinal data from repeated patient visits</a:t>
            </a:r>
          </a:p>
        </p:txBody>
      </p:sp>
      <p:sp>
        <p:nvSpPr>
          <p:cNvPr id="37" name="Oval 36"/>
          <p:cNvSpPr/>
          <p:nvPr/>
        </p:nvSpPr>
        <p:spPr>
          <a:xfrm>
            <a:off x="4764024" y="4160520"/>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38" name="TextBox 37"/>
          <p:cNvSpPr txBox="1"/>
          <p:nvPr/>
        </p:nvSpPr>
        <p:spPr>
          <a:xfrm>
            <a:off x="5074920" y="4041648"/>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External validation across multiple institutions</a:t>
            </a:r>
          </a:p>
        </p:txBody>
      </p:sp>
      <p:sp>
        <p:nvSpPr>
          <p:cNvPr id="39" name="Oval 38"/>
          <p:cNvSpPr/>
          <p:nvPr/>
        </p:nvSpPr>
        <p:spPr>
          <a:xfrm>
            <a:off x="4764024" y="4608576"/>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0" name="TextBox 39"/>
          <p:cNvSpPr txBox="1"/>
          <p:nvPr/>
        </p:nvSpPr>
        <p:spPr>
          <a:xfrm>
            <a:off x="5074920" y="4489704"/>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Federated learning across hospital nodes (Flower framework)</a:t>
            </a:r>
          </a:p>
        </p:txBody>
      </p:sp>
      <p:sp>
        <p:nvSpPr>
          <p:cNvPr id="41" name="Oval 40"/>
          <p:cNvSpPr/>
          <p:nvPr/>
        </p:nvSpPr>
        <p:spPr>
          <a:xfrm>
            <a:off x="4764024" y="5056632"/>
            <a:ext cx="164592" cy="164592"/>
          </a:xfrm>
          <a:prstGeom prst="ellipse">
            <a:avLst/>
          </a:prstGeom>
          <a:solidFill>
            <a:srgbClr val="FFFFFF"/>
          </a:solidFill>
          <a:ln w="19050">
            <a:solidFill>
              <a:srgbClr val="8B0000"/>
            </a:solid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2" name="TextBox 41"/>
          <p:cNvSpPr txBox="1"/>
          <p:nvPr/>
        </p:nvSpPr>
        <p:spPr>
          <a:xfrm>
            <a:off x="5074920" y="4937760"/>
            <a:ext cx="3840480" cy="402336"/>
          </a:xfrm>
          <a:prstGeom prst="rect">
            <a:avLst/>
          </a:prstGeom>
          <a:noFill/>
        </p:spPr>
        <p:txBody>
          <a:bodyPr wrap="square" lIns="45720" tIns="27432" rIns="45720" bIns="27432" anchor="ctr">
            <a:noAutofit/>
          </a:bodyPr>
          <a:lstStyle/>
          <a:p>
            <a:pPr algn="l"/>
            <a:r>
              <a:rPr sz="1150" b="0" i="0">
                <a:solidFill>
                  <a:srgbClr val="1F1F1F"/>
                </a:solidFill>
                <a:latin typeface="Times New Roman"/>
              </a:rPr>
              <a:t>Extended GraphRAG: PubMed-integrated knowledge base</a:t>
            </a:r>
          </a:p>
        </p:txBody>
      </p:sp>
      <p:sp>
        <p:nvSpPr>
          <p:cNvPr id="43" name="Rounded Rectangle 42"/>
          <p:cNvSpPr/>
          <p:nvPr/>
        </p:nvSpPr>
        <p:spPr>
          <a:xfrm>
            <a:off x="228600" y="5321808"/>
            <a:ext cx="8686800" cy="603504"/>
          </a:xfrm>
          <a:prstGeom prst="roundRect">
            <a:avLst>
              <a:gd name="adj" fmla="val 18000"/>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sp>
        <p:nvSpPr>
          <p:cNvPr id="44" name="Oval 43"/>
          <p:cNvSpPr/>
          <p:nvPr/>
        </p:nvSpPr>
        <p:spPr>
          <a:xfrm>
            <a:off x="402335" y="5413248"/>
            <a:ext cx="420624" cy="420624"/>
          </a:xfrm>
          <a:prstGeom prst="ellipse">
            <a:avLst/>
          </a:prstGeom>
          <a:solidFill>
            <a:srgbClr val="FFFFFF"/>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45" name="Picture 44" descr=""/>
          <p:cNvPicPr>
            <a:picLocks noChangeAspect="1"/>
          </p:cNvPicPr>
          <p:nvPr/>
        </p:nvPicPr>
        <p:blipFill>
          <a:blip r:embed="rId5"/>
          <a:stretch>
            <a:fillRect/>
          </a:stretch>
        </p:blipFill>
        <p:spPr>
          <a:xfrm>
            <a:off x="494873" y="5505785"/>
            <a:ext cx="235549" cy="235549"/>
          </a:xfrm>
          <a:prstGeom prst="rect">
            <a:avLst/>
          </a:prstGeom>
        </p:spPr>
      </p:pic>
      <p:sp>
        <p:nvSpPr>
          <p:cNvPr id="46" name="TextBox 45"/>
          <p:cNvSpPr txBox="1"/>
          <p:nvPr/>
        </p:nvSpPr>
        <p:spPr>
          <a:xfrm>
            <a:off x="914400" y="5321808"/>
            <a:ext cx="7863840" cy="603504"/>
          </a:xfrm>
          <a:prstGeom prst="rect">
            <a:avLst/>
          </a:prstGeom>
          <a:noFill/>
        </p:spPr>
        <p:txBody>
          <a:bodyPr wrap="square" lIns="45720" tIns="27432" rIns="45720" bIns="27432" anchor="ctr">
            <a:noAutofit/>
          </a:bodyPr>
          <a:lstStyle/>
          <a:p>
            <a:pPr algn="l"/>
            <a:r>
              <a:rPr sz="1350" b="0" i="1">
                <a:solidFill>
                  <a:srgbClr val="FFFFFF"/>
                </a:solidFill>
                <a:latin typeface="Times New Roman"/>
              </a:rPr>
              <a:t>Every recommendation traceable to its evidence; the final decision always stays with the clinician.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Slide Title"/>
          <p:cNvSpPr txBox="1"/>
          <p:nvPr/>
        </p:nvSpPr>
        <p:spPr>
          <a:xfrm>
            <a:off x="182880" y="1143000"/>
            <a:ext cx="8778240" cy="502920"/>
          </a:xfrm>
          <a:prstGeom prst="rect">
            <a:avLst/>
          </a:prstGeom>
          <a:noFill/>
        </p:spPr>
        <p:txBody>
          <a:bodyPr wrap="square" lIns="45720" tIns="27432" rIns="45720" bIns="27432" anchor="ctr">
            <a:noAutofit/>
          </a:bodyPr>
          <a:lstStyle/>
          <a:p>
            <a:pPr algn="l"/>
            <a:r>
              <a:rPr sz="2400" b="1" i="0">
                <a:solidFill>
                  <a:srgbClr val="8B0000"/>
                </a:solidFill>
                <a:latin typeface="Times New Roman"/>
              </a:rPr>
              <a:t>References</a:t>
            </a:r>
          </a:p>
        </p:txBody>
      </p:sp>
      <p:cxnSp>
        <p:nvCxnSpPr>
          <p:cNvPr id="6" name="Connector 5"/>
          <p:cNvCxnSpPr/>
          <p:nvPr/>
        </p:nvCxnSpPr>
        <p:spPr>
          <a:xfrm>
            <a:off x="182880" y="1664208"/>
            <a:ext cx="8778240" cy="0"/>
          </a:xfrm>
          <a:prstGeom prst="line">
            <a:avLst/>
          </a:prstGeom>
          <a:ln w="12700">
            <a:solidFill>
              <a:srgbClr val="8B0000"/>
            </a:solidFill>
          </a:ln>
        </p:spPr>
      </p:cxnSp>
      <p:sp>
        <p:nvSpPr>
          <p:cNvPr id="7" name="TextBox 6"/>
          <p:cNvSpPr txBox="1"/>
          <p:nvPr/>
        </p:nvSpPr>
        <p:spPr>
          <a:xfrm>
            <a:off x="228600" y="1737360"/>
            <a:ext cx="8686800" cy="4498848"/>
          </a:xfrm>
          <a:prstGeom prst="rect">
            <a:avLst/>
          </a:prstGeom>
          <a:noFill/>
        </p:spPr>
        <p:txBody>
          <a:bodyPr wrap="square" lIns="45720" tIns="27432" rIns="45720" bIns="27432" anchor="t">
            <a:noAutofit/>
          </a:bodyPr>
          <a:lstStyle/>
          <a:p>
            <a:pPr algn="l" marL="365760" indent="-365760">
              <a:spcAft>
                <a:spcPts val="300"/>
              </a:spcAft>
            </a:pPr>
            <a:r>
              <a:rPr sz="1050" b="1" i="0">
                <a:solidFill>
                  <a:srgbClr val="8B0000"/>
                </a:solidFill>
                <a:latin typeface="Times New Roman"/>
              </a:rPr>
              <a:t>[1]  </a:t>
            </a:r>
            <a:r>
              <a:rPr sz="1050" b="0" i="0">
                <a:solidFill>
                  <a:srgbClr val="1F1F1F"/>
                </a:solidFill>
                <a:latin typeface="Times New Roman"/>
              </a:rPr>
              <a:t>Ç. U. Öğdü, K. Arslanoğlu and M. Karaköse, "An Adaptive Multi-Agent LLM-Based CDSS Integrating Biomedical RAG and Web Intelligence," IEEE Access, vol. 13, 2025.</a:t>
            </a:r>
          </a:p>
          <a:p>
            <a:pPr algn="l" marL="365760" indent="-365760">
              <a:spcAft>
                <a:spcPts val="300"/>
              </a:spcAft>
            </a:pPr>
            <a:r>
              <a:rPr sz="1050" b="1" i="0">
                <a:solidFill>
                  <a:srgbClr val="8B0000"/>
                </a:solidFill>
                <a:latin typeface="Times New Roman"/>
              </a:rPr>
              <a:t>[2]  </a:t>
            </a:r>
            <a:r>
              <a:rPr sz="1050" b="0" i="0">
                <a:solidFill>
                  <a:srgbClr val="1F1F1F"/>
                </a:solidFill>
                <a:latin typeface="Times New Roman"/>
              </a:rPr>
              <a:t>X. Tang et al., "MedAgents: Large Language Models as Collaborators for Zero-shot Medical Reasoning," Findings of ACL 2024.</a:t>
            </a:r>
          </a:p>
          <a:p>
            <a:pPr algn="l" marL="365760" indent="-365760">
              <a:spcAft>
                <a:spcPts val="300"/>
              </a:spcAft>
            </a:pPr>
            <a:r>
              <a:rPr sz="1050" b="1" i="0">
                <a:solidFill>
                  <a:srgbClr val="8B0000"/>
                </a:solidFill>
                <a:latin typeface="Times New Roman"/>
              </a:rPr>
              <a:t>[3]  </a:t>
            </a:r>
            <a:r>
              <a:rPr sz="1050" b="0" i="0">
                <a:solidFill>
                  <a:srgbClr val="1F1F1F"/>
                </a:solidFill>
                <a:latin typeface="Times New Roman"/>
              </a:rPr>
              <a:t>Y. Lu, X. Zhao and J. Wang, "ClinicalRAG: Enhancing Clinical Decision Support through Heterogeneous Knowledge Retrieval," KnowLLM Workshop, 2024.</a:t>
            </a:r>
          </a:p>
          <a:p>
            <a:pPr algn="l" marL="365760" indent="-365760">
              <a:spcAft>
                <a:spcPts val="300"/>
              </a:spcAft>
            </a:pPr>
            <a:r>
              <a:rPr sz="1050" b="1" i="0">
                <a:solidFill>
                  <a:srgbClr val="8B0000"/>
                </a:solidFill>
                <a:latin typeface="Times New Roman"/>
              </a:rPr>
              <a:t>[4]  </a:t>
            </a:r>
            <a:r>
              <a:rPr sz="1050" b="0" i="0">
                <a:solidFill>
                  <a:srgbClr val="1F1F1F"/>
                </a:solidFill>
                <a:latin typeface="Times New Roman"/>
              </a:rPr>
              <a:t>K. Zuo et al., "KG4Diagnosis: A Hierarchical Multi-Agent LLM Framework with Knowledge Graph Enhancement for Medical Diagnosis," PMLR, vol. 281, 2025.</a:t>
            </a:r>
          </a:p>
          <a:p>
            <a:pPr algn="l" marL="365760" indent="-365760">
              <a:spcAft>
                <a:spcPts val="300"/>
              </a:spcAft>
            </a:pPr>
            <a:r>
              <a:rPr sz="1050" b="1" i="0">
                <a:solidFill>
                  <a:srgbClr val="8B0000"/>
                </a:solidFill>
                <a:latin typeface="Times New Roman"/>
              </a:rPr>
              <a:t>[5]  </a:t>
            </a:r>
            <a:r>
              <a:rPr sz="1050" b="0" i="0">
                <a:solidFill>
                  <a:srgbClr val="1F1F1F"/>
                </a:solidFill>
                <a:latin typeface="Times New Roman"/>
              </a:rPr>
              <a:t>T. Abdullahi et al., "Retrieval-Based Diagnostic Decision Support: Mixed Methods Study," JMIR Medical Informatics, vol. 12, 2024.</a:t>
            </a:r>
          </a:p>
          <a:p>
            <a:pPr algn="l" marL="365760" indent="-365760">
              <a:spcAft>
                <a:spcPts val="300"/>
              </a:spcAft>
            </a:pPr>
            <a:r>
              <a:rPr sz="1050" b="1" i="0">
                <a:solidFill>
                  <a:srgbClr val="8B0000"/>
                </a:solidFill>
                <a:latin typeface="Times New Roman"/>
              </a:rPr>
              <a:t>[6]  </a:t>
            </a:r>
            <a:r>
              <a:rPr sz="1050" b="0" i="0">
                <a:solidFill>
                  <a:srgbClr val="1F1F1F"/>
                </a:solidFill>
                <a:latin typeface="Times New Roman"/>
              </a:rPr>
              <a:t>S. Liu et al., "Improving large language model applications in biomedicine with retrieval-augmented generation," JAMIA, vol. 32, 2025.</a:t>
            </a:r>
          </a:p>
          <a:p>
            <a:pPr algn="l" marL="365760" indent="-365760">
              <a:spcAft>
                <a:spcPts val="300"/>
              </a:spcAft>
            </a:pPr>
            <a:r>
              <a:rPr sz="1050" b="1" i="0">
                <a:solidFill>
                  <a:srgbClr val="8B0000"/>
                </a:solidFill>
                <a:latin typeface="Times New Roman"/>
              </a:rPr>
              <a:t>[7]  </a:t>
            </a:r>
            <a:r>
              <a:rPr sz="1050" b="0" i="0">
                <a:solidFill>
                  <a:srgbClr val="1F1F1F"/>
                </a:solidFill>
                <a:latin typeface="Times New Roman"/>
              </a:rPr>
              <a:t>S. Delourme et al., "Measured Performance and Healthcare Professional Perception of LLMs Used as CDSS: A Scoping Review," Stud. Health Technol. Inform., 2024.</a:t>
            </a:r>
          </a:p>
          <a:p>
            <a:pPr algn="l" marL="365760" indent="-365760">
              <a:spcAft>
                <a:spcPts val="300"/>
              </a:spcAft>
            </a:pPr>
            <a:r>
              <a:rPr sz="1050" b="1" i="0">
                <a:solidFill>
                  <a:srgbClr val="8B0000"/>
                </a:solidFill>
                <a:latin typeface="Times New Roman"/>
              </a:rPr>
              <a:t>[8]  </a:t>
            </a:r>
            <a:r>
              <a:rPr sz="1050" b="0" i="0">
                <a:solidFill>
                  <a:srgbClr val="1F1F1F"/>
                </a:solidFill>
                <a:latin typeface="Times New Roman"/>
              </a:rPr>
              <a:t>C. Wang et al., "Potential for GPT Technology to Optimize Future Clinical Decision-Making Using RAG," Annals of Biomedical Engineering, 2024.</a:t>
            </a:r>
          </a:p>
          <a:p>
            <a:pPr algn="l" marL="365760" indent="-365760">
              <a:spcAft>
                <a:spcPts val="300"/>
              </a:spcAft>
            </a:pPr>
            <a:r>
              <a:rPr sz="1050" b="1" i="0">
                <a:solidFill>
                  <a:srgbClr val="8B0000"/>
                </a:solidFill>
                <a:latin typeface="Times New Roman"/>
              </a:rPr>
              <a:t>[9]  </a:t>
            </a:r>
            <a:r>
              <a:rPr sz="1050" b="0" i="0">
                <a:solidFill>
                  <a:srgbClr val="1F1F1F"/>
                </a:solidFill>
                <a:latin typeface="Times New Roman"/>
              </a:rPr>
              <a:t>S. Kresevic et al., "Optimization of hepatological clinical guidelines interpretation by LLMs: a RAG-based framework," npj Digital Medicine, 2024.</a:t>
            </a:r>
          </a:p>
          <a:p>
            <a:pPr algn="l" marL="365760" indent="-365760">
              <a:spcAft>
                <a:spcPts val="300"/>
              </a:spcAft>
            </a:pPr>
            <a:r>
              <a:rPr sz="1050" b="1" i="0">
                <a:solidFill>
                  <a:srgbClr val="8B0000"/>
                </a:solidFill>
                <a:latin typeface="Times New Roman"/>
              </a:rPr>
              <a:t>[10]  </a:t>
            </a:r>
            <a:r>
              <a:rPr sz="1050" b="0" i="0">
                <a:solidFill>
                  <a:srgbClr val="1F1F1F"/>
                </a:solidFill>
                <a:latin typeface="Times New Roman"/>
              </a:rPr>
              <a:t>W. Li et al., "MACD: Multi-Agent Clinical Diagnosis with Self-Learned Knowledge for LLM," arXiv:2509.20067, 2025.</a:t>
            </a:r>
          </a:p>
          <a:p>
            <a:pPr algn="l" marL="365760" indent="-365760">
              <a:spcAft>
                <a:spcPts val="300"/>
              </a:spcAft>
            </a:pPr>
            <a:r>
              <a:rPr sz="1050" b="1" i="0">
                <a:solidFill>
                  <a:srgbClr val="8B0000"/>
                </a:solidFill>
                <a:latin typeface="Times New Roman"/>
              </a:rPr>
              <a:t>[11]  </a:t>
            </a:r>
            <a:r>
              <a:rPr sz="1050" b="0" i="0">
                <a:solidFill>
                  <a:srgbClr val="1F1F1F"/>
                </a:solidFill>
                <a:latin typeface="Times New Roman"/>
              </a:rPr>
              <a:t>A. J. Thirunavukarasu et al., "Large language models in medicine," Nature Medicine, vol. 29, 2023.</a:t>
            </a:r>
          </a:p>
          <a:p>
            <a:pPr algn="l" marL="365760" indent="-365760">
              <a:spcAft>
                <a:spcPts val="300"/>
              </a:spcAft>
            </a:pPr>
            <a:r>
              <a:rPr sz="1050" b="1" i="0">
                <a:solidFill>
                  <a:srgbClr val="8B0000"/>
                </a:solidFill>
                <a:latin typeface="Times New Roman"/>
              </a:rPr>
              <a:t>[12]  </a:t>
            </a:r>
            <a:r>
              <a:rPr sz="1050" b="0" i="0">
                <a:solidFill>
                  <a:srgbClr val="1F1F1F"/>
                </a:solidFill>
                <a:latin typeface="Times New Roman"/>
              </a:rPr>
              <a:t>A. Patel et al., "Fine-Tuning, RAG, and Hybrid Adaptation of LMs for Clinical Decision-Making," J. Med. Internet Res., 2026.</a:t>
            </a:r>
          </a:p>
          <a:p>
            <a:pPr algn="l" marL="365760" indent="-365760">
              <a:spcAft>
                <a:spcPts val="300"/>
              </a:spcAft>
            </a:pPr>
            <a:r>
              <a:rPr sz="1050" b="1" i="0">
                <a:solidFill>
                  <a:srgbClr val="8B0000"/>
                </a:solidFill>
                <a:latin typeface="Times New Roman"/>
              </a:rPr>
              <a:t>[13]  </a:t>
            </a:r>
            <a:r>
              <a:rPr sz="1050" b="0" i="0">
                <a:solidFill>
                  <a:srgbClr val="1F1F1F"/>
                </a:solidFill>
                <a:latin typeface="Times New Roman"/>
              </a:rPr>
              <a:t>A. Janosi, W. Steinbrunn, M. Pfisterer and R. Detrano, "Heart Disease," UCI Machine Learning Repository, 1989, doi: 10.24432/C52P4X.</a:t>
            </a:r>
          </a:p>
          <a:p>
            <a:pPr algn="l" marL="365760" indent="-365760">
              <a:spcAft>
                <a:spcPts val="300"/>
              </a:spcAft>
            </a:pPr>
            <a:r>
              <a:rPr sz="1050" b="1" i="0">
                <a:solidFill>
                  <a:srgbClr val="8B0000"/>
                </a:solidFill>
                <a:latin typeface="Times New Roman"/>
              </a:rPr>
              <a:t>[14]  </a:t>
            </a:r>
            <a:r>
              <a:rPr sz="1050" b="0" i="0">
                <a:solidFill>
                  <a:srgbClr val="1F1F1F"/>
                </a:solidFill>
                <a:latin typeface="Times New Roman"/>
              </a:rPr>
              <a:t>T. Chen and C. Guestrin, "XGBoost: A Scalable Tree Boosting System," in Proc. 22nd ACM SIGKDD Int. Conf. Knowledge Discovery and Data Mining, 2016, pp. 785–794.</a:t>
            </a:r>
          </a:p>
          <a:p>
            <a:pPr algn="l" marL="365760" indent="-365760">
              <a:spcAft>
                <a:spcPts val="300"/>
              </a:spcAft>
            </a:pPr>
            <a:r>
              <a:rPr sz="1050" b="1" i="0">
                <a:solidFill>
                  <a:srgbClr val="8B0000"/>
                </a:solidFill>
                <a:latin typeface="Times New Roman"/>
              </a:rPr>
              <a:t>[15]  </a:t>
            </a:r>
            <a:r>
              <a:rPr sz="1050" b="0" i="0">
                <a:solidFill>
                  <a:srgbClr val="1F1F1F"/>
                </a:solidFill>
                <a:latin typeface="Times New Roman"/>
              </a:rPr>
              <a:t>S. M. Lundberg and S.-I. Lee, "A Unified Approach to Interpreting Model Predictions," in Advances in Neural Information Processing Systems 30 (NeurIPS), 2017.</a:t>
            </a:r>
          </a:p>
          <a:p>
            <a:pPr algn="l" marL="365760" indent="-365760">
              <a:spcAft>
                <a:spcPts val="300"/>
              </a:spcAft>
            </a:pPr>
            <a:r>
              <a:rPr sz="1050" b="1" i="0">
                <a:solidFill>
                  <a:srgbClr val="8B0000"/>
                </a:solidFill>
                <a:latin typeface="Times New Roman"/>
              </a:rPr>
              <a:t>[16]  </a:t>
            </a:r>
            <a:r>
              <a:rPr sz="1050" b="0" i="0">
                <a:solidFill>
                  <a:srgbClr val="1F1F1F"/>
                </a:solidFill>
                <a:latin typeface="Times New Roman"/>
              </a:rPr>
              <a:t>Z. Chen et al., "MEDITRON-70B: Scaling Medical Pretraining for Large Language Models," arXiv:2311.16079, 2023.</a:t>
            </a:r>
          </a:p>
          <a:p>
            <a:pPr algn="l" marL="365760" indent="-365760">
              <a:spcAft>
                <a:spcPts val="300"/>
              </a:spcAft>
            </a:pPr>
            <a:r>
              <a:rPr sz="1050" b="1" i="0">
                <a:solidFill>
                  <a:srgbClr val="8B0000"/>
                </a:solidFill>
                <a:latin typeface="Times New Roman"/>
              </a:rPr>
              <a:t>[17]  </a:t>
            </a:r>
            <a:r>
              <a:rPr sz="1050" b="0" i="0">
                <a:solidFill>
                  <a:srgbClr val="1F1F1F"/>
                </a:solidFill>
                <a:latin typeface="Times New Roman"/>
              </a:rPr>
              <a:t>D. Edge et al., "From Local to Global: A Graph RAG Approach to Query-Focused Summarization," arXiv:2404.16130, 2024.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p:txBody>
          <a:bodyPr/>
          <a:lstStyle/>
          <a:p>
            <a:r>
              <a:rPr lang="en-US" smtClean="0"/>
              <a:t>10/30/2026</a:t>
            </a:r>
            <a:endParaRPr lang="en-US" dirty="0"/>
          </a:p>
        </p:txBody>
      </p:sp>
      <p:sp>
        <p:nvSpPr>
          <p:cNvPr id="3" name="Slide Number Placeholder 2"/>
          <p:cNvSpPr>
            <a:spLocks noGrp="1"/>
          </p:cNvSpPr>
          <p:nvPr>
            <p:ph type="sldNum" sz="quarter" idx="12"/>
          </p:nvPr>
        </p:nvSpPr>
        <p:spPr/>
        <p:txBody>
          <a:bodyPr/>
          <a:lstStyle/>
          <a:p>
            <a:fld id="{0FB9C6C4-D4D5-475A-BDB8-37D028000D81}" type="slidenum">
              <a:rPr lang="en-US" smtClean="0"/>
              <a:pPr/>
              <a:t>‹#›</a:t>
            </a:fld>
            <a:endParaRPr lang="en-US"/>
          </a:p>
        </p:txBody>
      </p:sp>
      <p:sp>
        <p:nvSpPr>
          <p:cNvPr id="4" name="Footer Placeholder 3"/>
          <p:cNvSpPr>
            <a:spLocks noGrp="1"/>
          </p:cNvSpPr>
          <p:nvPr>
            <p:ph type="ftr" sz="quarter" idx="11"/>
          </p:nvPr>
        </p:nvSpPr>
        <p:spPr/>
        <p:txBody>
          <a:bodyPr/>
          <a:lstStyle/>
          <a:p>
            <a:r>
              <a:rPr lang="en-US" smtClean="0"/>
              <a:t>MedIntel</a:t>
            </a:r>
            <a:endParaRPr lang="en-US"/>
          </a:p>
        </p:txBody>
      </p:sp>
      <p:sp>
        <p:nvSpPr>
          <p:cNvPr id="5" name="TextBox 4"/>
          <p:cNvSpPr txBox="1"/>
          <p:nvPr/>
        </p:nvSpPr>
        <p:spPr>
          <a:xfrm>
            <a:off x="457200" y="1280160"/>
            <a:ext cx="8229600" cy="685800"/>
          </a:xfrm>
          <a:prstGeom prst="rect">
            <a:avLst/>
          </a:prstGeom>
          <a:noFill/>
        </p:spPr>
        <p:txBody>
          <a:bodyPr wrap="square" lIns="45720" tIns="27432" rIns="45720" bIns="27432" anchor="ctr">
            <a:noAutofit/>
          </a:bodyPr>
          <a:lstStyle/>
          <a:p>
            <a:pPr algn="ctr"/>
            <a:r>
              <a:rPr sz="4000" b="1" i="0">
                <a:solidFill>
                  <a:srgbClr val="8B0000"/>
                </a:solidFill>
                <a:latin typeface="Times New Roman"/>
              </a:rPr>
              <a:t>Thank You</a:t>
            </a:r>
          </a:p>
        </p:txBody>
      </p:sp>
      <p:sp>
        <p:nvSpPr>
          <p:cNvPr id="6" name="TextBox 5"/>
          <p:cNvSpPr txBox="1"/>
          <p:nvPr/>
        </p:nvSpPr>
        <p:spPr>
          <a:xfrm>
            <a:off x="457200" y="1965960"/>
            <a:ext cx="8229600" cy="384048"/>
          </a:xfrm>
          <a:prstGeom prst="rect">
            <a:avLst/>
          </a:prstGeom>
          <a:noFill/>
        </p:spPr>
        <p:txBody>
          <a:bodyPr wrap="square" lIns="45720" tIns="27432" rIns="45720" bIns="27432" anchor="ctr">
            <a:noAutofit/>
          </a:bodyPr>
          <a:lstStyle/>
          <a:p>
            <a:pPr algn="ctr"/>
            <a:r>
              <a:rPr sz="1800" b="0" i="1">
                <a:solidFill>
                  <a:srgbClr val="595959"/>
                </a:solidFill>
                <a:latin typeface="Times New Roman"/>
              </a:rPr>
              <a:t>Questions and suggestions are welcome</a:t>
            </a:r>
          </a:p>
        </p:txBody>
      </p:sp>
      <p:sp>
        <p:nvSpPr>
          <p:cNvPr id="7" name="Oval 6"/>
          <p:cNvSpPr/>
          <p:nvPr/>
        </p:nvSpPr>
        <p:spPr>
          <a:xfrm>
            <a:off x="3474720" y="3154680"/>
            <a:ext cx="2194560" cy="2194560"/>
          </a:xfrm>
          <a:prstGeom prst="ellipse">
            <a:avLst/>
          </a:prstGeom>
          <a:noFill/>
          <a:ln w="15875">
            <a:solidFill>
              <a:srgbClr val="BFBFBF"/>
            </a:solidFill>
            <a:prstDash val="dash"/>
          </a:ln>
        </p:spPr>
        <p:txBody>
          <a:bodyPr rtlCol="0" anchor="t" wrap="square" lIns="45720" tIns="27432" rIns="45720" bIns="27432">
            <a:noAutofit/>
          </a:bodyPr>
          <a:lstStyle/>
          <a:p>
            <a:pPr algn="l"/>
            <a:r>
              <a:rPr sz="1200" b="0" i="0">
                <a:solidFill>
                  <a:srgbClr val="1F1F1F"/>
                </a:solidFill>
                <a:latin typeface="Times New Roman"/>
              </a:rPr>
              <a:t/>
            </a:r>
          </a:p>
        </p:txBody>
      </p:sp>
      <p:cxnSp>
        <p:nvCxnSpPr>
          <p:cNvPr id="8" name="Connector 7"/>
          <p:cNvCxnSpPr/>
          <p:nvPr/>
        </p:nvCxnSpPr>
        <p:spPr>
          <a:xfrm flipV="1">
            <a:off x="4572000" y="3154680"/>
            <a:ext cx="0" cy="1097280"/>
          </a:xfrm>
          <a:prstGeom prst="line">
            <a:avLst/>
          </a:prstGeom>
          <a:ln w="15875">
            <a:solidFill>
              <a:srgbClr val="BFBFBF"/>
            </a:solidFill>
          </a:ln>
        </p:spPr>
      </p:cxnSp>
      <p:cxnSp>
        <p:nvCxnSpPr>
          <p:cNvPr id="9" name="Connector 8"/>
          <p:cNvCxnSpPr/>
          <p:nvPr/>
        </p:nvCxnSpPr>
        <p:spPr>
          <a:xfrm flipV="1">
            <a:off x="4572000" y="3912881"/>
            <a:ext cx="1043575" cy="339079"/>
          </a:xfrm>
          <a:prstGeom prst="line">
            <a:avLst/>
          </a:prstGeom>
          <a:ln w="15875">
            <a:solidFill>
              <a:srgbClr val="BFBFBF"/>
            </a:solidFill>
          </a:ln>
        </p:spPr>
      </p:cxnSp>
      <p:cxnSp>
        <p:nvCxnSpPr>
          <p:cNvPr id="10" name="Connector 9"/>
          <p:cNvCxnSpPr/>
          <p:nvPr/>
        </p:nvCxnSpPr>
        <p:spPr>
          <a:xfrm>
            <a:off x="4572000" y="4251960"/>
            <a:ext cx="644965" cy="887718"/>
          </a:xfrm>
          <a:prstGeom prst="line">
            <a:avLst/>
          </a:prstGeom>
          <a:ln w="15875">
            <a:solidFill>
              <a:srgbClr val="BFBFBF"/>
            </a:solidFill>
          </a:ln>
        </p:spPr>
      </p:cxnSp>
      <p:cxnSp>
        <p:nvCxnSpPr>
          <p:cNvPr id="11" name="Connector 10"/>
          <p:cNvCxnSpPr/>
          <p:nvPr/>
        </p:nvCxnSpPr>
        <p:spPr>
          <a:xfrm flipH="1">
            <a:off x="3927034" y="4251960"/>
            <a:ext cx="644966" cy="887718"/>
          </a:xfrm>
          <a:prstGeom prst="line">
            <a:avLst/>
          </a:prstGeom>
          <a:ln w="15875">
            <a:solidFill>
              <a:srgbClr val="BFBFBF"/>
            </a:solidFill>
          </a:ln>
        </p:spPr>
      </p:cxnSp>
      <p:cxnSp>
        <p:nvCxnSpPr>
          <p:cNvPr id="12" name="Connector 11"/>
          <p:cNvCxnSpPr/>
          <p:nvPr/>
        </p:nvCxnSpPr>
        <p:spPr>
          <a:xfrm flipH="1" flipV="1">
            <a:off x="3528424" y="3912881"/>
            <a:ext cx="1043576" cy="339079"/>
          </a:xfrm>
          <a:prstGeom prst="line">
            <a:avLst/>
          </a:prstGeom>
          <a:ln w="15875">
            <a:solidFill>
              <a:srgbClr val="BFBFBF"/>
            </a:solidFill>
          </a:ln>
        </p:spPr>
      </p:cxnSp>
      <p:sp>
        <p:nvSpPr>
          <p:cNvPr id="13" name="Oval 12"/>
          <p:cNvSpPr/>
          <p:nvPr/>
        </p:nvSpPr>
        <p:spPr>
          <a:xfrm>
            <a:off x="4270248" y="2852928"/>
            <a:ext cx="603504" cy="603504"/>
          </a:xfrm>
          <a:prstGeom prst="ellipse">
            <a:avLst/>
          </a:prstGeom>
          <a:solidFill>
            <a:srgbClr val="DBE8F5"/>
          </a:solidFill>
          <a:ln w="1905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4" name="Picture 13" descr=""/>
          <p:cNvPicPr>
            <a:picLocks noChangeAspect="1"/>
          </p:cNvPicPr>
          <p:nvPr/>
        </p:nvPicPr>
        <p:blipFill>
          <a:blip r:embed="rId2"/>
          <a:stretch>
            <a:fillRect/>
          </a:stretch>
        </p:blipFill>
        <p:spPr>
          <a:xfrm>
            <a:off x="4403018" y="2985698"/>
            <a:ext cx="337962" cy="337962"/>
          </a:xfrm>
          <a:prstGeom prst="rect">
            <a:avLst/>
          </a:prstGeom>
        </p:spPr>
      </p:pic>
      <p:sp>
        <p:nvSpPr>
          <p:cNvPr id="15" name="TextBox 14"/>
          <p:cNvSpPr txBox="1"/>
          <p:nvPr/>
        </p:nvSpPr>
        <p:spPr>
          <a:xfrm>
            <a:off x="4919472" y="2990088"/>
            <a:ext cx="1097280" cy="329184"/>
          </a:xfrm>
          <a:prstGeom prst="rect">
            <a:avLst/>
          </a:prstGeom>
          <a:noFill/>
        </p:spPr>
        <p:txBody>
          <a:bodyPr wrap="square" lIns="45720" tIns="27432" rIns="45720" bIns="27432" anchor="ctr">
            <a:noAutofit/>
          </a:bodyPr>
          <a:lstStyle/>
          <a:p>
            <a:pPr algn="l"/>
            <a:r>
              <a:rPr sz="1200" b="1" i="0">
                <a:solidFill>
                  <a:srgbClr val="34507A"/>
                </a:solidFill>
                <a:latin typeface="Times New Roman"/>
              </a:rPr>
              <a:t>ML</a:t>
            </a:r>
          </a:p>
        </p:txBody>
      </p:sp>
      <p:sp>
        <p:nvSpPr>
          <p:cNvPr id="16" name="Oval 15"/>
          <p:cNvSpPr/>
          <p:nvPr/>
        </p:nvSpPr>
        <p:spPr>
          <a:xfrm>
            <a:off x="5313823" y="3611129"/>
            <a:ext cx="603504" cy="603504"/>
          </a:xfrm>
          <a:prstGeom prst="ellipse">
            <a:avLst/>
          </a:prstGeom>
          <a:solidFill>
            <a:srgbClr val="E1F0DC"/>
          </a:solidFill>
          <a:ln w="19050">
            <a:solidFill>
              <a:srgbClr val="3F7A3C"/>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17" name="Picture 16" descr=""/>
          <p:cNvPicPr>
            <a:picLocks noChangeAspect="1"/>
          </p:cNvPicPr>
          <p:nvPr/>
        </p:nvPicPr>
        <p:blipFill>
          <a:blip r:embed="rId3"/>
          <a:stretch>
            <a:fillRect/>
          </a:stretch>
        </p:blipFill>
        <p:spPr>
          <a:xfrm>
            <a:off x="5446594" y="3743900"/>
            <a:ext cx="337962" cy="337962"/>
          </a:xfrm>
          <a:prstGeom prst="rect">
            <a:avLst/>
          </a:prstGeom>
        </p:spPr>
      </p:pic>
      <p:sp>
        <p:nvSpPr>
          <p:cNvPr id="18" name="TextBox 17"/>
          <p:cNvSpPr txBox="1"/>
          <p:nvPr/>
        </p:nvSpPr>
        <p:spPr>
          <a:xfrm>
            <a:off x="5963047" y="3748289"/>
            <a:ext cx="1097280" cy="329184"/>
          </a:xfrm>
          <a:prstGeom prst="rect">
            <a:avLst/>
          </a:prstGeom>
          <a:noFill/>
        </p:spPr>
        <p:txBody>
          <a:bodyPr wrap="square" lIns="45720" tIns="27432" rIns="45720" bIns="27432" anchor="ctr">
            <a:noAutofit/>
          </a:bodyPr>
          <a:lstStyle/>
          <a:p>
            <a:pPr algn="l"/>
            <a:r>
              <a:rPr sz="1200" b="1" i="0">
                <a:solidFill>
                  <a:srgbClr val="3F7A3C"/>
                </a:solidFill>
                <a:latin typeface="Times New Roman"/>
              </a:rPr>
              <a:t>Rules</a:t>
            </a:r>
          </a:p>
        </p:txBody>
      </p:sp>
      <p:sp>
        <p:nvSpPr>
          <p:cNvPr id="19" name="Oval 18"/>
          <p:cNvSpPr/>
          <p:nvPr/>
        </p:nvSpPr>
        <p:spPr>
          <a:xfrm>
            <a:off x="4915213" y="4837926"/>
            <a:ext cx="603504" cy="603504"/>
          </a:xfrm>
          <a:prstGeom prst="ellipse">
            <a:avLst/>
          </a:prstGeom>
          <a:solidFill>
            <a:srgbClr val="F7DCDC"/>
          </a:solidFill>
          <a:ln w="19050">
            <a:solidFill>
              <a:srgbClr val="B04848"/>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0" name="Picture 19" descr=""/>
          <p:cNvPicPr>
            <a:picLocks noChangeAspect="1"/>
          </p:cNvPicPr>
          <p:nvPr/>
        </p:nvPicPr>
        <p:blipFill>
          <a:blip r:embed="rId4"/>
          <a:stretch>
            <a:fillRect/>
          </a:stretch>
        </p:blipFill>
        <p:spPr>
          <a:xfrm>
            <a:off x="5047983" y="4970697"/>
            <a:ext cx="337962" cy="337962"/>
          </a:xfrm>
          <a:prstGeom prst="rect">
            <a:avLst/>
          </a:prstGeom>
        </p:spPr>
      </p:pic>
      <p:sp>
        <p:nvSpPr>
          <p:cNvPr id="21" name="TextBox 20"/>
          <p:cNvSpPr txBox="1"/>
          <p:nvPr/>
        </p:nvSpPr>
        <p:spPr>
          <a:xfrm>
            <a:off x="5564437" y="4975086"/>
            <a:ext cx="1097280" cy="329184"/>
          </a:xfrm>
          <a:prstGeom prst="rect">
            <a:avLst/>
          </a:prstGeom>
          <a:noFill/>
        </p:spPr>
        <p:txBody>
          <a:bodyPr wrap="square" lIns="45720" tIns="27432" rIns="45720" bIns="27432" anchor="ctr">
            <a:noAutofit/>
          </a:bodyPr>
          <a:lstStyle/>
          <a:p>
            <a:pPr algn="l"/>
            <a:r>
              <a:rPr sz="1200" b="1" i="0">
                <a:solidFill>
                  <a:srgbClr val="B04848"/>
                </a:solidFill>
                <a:latin typeface="Times New Roman"/>
              </a:rPr>
              <a:t>Retrieval</a:t>
            </a:r>
          </a:p>
        </p:txBody>
      </p:sp>
      <p:sp>
        <p:nvSpPr>
          <p:cNvPr id="22" name="Oval 21"/>
          <p:cNvSpPr/>
          <p:nvPr/>
        </p:nvSpPr>
        <p:spPr>
          <a:xfrm>
            <a:off x="3625282" y="4837926"/>
            <a:ext cx="603504" cy="603504"/>
          </a:xfrm>
          <a:prstGeom prst="ellipse">
            <a:avLst/>
          </a:prstGeom>
          <a:solidFill>
            <a:srgbClr val="DBE8F5"/>
          </a:solidFill>
          <a:ln w="19050">
            <a:solidFill>
              <a:srgbClr val="34507A"/>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3" name="Picture 22" descr=""/>
          <p:cNvPicPr>
            <a:picLocks noChangeAspect="1"/>
          </p:cNvPicPr>
          <p:nvPr/>
        </p:nvPicPr>
        <p:blipFill>
          <a:blip r:embed="rId5"/>
          <a:stretch>
            <a:fillRect/>
          </a:stretch>
        </p:blipFill>
        <p:spPr>
          <a:xfrm>
            <a:off x="3758053" y="4970697"/>
            <a:ext cx="337962" cy="337962"/>
          </a:xfrm>
          <a:prstGeom prst="rect">
            <a:avLst/>
          </a:prstGeom>
        </p:spPr>
      </p:pic>
      <p:sp>
        <p:nvSpPr>
          <p:cNvPr id="24" name="TextBox 23"/>
          <p:cNvSpPr txBox="1"/>
          <p:nvPr/>
        </p:nvSpPr>
        <p:spPr>
          <a:xfrm>
            <a:off x="2482282" y="4975086"/>
            <a:ext cx="1097280" cy="329184"/>
          </a:xfrm>
          <a:prstGeom prst="rect">
            <a:avLst/>
          </a:prstGeom>
          <a:noFill/>
        </p:spPr>
        <p:txBody>
          <a:bodyPr wrap="square" lIns="45720" tIns="27432" rIns="45720" bIns="27432" anchor="ctr">
            <a:noAutofit/>
          </a:bodyPr>
          <a:lstStyle/>
          <a:p>
            <a:pPr algn="r"/>
            <a:r>
              <a:rPr sz="1200" b="1" i="0">
                <a:solidFill>
                  <a:srgbClr val="34507A"/>
                </a:solidFill>
                <a:latin typeface="Times New Roman"/>
              </a:rPr>
              <a:t>Context</a:t>
            </a:r>
          </a:p>
        </p:txBody>
      </p:sp>
      <p:sp>
        <p:nvSpPr>
          <p:cNvPr id="25" name="Oval 24"/>
          <p:cNvSpPr/>
          <p:nvPr/>
        </p:nvSpPr>
        <p:spPr>
          <a:xfrm>
            <a:off x="3226672" y="3611129"/>
            <a:ext cx="603504" cy="603504"/>
          </a:xfrm>
          <a:prstGeom prst="ellipse">
            <a:avLst/>
          </a:prstGeom>
          <a:solidFill>
            <a:srgbClr val="E5DEF6"/>
          </a:solidFill>
          <a:ln w="19050">
            <a:solidFill>
              <a:srgbClr val="4E4775"/>
            </a:solid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6" name="Picture 25" descr=""/>
          <p:cNvPicPr>
            <a:picLocks noChangeAspect="1"/>
          </p:cNvPicPr>
          <p:nvPr/>
        </p:nvPicPr>
        <p:blipFill>
          <a:blip r:embed="rId6"/>
          <a:stretch>
            <a:fillRect/>
          </a:stretch>
        </p:blipFill>
        <p:spPr>
          <a:xfrm>
            <a:off x="3359443" y="3743900"/>
            <a:ext cx="337962" cy="337962"/>
          </a:xfrm>
          <a:prstGeom prst="rect">
            <a:avLst/>
          </a:prstGeom>
        </p:spPr>
      </p:pic>
      <p:sp>
        <p:nvSpPr>
          <p:cNvPr id="27" name="TextBox 26"/>
          <p:cNvSpPr txBox="1"/>
          <p:nvPr/>
        </p:nvSpPr>
        <p:spPr>
          <a:xfrm>
            <a:off x="2083672" y="3748289"/>
            <a:ext cx="1097280" cy="329184"/>
          </a:xfrm>
          <a:prstGeom prst="rect">
            <a:avLst/>
          </a:prstGeom>
          <a:noFill/>
        </p:spPr>
        <p:txBody>
          <a:bodyPr wrap="square" lIns="45720" tIns="27432" rIns="45720" bIns="27432" anchor="ctr">
            <a:noAutofit/>
          </a:bodyPr>
          <a:lstStyle/>
          <a:p>
            <a:pPr algn="r"/>
            <a:r>
              <a:rPr sz="1200" b="1" i="0">
                <a:solidFill>
                  <a:srgbClr val="4E4775"/>
                </a:solidFill>
                <a:latin typeface="Times New Roman"/>
              </a:rPr>
              <a:t>Fusion</a:t>
            </a:r>
          </a:p>
        </p:txBody>
      </p:sp>
      <p:sp>
        <p:nvSpPr>
          <p:cNvPr id="28" name="Oval 27"/>
          <p:cNvSpPr/>
          <p:nvPr/>
        </p:nvSpPr>
        <p:spPr>
          <a:xfrm>
            <a:off x="4114800" y="3794760"/>
            <a:ext cx="914400" cy="914400"/>
          </a:xfrm>
          <a:prstGeom prst="ellipse">
            <a:avLst/>
          </a:prstGeom>
          <a:solidFill>
            <a:srgbClr val="8B0000"/>
          </a:solidFill>
          <a:ln>
            <a:noFill/>
          </a:ln>
        </p:spPr>
        <p:txBody>
          <a:bodyPr rtlCol="0" anchor="t" wrap="square" lIns="45720" tIns="27432" rIns="45720" bIns="27432">
            <a:noAutofit/>
          </a:bodyPr>
          <a:lstStyle/>
          <a:p>
            <a:pPr algn="l"/>
            <a:r>
              <a:rPr sz="1200" b="0" i="0">
                <a:solidFill>
                  <a:srgbClr val="1F1F1F"/>
                </a:solidFill>
                <a:latin typeface="Times New Roman"/>
              </a:rPr>
              <a:t/>
            </a:r>
          </a:p>
        </p:txBody>
      </p:sp>
      <p:pic>
        <p:nvPicPr>
          <p:cNvPr id="29" name="Picture 28" descr=""/>
          <p:cNvPicPr>
            <a:picLocks noChangeAspect="1"/>
          </p:cNvPicPr>
          <p:nvPr/>
        </p:nvPicPr>
        <p:blipFill>
          <a:blip r:embed="rId7"/>
          <a:stretch>
            <a:fillRect/>
          </a:stretch>
        </p:blipFill>
        <p:spPr>
          <a:xfrm>
            <a:off x="4315968" y="3995928"/>
            <a:ext cx="512064" cy="512064"/>
          </a:xfrm>
          <a:prstGeom prst="rect">
            <a:avLst/>
          </a:prstGeom>
        </p:spPr>
      </p:pic>
      <p:sp>
        <p:nvSpPr>
          <p:cNvPr id="30" name="TextBox 29"/>
          <p:cNvSpPr txBox="1"/>
          <p:nvPr/>
        </p:nvSpPr>
        <p:spPr>
          <a:xfrm>
            <a:off x="2286000" y="5559552"/>
            <a:ext cx="4572000" cy="365760"/>
          </a:xfrm>
          <a:prstGeom prst="rect">
            <a:avLst/>
          </a:prstGeom>
          <a:noFill/>
        </p:spPr>
        <p:txBody>
          <a:bodyPr wrap="square" lIns="45720" tIns="27432" rIns="45720" bIns="27432" anchor="ctr">
            <a:noAutofit/>
          </a:bodyPr>
          <a:lstStyle/>
          <a:p>
            <a:pPr algn="ctr"/>
            <a:r>
              <a:rPr sz="1300" b="0" i="1">
                <a:solidFill>
                  <a:srgbClr val="8B0000"/>
                </a:solidFill>
                <a:latin typeface="Times New Roman"/>
              </a:rPr>
              <a:t>The clinician stays at the center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54</Words>
  <Application>Microsoft Office PowerPoint</Application>
  <PresentationFormat>On-screen Show (4:3)</PresentationFormat>
  <Paragraphs>53</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Slide 1</vt:lpstr>
      <vt:lpstr>Slide 2</vt:lpstr>
      <vt:lpstr>Slide 3</vt:lpstr>
      <vt:lpstr>Slide 4</vt:lpstr>
      <vt:lpstr>Slide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24</cp:revision>
  <dcterms:created xsi:type="dcterms:W3CDTF">2024-10-21T07:16:24Z</dcterms:created>
  <dcterms:modified xsi:type="dcterms:W3CDTF">2025-10-28T09:55:59Z</dcterms:modified>
</cp:coreProperties>
</file>