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7bbe50d0-7970-1df8-c8fe-78d43abd1be3}">
          <p14:sldIdLst>
            <p14:sldId id="256"/>
            <p14:sldId id="257"/>
          </p14:sldIdLst>
        </p14:section>
        <p14:section name="Background" id="{f5da71f9-00ff-1c3b-3043-468992e36001}">
          <p14:sldIdLst>
            <p14:sldId id="258"/>
            <p14:sldId id="259"/>
            <p14:sldId id="260"/>
            <p14:sldId id="261"/>
          </p14:sldIdLst>
        </p14:section>
        <p14:section name="Proposed System" id="{51be1867-bf2a-91b3-fb49-16d3380086b6}">
          <p14:sldIdLst>
            <p14:sldId id="262"/>
            <p14:sldId id="263"/>
            <p14:sldId id="264"/>
            <p14:sldId id="265"/>
          </p14:sldIdLst>
        </p14:section>
        <p14:section name="Design and Plan" id="{c8efa8b9-7970-8a65-4abb-33af5feee6f9}">
          <p14:sldIdLst>
            <p14:sldId id="266"/>
            <p14:sldId id="267"/>
            <p14:sldId id="268"/>
          </p14:sldIdLst>
        </p14:section>
        <p14:section name="Closing" id="{5a3bbd98-9706-febb-8e19-8ed0ad1f8c0b}">
          <p14:sldIdLst>
            <p14:sldId id="269"/>
            <p14:sldId id="270"/>
            <p14:sldId id="27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respected Head of Department, faculty members and friends. We are Siddhesh Suryawanshi, Shantanu Patil, Omkar Musale and Tanmay Bagul, and our BE project is MedIntel, a multi-agent AI framework for clinical decision support, guided by Prof. G. P. Mohole.
In this Project Stage I presentation we explain the problem we are solving, what existing work does and misses, the architecture we have designed, and how we will build and test it in Stage II next semester.
The diagram on the right is the idea in one picture: several specialized agents, one each for machine learning, rules, retrieval, context and fusion, all working around the clinician, who keeps the final decision.
One point to keep in mind throughout: this stage is analysis and design, so every number you see today is a target for Stage II, not a measured result.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flow of our talk.
We begin with the background and motivation, then state the problem and our objectives. Next we summarize the literature survey and the research gap it reveals.
The two items in red are the core of the project: the proposed architecture, and the agents together with the decision-fusion step that turns their outputs into one recommendation with a confidence score.
After that we show the system design through a data flow diagram and a use case diagram, then the technology stack and the evaluation plan for Stage II. We close with our conclusions and future scope, and then we will be happy to take your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Clinical decision support systems help doctors interpret patient data, for example by raising alerts, estimating risk or suggesting next steps. Large language models have made these systems far more capable, but published reviews keep reporting the same weaknesses: calibration, validation and transparency.
In practice we see three problems, shown on the right. First, hospital data is messy: a single record can have missing fields, mixed units, repeated observations and free-text notes. Second, when one generative model reads everything and writes the answer, nobody can see which evidence led to the recommendation. Third, a clinician has to be able to check a recommendation before acting on it.
That is our motivation: every recommendation should carry its own record, meaning the model output, the rules that fired, the sources used and the versions in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the left is our problem statement. We want an implementable, modular pipeline that accepts imperfect patient data, keeps learned, rule-based and retrieved evidence separate, combines that evidence through an explicit confidence function and gives the clinician a traceable report, while processing many patients in parallel without mixing their data.
On the right are our five objectives. The first two belong to Stage I and are complete: the modular architecture, in which each agent has a defined output contract, and the traceable reporting design, in which each report links back to its features, rules and sources.
The other three belong to Stage II: building the parallel prototype, running a staged evaluation with baselines, ablation and calibration checks, and adding the clinician review loop, so that only validated outcomes are allowed back into the knowledge store.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reviewed twelve recent works; this table shows the six closest to our project.
The adaptive multi-agent system by Öğdü and colleagues is our first base paper. It combines specialist agents with biomedical retrieval and web evidence, but with so many reasoning components it becomes hard to tell which one produced a recommendation. MedAgents, our second base paper, lets role-based language-model agents discuss a question and agree, but the whole analysis stays inside language models.
ClinicalRAG and KG4Diagnosis improve grounding through heterogeneous retrieval and a medical knowledge graph. Abdullahi and colleagues show that combining retrieval with prediction helps diagnostic ranking. MACD shows the potential of self-learned knowledge, but also makes its governance problem visible.
Each work is valuable, and each leaves part of our problem open. The complete comparison of all twelve works is in Table 2.2 of our report.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Putting the survey together, we found three gaps.
First, outputs are not traceable: single models and chains of language-model agents do not link a recommendation to the specific feature, rule or source behind it. Second, there is no common interface: tabular machine learning, deterministic rules, retrieval and language-model synthesis do not meet at one patient-level interface. Third, evaluation is incomplete: a multi-component system must show what each component adds and whether its confidence is calibrated, which one benchmark accuracy cannot show.
The figure compares three design styles. A single-model system is one opaque step. A retrieval-based system grounds its answer in sources but applies no deterministic checks. MedIntel follows the third style: each kind of evidence is produced separately and fused explicitly, and a clinician reviews the result.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MedIntel architecture.
Patient data arrives as CSV files, records or event logs and is first validated: data types, missing fields, duplicates, units and identifiers are all checked before a case is built.
Each valid case then goes to the analysis agents. The Machine Learning Analyzer finds learned patterns in the structured features. Rule-Based Validation applies explicit clinical thresholds and policies. Knowledge Retrieval brings supporting evidence from approved guidelines and articles. The Clinical Context Agent uses a language model to reconcile these outputs and to report any conflict between them.
Decision Fusion and Confidence Assessment combines all of this into one recommendation with a confidence score. The result is a structured recommendation with its explanation and audit trail, and it always goes to a clinician for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component has one job and one output contract, and this is what makes the system auditable.
The ML Analysis Agent returns a prediction with class probabilities, feature importance and the model version. The Rule Validation Agent applies a versioned JSON rulebase and returns the triggered rules, the action taken and the reason. The Knowledge Retrieval Agent returns passages with source identifiers and similarity scores, or states that nothing relevant was found.
The Clinical Context Agent is the only place where a language model reasons over the case. It summarizes the evidence, names conflicts and lists any statement the evidence does not support. The Decision Fusion Engine computes the decision, the confidence and the disagreement, and the Explanation and Audit layer turns everything into a readable report and an audit record.
Because every output is typed, any one agent can be replaced without redesigning the others.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Fusion is an explicit equation, not a hidden judgment.
M is the machine-learning support, the probability of the class the model predicts. R is rule consistency: it is one, unless an elevating or suppressing rule contradicts the prediction, in which case it is zero. K is retrieval support, the average similarity of the retrieved passages, and zero when nothing relevant is found. D is disagreement: the number of conflicts the context agent reports, divided by three and capped at one.
So confidence rises when the evidence agrees and falls when the sources conflict.
Three rules complete the design, shown at the bottom. The weights alpha, beta, gamma and lambda will be tuned only on a separate validation split. A triggered rule always takes precedence over the learned prediction. And if C falls below the threshold, the case is reported as uncertain and flagged for the clinician.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MedIntel is designed to analyze a batch of patients at once.
The batch scheduler gives every patient an isolated lane, so no data, rule result or retrieved evidence from one patient can reach another patient's report. Within each case the machine-learning, rule and retrieval agents run concurrently, because rule evaluation reads only the case data, while synthesis and fusion wait until all of that case's evidence has arrived.
Validated outcomes flow back into the knowledge store, but not automatically. The store can change through one method only, after clinician review and approval by the Knowledge Curator. This matters because an automatic loop could turn one wrong recommendation into a permanent source of future errors. Each approved change also creates a new index or rulebase version, so an older report can still be reproduced against the knowledge it actually used.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two diagrams summarize the system design from Chapter 4 of our report.
The Level 0 data flow diagram on the left treats MedIntel as a single process with five external entities. The Data Administrator supplies patient records and receives validation errors. The Clinician uploads or selects cases, receives decision reports with their evidence, and returns review decisions. The Knowledge Curator supplies rules and approved knowledge. The System Administrator sets the model configuration and fusion weights and reads the audit logs. The LLM Service receives structured evidence prompts and returns synthesized summaries.
The use case diagram on the right shows the same actors from the user's side. Run Case Analysis includes ML analysis, rule validation, knowledge retrieval, context synthesis and decision fusion.
Our report also contains the Level 1 data flow diagram, the class diagram and two sequence diagrams.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chose a Python 3.11 stack against three criteria: every component's output must be inspectable, patient data must be able to stay on site, and every run must be reproducible.
pandas and pydantic load and validate the input, and the rules live in a JSON file that the Knowledge Curator can edit. scikit-learn and XGBoost provide the classifiers. sentence-transformers embeddings in a local FAISS index provide retrieval. The language model sits behind a configurable endpoint, either a hosted API or a local model served with Ollama, so case content can stay inside the institution when required.
FastAPI serves the backend, Streamlit provides the clinician dashboard, SQLite or PostgreSQL stores the audit log, and pytest drives the tests.
On the right are the requirements: a machine with 8 GB of RAM is enough for development, 16 GB is recommended, and a GPU is needed only for a local language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Stage II evaluation answers two questions: does each component add measurable value, and does the complete system stay reliable?
We will compare four conditions of increasing richness on the same data split: the ML model alone, then with the rules, then with retrieval, and finally the full fusion pipeline. An ablation study will then remove one component at a time, to check that the system does not depend too heavily on any single agent.
Beyond accuracy, precision, recall, F1 and ROC-AUC, we will measure calibration error, evidence precision at five, disagreement rate, latency and per-case cost.
The numbers at the bottom are design targets, not results: one case processed end to end within 30 seconds, the ML and rule stages each under one second, and every report containing all its mandatory fields. Twelve test cases are already planned.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 Stage I has produced a complete design. On the left: the requirement specification with nine functional and seven non-functional requirements; the architecture with explicit agent output contracts; the data flow and UML diagrams; reference logic for each module; and a twelve-case test plan. We have also written a research paper on this design and submitted it to the International Journal of Artificial Intelligence, Computational Management and Engineering Systems in October 2026.
On the right is our future scope. In Stage II we will build and evaluate the prototype. After that, MedIntel could connect to hospital systems through EHR exports and HL7 FHIR with proper access control, add ontologies, knowledge graphs and specialized medical models, follow patients across repeated visits, and be validated across institutions.
Throughout, the principle stays the same: every recommendation traceable to its evidence, and the final decision always with the clinician.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main references behind our work.
References one and two are our base papers: the adaptive multi-agent clinical decision support system by Öğdü and colleagues, and MedAgents by Tang and colleagues. The others cover retrieval-augmented clinical systems, knowledge-graph agents, systematic and scoping reviews of language models in medicine, and self-learned clinical knowledge.
The complete reference list, with DOIs, is in our report.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for your attention. We would be happy to answer your questions.
We would especially welcome suggestions on the choice of dataset and clinical task for Stage II, since that decision will shape our model, our rules and our evaluation.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edIntel Title">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645920"/>
            <a:ext cx="7040880" cy="960120"/>
          </a:xfrm>
          <a:prstGeom prst="rect">
            <a:avLst/>
          </a:prstGeom>
          <a:noFill/>
          <a:ln/>
        </p:spPr>
        <p:txBody>
          <a:bodyPr wrap="square" rtlCol="0"/>
          <a:lstStyle>
            <a:lvl1pPr algn="l" indent="0" marL="0">
              <a:buNone/>
              <a:defRPr lang="en-US" sz="6000" b="1" dirty="0">
                <a:solidFill>
                  <a:schemeClr val="bg1"/>
                </a:solidFill>
                <a:latin typeface="+mj-lt" pitchFamily="34" charset="0"/>
                <a:ea typeface="+mj-lt" pitchFamily="34" charset="-122"/>
                <a:cs typeface="+mj-lt" pitchFamily="34" charset="-120"/>
              </a:defRPr>
            </a:lvl1pPr>
          </a:lstStyle>
          <a:p>
            <a:pPr algn="l" indent="0" marL="0">
              <a:buNone/>
            </a:pPr>
            <a:endParaRPr lang="en-US" sz="6000" dirty="0"/>
          </a:p>
        </p:txBody>
      </p:sp>
      <p:sp>
        <p:nvSpPr>
          <p:cNvPr id="3" name="Text 0"/>
          <p:cNvSpPr/>
          <p:nvPr>
            <p:ph idx="101" type="body" hasCustomPrompt="1"/>
          </p:nvPr>
        </p:nvSpPr>
        <p:spPr>
          <a:xfrm>
            <a:off x="548640" y="2697480"/>
            <a:ext cx="7040880" cy="960120"/>
          </a:xfrm>
          <a:prstGeom prst="rect">
            <a:avLst/>
          </a:prstGeom>
          <a:noFill/>
          <a:ln/>
        </p:spPr>
        <p:txBody>
          <a:bodyPr wrap="square" rtlCol="0"/>
          <a:lstStyle>
            <a:lvl1pPr algn="l" indent="0" marL="0">
              <a:buNone/>
              <a:defRPr lang="en-US" sz="2600" dirty="0">
                <a:solidFill>
                  <a:schemeClr val="bg2"/>
                </a:solidFill>
              </a:defRPr>
            </a:lvl1pPr>
          </a:lstStyle>
          <a:p>
            <a:pPr algn="l" indent="0" marL="0">
              <a:buNone/>
            </a:pPr>
            <a:endParaRPr lang="en-US" sz="2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MedIntel 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94415" cy="777240"/>
          </a:xfrm>
          <a:prstGeom prst="rect">
            <a:avLst/>
          </a:prstGeom>
          <a:noFill/>
          <a:ln/>
        </p:spPr>
        <p:txBody>
          <a:bodyPr wrap="square" rtlCol="0"/>
          <a:lstStyle>
            <a:lvl1pPr algn="l" indent="0" marL="0">
              <a:buNone/>
              <a:defRPr lang="en-US" sz="3400" b="1" dirty="0">
                <a:solidFill>
                  <a:schemeClr val="tx2"/>
                </a:solidFill>
                <a:latin typeface="+mj-lt" pitchFamily="34" charset="0"/>
                <a:ea typeface="+mj-lt" pitchFamily="34" charset="-122"/>
                <a:cs typeface="+mj-lt" pitchFamily="34" charset="-120"/>
              </a:defRPr>
            </a:lvl1pPr>
          </a:lstStyle>
          <a:p>
            <a:pPr algn="l" indent="0" marL="0">
              <a:buNone/>
            </a:pPr>
            <a:endParaRPr lang="en-US" sz="3400" dirty="0"/>
          </a:p>
        </p:txBody>
      </p:sp>
      <p:pic>
        <p:nvPicPr>
          <p:cNvPr id="3" name="Image 0" descr="/Users/jayeshsuryavanshi/Downloads/MedIntel_Report/.build/report/assets/logo.png">    </p:cNvPr>
          <p:cNvPicPr>
            <a:picLocks noChangeAspect="1"/>
          </p:cNvPicPr>
          <p:nvPr/>
        </p:nvPicPr>
        <p:blipFill>
          <a:blip r:embed="rId1"/>
          <a:stretch>
            <a:fillRect/>
          </a:stretch>
        </p:blipFill>
        <p:spPr>
          <a:xfrm>
            <a:off x="548640" y="6382512"/>
            <a:ext cx="1891862" cy="274320"/>
          </a:xfrm>
          <a:prstGeom prst="rect">
            <a:avLst/>
          </a:prstGeom>
        </p:spPr>
      </p:pic>
      <p:sp>
        <p:nvSpPr>
          <p:cNvPr id="4" name="Text 0"/>
          <p:cNvSpPr/>
          <p:nvPr/>
        </p:nvSpPr>
        <p:spPr>
          <a:xfrm>
            <a:off x="6126480" y="6382512"/>
            <a:ext cx="4983480" cy="274320"/>
          </a:xfrm>
          <a:prstGeom prst="rect">
            <a:avLst/>
          </a:prstGeom>
          <a:noFill/>
          <a:ln/>
        </p:spPr>
        <p:txBody>
          <a:bodyPr wrap="square" lIns="0" tIns="0" rIns="0" bIns="0" rtlCol="0" anchor="ctr"/>
          <a:lstStyle/>
          <a:p>
            <a:pPr algn="r" indent="0" marL="0">
              <a:buNone/>
            </a:pPr>
            <a:r>
              <a:rPr lang="en-US" sz="1000" dirty="0">
                <a:solidFill>
                  <a:srgbClr val="5E6E73"/>
                </a:solidFill>
              </a:rPr>
              <a:t>MedIntel  |  BE Project Stage I  |  AY 2026-27</a:t>
            </a:r>
            <a:endParaRPr lang="en-US" sz="1000" dirty="0"/>
          </a:p>
        </p:txBody>
      </p:sp>
      <p:sp>
        <p:nvSpPr>
          <p:cNvPr id="25" name="Slide Number Placeholder 0"/>
          <p:cNvSpPr>
            <a:spLocks noGrp="1"/>
          </p:cNvSpPr>
          <p:nvPr>
            <p:ph type="sldNum" sz="quarter" idx="4294967295"/>
          </p:nvPr>
        </p:nvSpPr>
        <p:spPr>
          <a:xfrm>
            <a:off x="11201400" y="6382512"/>
            <a:ext cx="438912" cy="27432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E6E73"/>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01400" y="6382512"/>
            <a:ext cx="438912" cy="27432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E6E73"/>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l"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1-7.png"/><Relationship Id="rId8" Type="http://schemas.openxmlformats.org/officeDocument/2006/relationships/slideLayout" Target="../slideLayouts/slideLayout2.xml"/><Relationship Id="rId9"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3.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slideLayout" Target="../slideLayouts/slideLayout3.xml"/><Relationship Id="rId9"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3.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slideLayout" Target="../slideLayouts/slideLayout3.xml"/><Relationship Id="rId8"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3.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3.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3.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image" Target="../media/image-12-7.png"/><Relationship Id="rId8" Type="http://schemas.openxmlformats.org/officeDocument/2006/relationships/slideLayout" Target="../slideLayouts/slideLayout3.xml"/><Relationship Id="rId9"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image" Target="../media/image-14-7.png"/><Relationship Id="rId8" Type="http://schemas.openxmlformats.org/officeDocument/2006/relationships/image" Target="../media/image-14-8.png"/><Relationship Id="rId9" Type="http://schemas.openxmlformats.org/officeDocument/2006/relationships/image" Target="../media/image-14-9.png"/><Relationship Id="rId10" Type="http://schemas.openxmlformats.org/officeDocument/2006/relationships/image" Target="../media/image-14-10.png"/><Relationship Id="rId11" Type="http://schemas.openxmlformats.org/officeDocument/2006/relationships/image" Target="../media/image-14-11.png"/><Relationship Id="rId12" Type="http://schemas.openxmlformats.org/officeDocument/2006/relationships/image" Target="../media/image-14-12.png"/><Relationship Id="rId13" Type="http://schemas.openxmlformats.org/officeDocument/2006/relationships/slideLayout" Target="../slideLayouts/slideLayout3.xml"/><Relationship Id="rId1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image" Target="../media/image-16-6.png"/><Relationship Id="rId7" Type="http://schemas.openxmlformats.org/officeDocument/2006/relationships/image" Target="../media/image-16-7.png"/><Relationship Id="rId8" Type="http://schemas.openxmlformats.org/officeDocument/2006/relationships/slideLayout" Target="../slideLayouts/slideLayout2.xml"/><Relationship Id="rId9"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logo card"/>
          <p:cNvSpPr/>
          <p:nvPr/>
        </p:nvSpPr>
        <p:spPr>
          <a:xfrm>
            <a:off x="548640" y="457200"/>
            <a:ext cx="4572000" cy="896112"/>
          </a:xfrm>
          <a:prstGeom prst="roundRect">
            <a:avLst>
              <a:gd name="adj" fmla="val 10204"/>
            </a:avLst>
          </a:prstGeom>
          <a:solidFill>
            <a:schemeClr val="bg1"/>
          </a:solidFill>
          <a:ln/>
        </p:spPr>
      </p:sp>
      <p:pic>
        <p:nvPicPr>
          <p:cNvPr id="3" name="JIT logo" descr="JIT Nashik logo">    </p:cNvPr>
          <p:cNvPicPr>
            <a:picLocks noChangeAspect="1"/>
          </p:cNvPicPr>
          <p:nvPr/>
        </p:nvPicPr>
        <p:blipFill>
          <a:blip r:embed="rId1"/>
          <a:stretch>
            <a:fillRect/>
          </a:stretch>
        </p:blipFill>
        <p:spPr>
          <a:xfrm>
            <a:off x="704088" y="596326"/>
            <a:ext cx="4261104" cy="617860"/>
          </a:xfrm>
          <a:prstGeom prst="rect">
            <a:avLst/>
          </a:prstGeom>
        </p:spPr>
      </p:pic>
      <p:sp>
        <p:nvSpPr>
          <p:cNvPr id="4" name="Text 0"/>
          <p:cNvSpPr/>
          <p:nvPr>
            <p:ph idx="100" type="title" hasCustomPrompt="1"/>
          </p:nvPr>
        </p:nvSpPr>
        <p:spPr>
          <a:xfrm>
            <a:off x="548640" y="1645920"/>
            <a:ext cx="7040880" cy="960120"/>
          </a:xfrm>
          <a:prstGeom prst="rect">
            <a:avLst/>
          </a:prstGeom>
          <a:noFill/>
          <a:ln/>
        </p:spPr>
        <p:txBody>
          <a:bodyPr wrap="square" lIns="0" tIns="0" rIns="0" bIns="0" rtlCol="0" anchor="b"/>
          <a:lstStyle/>
          <a:p>
            <a:pPr algn="l" indent="0" marL="0">
              <a:buNone/>
            </a:pPr>
            <a:r>
              <a:rPr lang="en-US" sz="6000" b="1" dirty="0">
                <a:solidFill>
                  <a:schemeClr val="bg1"/>
                </a:solidFill>
                <a:latin typeface="+mj-lt" pitchFamily="34" charset="0"/>
                <a:ea typeface="+mj-lt" pitchFamily="34" charset="-122"/>
                <a:cs typeface="+mj-lt" pitchFamily="34" charset="-120"/>
              </a:rPr>
              <a:t>MedIntel</a:t>
            </a:r>
            <a:endParaRPr lang="en-US" sz="6000" dirty="0"/>
          </a:p>
        </p:txBody>
      </p:sp>
      <p:sp>
        <p:nvSpPr>
          <p:cNvPr id="5" name="Text 0"/>
          <p:cNvSpPr/>
          <p:nvPr>
            <p:ph idx="101" type="body" hasCustomPrompt="1"/>
          </p:nvPr>
        </p:nvSpPr>
        <p:spPr>
          <a:xfrm>
            <a:off x="548640" y="2697480"/>
            <a:ext cx="7040880" cy="960120"/>
          </a:xfrm>
          <a:prstGeom prst="rect">
            <a:avLst/>
          </a:prstGeom>
          <a:noFill/>
          <a:ln/>
        </p:spPr>
        <p:txBody>
          <a:bodyPr wrap="square" lIns="0" tIns="0" rIns="0" bIns="0" rtlCol="0" anchor="t"/>
          <a:lstStyle/>
          <a:p>
            <a:pPr algn="l" indent="0" marL="0">
              <a:buNone/>
            </a:pPr>
            <a:r>
              <a:rPr lang="en-US" sz="2600" dirty="0">
                <a:solidFill>
                  <a:schemeClr val="bg2"/>
                </a:solidFill>
              </a:rPr>
              <a:t>A Multi-Agent AI Framework for Clinical Decision Support</a:t>
            </a:r>
            <a:endParaRPr lang="en-US" sz="2600" dirty="0"/>
          </a:p>
        </p:txBody>
      </p:sp>
      <p:sp>
        <p:nvSpPr>
          <p:cNvPr id="6" name="programme line"/>
          <p:cNvSpPr txBox="1"/>
          <p:nvPr/>
        </p:nvSpPr>
        <p:spPr>
          <a:xfrm>
            <a:off x="548640" y="3767328"/>
            <a:ext cx="7040880" cy="320040"/>
          </a:xfrm>
          <a:prstGeom prst="rect">
            <a:avLst/>
          </a:prstGeom>
          <a:noFill/>
          <a:ln/>
        </p:spPr>
        <p:txBody>
          <a:bodyPr wrap="square" lIns="0" tIns="0" rIns="0" bIns="0" rtlCol="0" anchor="t"/>
          <a:lstStyle/>
          <a:p>
            <a:pPr indent="0" marL="0">
              <a:buNone/>
            </a:pPr>
            <a:r>
              <a:rPr lang="en-US" sz="1500" dirty="0">
                <a:solidFill>
                  <a:srgbClr val="A9D8D9"/>
                </a:solidFill>
              </a:rPr>
              <a:t>BE Computer Engineering  |  Project Stage I Presentation  |  AY 2026-27</a:t>
            </a:r>
            <a:endParaRPr lang="en-US" sz="1500" dirty="0"/>
          </a:p>
        </p:txBody>
      </p:sp>
      <p:sp>
        <p:nvSpPr>
          <p:cNvPr id="7" name="presented by label"/>
          <p:cNvSpPr txBox="1"/>
          <p:nvPr/>
        </p:nvSpPr>
        <p:spPr>
          <a:xfrm>
            <a:off x="548640" y="4370832"/>
            <a:ext cx="3200400" cy="256032"/>
          </a:xfrm>
          <a:prstGeom prst="rect">
            <a:avLst/>
          </a:prstGeom>
          <a:noFill/>
          <a:ln/>
        </p:spPr>
        <p:txBody>
          <a:bodyPr wrap="square" lIns="0" tIns="0" rIns="0" bIns="0" rtlCol="0" anchor="t"/>
          <a:lstStyle/>
          <a:p>
            <a:pPr indent="0" marL="0">
              <a:buNone/>
            </a:pPr>
            <a:r>
              <a:rPr lang="en-US" sz="1200" b="1" spc="200" kern="0" dirty="0">
                <a:solidFill>
                  <a:srgbClr val="A9D8D9"/>
                </a:solidFill>
              </a:rPr>
              <a:t>PRESENTED BY</a:t>
            </a:r>
            <a:endParaRPr lang="en-US" sz="1200" dirty="0"/>
          </a:p>
        </p:txBody>
      </p:sp>
      <p:sp>
        <p:nvSpPr>
          <p:cNvPr id="8" name="team column 1"/>
          <p:cNvSpPr txBox="1"/>
          <p:nvPr/>
        </p:nvSpPr>
        <p:spPr>
          <a:xfrm>
            <a:off x="548640" y="4663440"/>
            <a:ext cx="3474720" cy="640080"/>
          </a:xfrm>
          <a:prstGeom prst="rect">
            <a:avLst/>
          </a:prstGeom>
          <a:noFill/>
          <a:ln/>
        </p:spPr>
        <p:txBody>
          <a:bodyPr wrap="square" lIns="0" tIns="0" rIns="0" bIns="0" rtlCol="0" anchor="t"/>
          <a:lstStyle/>
          <a:p>
            <a:pPr indent="0" marL="0">
              <a:spcAft>
                <a:spcPts val="400"/>
              </a:spcAft>
              <a:buNone/>
            </a:pPr>
            <a:r>
              <a:rPr lang="en-US" sz="1500" dirty="0">
                <a:solidFill>
                  <a:schemeClr val="bg1"/>
                </a:solidFill>
              </a:rPr>
              <a:t>Siddhesh Kishor Suryawanshi</a:t>
            </a:r>
            <a:endParaRPr lang="en-US" sz="1500" dirty="0"/>
          </a:p>
          <a:p>
            <a:pPr indent="0" marL="0">
              <a:spcAft>
                <a:spcPts val="400"/>
              </a:spcAft>
              <a:buNone/>
            </a:pPr>
            <a:r>
              <a:rPr lang="en-US" sz="1500" dirty="0">
                <a:solidFill>
                  <a:schemeClr val="bg1"/>
                </a:solidFill>
              </a:rPr>
              <a:t>Shantanu Avinash Patil</a:t>
            </a:r>
            <a:endParaRPr lang="en-US" sz="1500" dirty="0"/>
          </a:p>
        </p:txBody>
      </p:sp>
      <p:sp>
        <p:nvSpPr>
          <p:cNvPr id="9" name="team column 2"/>
          <p:cNvSpPr txBox="1"/>
          <p:nvPr/>
        </p:nvSpPr>
        <p:spPr>
          <a:xfrm>
            <a:off x="4160520" y="4663440"/>
            <a:ext cx="3429000" cy="640080"/>
          </a:xfrm>
          <a:prstGeom prst="rect">
            <a:avLst/>
          </a:prstGeom>
          <a:noFill/>
          <a:ln/>
        </p:spPr>
        <p:txBody>
          <a:bodyPr wrap="square" lIns="0" tIns="0" rIns="0" bIns="0" rtlCol="0" anchor="t"/>
          <a:lstStyle/>
          <a:p>
            <a:pPr indent="0" marL="0">
              <a:spcAft>
                <a:spcPts val="400"/>
              </a:spcAft>
              <a:buNone/>
            </a:pPr>
            <a:r>
              <a:rPr lang="en-US" sz="1500" dirty="0">
                <a:solidFill>
                  <a:schemeClr val="bg1"/>
                </a:solidFill>
              </a:rPr>
              <a:t>Omkar Abaji Musale</a:t>
            </a:r>
            <a:endParaRPr lang="en-US" sz="1500" dirty="0"/>
          </a:p>
          <a:p>
            <a:pPr indent="0" marL="0">
              <a:spcAft>
                <a:spcPts val="400"/>
              </a:spcAft>
              <a:buNone/>
            </a:pPr>
            <a:r>
              <a:rPr lang="en-US" sz="1500" dirty="0">
                <a:solidFill>
                  <a:schemeClr val="bg1"/>
                </a:solidFill>
              </a:rPr>
              <a:t>Tanmay Shriniwas Bagul</a:t>
            </a:r>
            <a:endParaRPr lang="en-US" sz="1500" dirty="0"/>
          </a:p>
        </p:txBody>
      </p:sp>
      <p:sp>
        <p:nvSpPr>
          <p:cNvPr id="10" name="guide line"/>
          <p:cNvSpPr txBox="1"/>
          <p:nvPr/>
        </p:nvSpPr>
        <p:spPr>
          <a:xfrm>
            <a:off x="548640" y="5577840"/>
            <a:ext cx="7040880" cy="292608"/>
          </a:xfrm>
          <a:prstGeom prst="rect">
            <a:avLst/>
          </a:prstGeom>
          <a:noFill/>
          <a:ln/>
        </p:spPr>
        <p:txBody>
          <a:bodyPr wrap="square" lIns="0" tIns="0" rIns="0" bIns="0" rtlCol="0" anchor="t"/>
          <a:lstStyle/>
          <a:p>
            <a:pPr indent="0" marL="0">
              <a:buNone/>
            </a:pPr>
            <a:r>
              <a:rPr lang="en-US" sz="1400" b="1" dirty="0">
                <a:solidFill>
                  <a:srgbClr val="A9D8D9"/>
                </a:solidFill>
              </a:rPr>
              <a:t>Guide: </a:t>
            </a:r>
            <a:pPr indent="0" marL="0">
              <a:buNone/>
            </a:pPr>
            <a:r>
              <a:rPr lang="en-US" sz="1400" dirty="0">
                <a:solidFill>
                  <a:schemeClr val="bg1"/>
                </a:solidFill>
              </a:rPr>
              <a:t>Prof. G. P Mohole, Head of Computer Department</a:t>
            </a:r>
            <a:endParaRPr lang="en-US" sz="1400" dirty="0"/>
          </a:p>
        </p:txBody>
      </p:sp>
      <p:sp>
        <p:nvSpPr>
          <p:cNvPr id="11" name="department line"/>
          <p:cNvSpPr txBox="1"/>
          <p:nvPr/>
        </p:nvSpPr>
        <p:spPr>
          <a:xfrm>
            <a:off x="548640" y="5943600"/>
            <a:ext cx="7040880" cy="274320"/>
          </a:xfrm>
          <a:prstGeom prst="rect">
            <a:avLst/>
          </a:prstGeom>
          <a:noFill/>
          <a:ln/>
        </p:spPr>
        <p:txBody>
          <a:bodyPr wrap="square" lIns="0" tIns="0" rIns="0" bIns="0" rtlCol="0" anchor="t"/>
          <a:lstStyle/>
          <a:p>
            <a:pPr indent="0" marL="0">
              <a:buNone/>
            </a:pPr>
            <a:r>
              <a:rPr lang="en-US" sz="1300" dirty="0">
                <a:solidFill>
                  <a:srgbClr val="A9D8D9"/>
                </a:solidFill>
              </a:rPr>
              <a:t>Department of Computer Engineering, JESITMR, Nashik</a:t>
            </a:r>
            <a:endParaRPr lang="en-US" sz="1300" dirty="0"/>
          </a:p>
        </p:txBody>
      </p:sp>
      <p:sp>
        <p:nvSpPr>
          <p:cNvPr id="12" name="hub link 1"/>
          <p:cNvSpPr/>
          <p:nvPr/>
        </p:nvSpPr>
        <p:spPr>
          <a:xfrm flipH="1">
            <a:off x="9646920" y="1947672"/>
            <a:ext cx="914" cy="1572768"/>
          </a:xfrm>
          <a:prstGeom prst="line">
            <a:avLst/>
          </a:prstGeom>
          <a:noFill/>
          <a:ln w="19050">
            <a:solidFill>
              <a:schemeClr val="accent1"/>
            </a:solidFill>
            <a:prstDash val="solid"/>
          </a:ln>
        </p:spPr>
      </p:sp>
      <p:sp>
        <p:nvSpPr>
          <p:cNvPr id="13" name="hub link 2"/>
          <p:cNvSpPr/>
          <p:nvPr/>
        </p:nvSpPr>
        <p:spPr>
          <a:xfrm flipH="1">
            <a:off x="9646920" y="3034428"/>
            <a:ext cx="1495791" cy="486012"/>
          </a:xfrm>
          <a:prstGeom prst="line">
            <a:avLst/>
          </a:prstGeom>
          <a:noFill/>
          <a:ln w="19050">
            <a:solidFill>
              <a:schemeClr val="accent1"/>
            </a:solidFill>
            <a:prstDash val="solid"/>
          </a:ln>
        </p:spPr>
      </p:sp>
      <p:sp>
        <p:nvSpPr>
          <p:cNvPr id="14" name="hub link 3"/>
          <p:cNvSpPr/>
          <p:nvPr/>
        </p:nvSpPr>
        <p:spPr>
          <a:xfrm>
            <a:off x="9646920" y="3520440"/>
            <a:ext cx="924450" cy="1272396"/>
          </a:xfrm>
          <a:prstGeom prst="line">
            <a:avLst/>
          </a:prstGeom>
          <a:noFill/>
          <a:ln w="19050">
            <a:solidFill>
              <a:schemeClr val="accent1"/>
            </a:solidFill>
            <a:prstDash val="solid"/>
          </a:ln>
        </p:spPr>
      </p:sp>
      <p:sp>
        <p:nvSpPr>
          <p:cNvPr id="15" name="hub link 4"/>
          <p:cNvSpPr/>
          <p:nvPr/>
        </p:nvSpPr>
        <p:spPr>
          <a:xfrm flipH="1">
            <a:off x="8722470" y="3520440"/>
            <a:ext cx="924450" cy="1272396"/>
          </a:xfrm>
          <a:prstGeom prst="line">
            <a:avLst/>
          </a:prstGeom>
          <a:noFill/>
          <a:ln w="19050">
            <a:solidFill>
              <a:schemeClr val="accent1"/>
            </a:solidFill>
            <a:prstDash val="solid"/>
          </a:ln>
        </p:spPr>
      </p:sp>
      <p:sp>
        <p:nvSpPr>
          <p:cNvPr id="16" name="hub link 5"/>
          <p:cNvSpPr/>
          <p:nvPr/>
        </p:nvSpPr>
        <p:spPr>
          <a:xfrm>
            <a:off x="8151129" y="3034428"/>
            <a:ext cx="1495791" cy="486012"/>
          </a:xfrm>
          <a:prstGeom prst="line">
            <a:avLst/>
          </a:prstGeom>
          <a:noFill/>
          <a:ln w="19050">
            <a:solidFill>
              <a:schemeClr val="accent1"/>
            </a:solidFill>
            <a:prstDash val="solid"/>
          </a:ln>
        </p:spPr>
      </p:sp>
      <p:sp>
        <p:nvSpPr>
          <p:cNvPr id="17" name="hub center"/>
          <p:cNvSpPr/>
          <p:nvPr/>
        </p:nvSpPr>
        <p:spPr>
          <a:xfrm>
            <a:off x="9052560" y="2926080"/>
            <a:ext cx="1188720" cy="1188720"/>
          </a:xfrm>
          <a:prstGeom prst="ellipse">
            <a:avLst/>
          </a:prstGeom>
          <a:solidFill>
            <a:schemeClr val="bg1"/>
          </a:solidFill>
          <a:ln/>
        </p:spPr>
      </p:sp>
      <p:pic>
        <p:nvPicPr>
          <p:cNvPr id="18" name="hub clinician icon" descr="preencoded.png">    </p:cNvPr>
          <p:cNvPicPr>
            <a:picLocks noChangeAspect="1"/>
          </p:cNvPicPr>
          <p:nvPr/>
        </p:nvPicPr>
        <p:blipFill>
          <a:blip r:embed="rId2"/>
          <a:stretch>
            <a:fillRect/>
          </a:stretch>
        </p:blipFill>
        <p:spPr>
          <a:xfrm>
            <a:off x="9345168" y="3191256"/>
            <a:ext cx="603504" cy="603504"/>
          </a:xfrm>
          <a:prstGeom prst="rect">
            <a:avLst/>
          </a:prstGeom>
        </p:spPr>
      </p:pic>
      <p:sp>
        <p:nvSpPr>
          <p:cNvPr id="19" name="hub node 1 circle"/>
          <p:cNvSpPr/>
          <p:nvPr/>
        </p:nvSpPr>
        <p:spPr>
          <a:xfrm>
            <a:off x="9226296" y="1527048"/>
            <a:ext cx="841248" cy="841248"/>
          </a:xfrm>
          <a:prstGeom prst="ellipse">
            <a:avLst/>
          </a:prstGeom>
          <a:solidFill>
            <a:schemeClr val="accent1"/>
          </a:solidFill>
          <a:ln/>
        </p:spPr>
      </p:sp>
      <p:pic>
        <p:nvPicPr>
          <p:cNvPr id="20" name="hub node 1 icon" descr="preencoded.png">    </p:cNvPr>
          <p:cNvPicPr>
            <a:picLocks noChangeAspect="1"/>
          </p:cNvPicPr>
          <p:nvPr/>
        </p:nvPicPr>
        <p:blipFill>
          <a:blip r:embed="rId3"/>
          <a:stretch>
            <a:fillRect/>
          </a:stretch>
        </p:blipFill>
        <p:spPr>
          <a:xfrm>
            <a:off x="9428196" y="1728948"/>
            <a:ext cx="437449" cy="437449"/>
          </a:xfrm>
          <a:prstGeom prst="rect">
            <a:avLst/>
          </a:prstGeom>
        </p:spPr>
      </p:pic>
      <p:sp>
        <p:nvSpPr>
          <p:cNvPr id="21" name="hub label 1"/>
          <p:cNvSpPr txBox="1"/>
          <p:nvPr/>
        </p:nvSpPr>
        <p:spPr>
          <a:xfrm>
            <a:off x="8915400" y="1197864"/>
            <a:ext cx="1463040" cy="274320"/>
          </a:xfrm>
          <a:prstGeom prst="rect">
            <a:avLst/>
          </a:prstGeom>
          <a:noFill/>
          <a:ln/>
        </p:spPr>
        <p:txBody>
          <a:bodyPr wrap="square" lIns="0" tIns="0" rIns="0" bIns="0" rtlCol="0" anchor="t"/>
          <a:lstStyle/>
          <a:p>
            <a:pPr algn="ctr" indent="0" marL="0">
              <a:buNone/>
            </a:pPr>
            <a:r>
              <a:rPr lang="en-US" sz="1300" b="1" dirty="0">
                <a:solidFill>
                  <a:srgbClr val="A9D8D9"/>
                </a:solidFill>
              </a:rPr>
              <a:t>ML</a:t>
            </a:r>
            <a:endParaRPr lang="en-US" sz="1300" dirty="0"/>
          </a:p>
        </p:txBody>
      </p:sp>
      <p:sp>
        <p:nvSpPr>
          <p:cNvPr id="22" name="hub node 2 circle"/>
          <p:cNvSpPr/>
          <p:nvPr/>
        </p:nvSpPr>
        <p:spPr>
          <a:xfrm>
            <a:off x="10722087" y="2613804"/>
            <a:ext cx="841248" cy="841248"/>
          </a:xfrm>
          <a:prstGeom prst="ellipse">
            <a:avLst/>
          </a:prstGeom>
          <a:solidFill>
            <a:schemeClr val="accent1"/>
          </a:solidFill>
          <a:ln/>
        </p:spPr>
      </p:sp>
      <p:pic>
        <p:nvPicPr>
          <p:cNvPr id="23" name="hub node 2 icon" descr="preencoded.png">    </p:cNvPr>
          <p:cNvPicPr>
            <a:picLocks noChangeAspect="1"/>
          </p:cNvPicPr>
          <p:nvPr/>
        </p:nvPicPr>
        <p:blipFill>
          <a:blip r:embed="rId4"/>
          <a:stretch>
            <a:fillRect/>
          </a:stretch>
        </p:blipFill>
        <p:spPr>
          <a:xfrm>
            <a:off x="10923987" y="2815703"/>
            <a:ext cx="437449" cy="437449"/>
          </a:xfrm>
          <a:prstGeom prst="rect">
            <a:avLst/>
          </a:prstGeom>
        </p:spPr>
      </p:pic>
      <p:sp>
        <p:nvSpPr>
          <p:cNvPr id="24" name="hub label 2"/>
          <p:cNvSpPr txBox="1"/>
          <p:nvPr/>
        </p:nvSpPr>
        <p:spPr>
          <a:xfrm>
            <a:off x="10411191" y="3500772"/>
            <a:ext cx="1463040" cy="274320"/>
          </a:xfrm>
          <a:prstGeom prst="rect">
            <a:avLst/>
          </a:prstGeom>
          <a:noFill/>
          <a:ln/>
        </p:spPr>
        <p:txBody>
          <a:bodyPr wrap="square" lIns="0" tIns="0" rIns="0" bIns="0" rtlCol="0" anchor="t"/>
          <a:lstStyle/>
          <a:p>
            <a:pPr algn="ctr" indent="0" marL="0">
              <a:buNone/>
            </a:pPr>
            <a:r>
              <a:rPr lang="en-US" sz="1300" b="1" dirty="0">
                <a:solidFill>
                  <a:srgbClr val="A9D8D9"/>
                </a:solidFill>
              </a:rPr>
              <a:t>Rules</a:t>
            </a:r>
            <a:endParaRPr lang="en-US" sz="1300" dirty="0"/>
          </a:p>
        </p:txBody>
      </p:sp>
      <p:sp>
        <p:nvSpPr>
          <p:cNvPr id="25" name="hub node 3 circle"/>
          <p:cNvSpPr/>
          <p:nvPr/>
        </p:nvSpPr>
        <p:spPr>
          <a:xfrm>
            <a:off x="10150746" y="4372212"/>
            <a:ext cx="841248" cy="841248"/>
          </a:xfrm>
          <a:prstGeom prst="ellipse">
            <a:avLst/>
          </a:prstGeom>
          <a:solidFill>
            <a:schemeClr val="accent1"/>
          </a:solidFill>
          <a:ln/>
        </p:spPr>
      </p:sp>
      <p:pic>
        <p:nvPicPr>
          <p:cNvPr id="26" name="hub node 3 icon" descr="preencoded.png">    </p:cNvPr>
          <p:cNvPicPr>
            <a:picLocks noChangeAspect="1"/>
          </p:cNvPicPr>
          <p:nvPr/>
        </p:nvPicPr>
        <p:blipFill>
          <a:blip r:embed="rId5"/>
          <a:stretch>
            <a:fillRect/>
          </a:stretch>
        </p:blipFill>
        <p:spPr>
          <a:xfrm>
            <a:off x="10352645" y="4574112"/>
            <a:ext cx="437449" cy="437449"/>
          </a:xfrm>
          <a:prstGeom prst="rect">
            <a:avLst/>
          </a:prstGeom>
        </p:spPr>
      </p:pic>
      <p:sp>
        <p:nvSpPr>
          <p:cNvPr id="27" name="hub label 3"/>
          <p:cNvSpPr txBox="1"/>
          <p:nvPr/>
        </p:nvSpPr>
        <p:spPr>
          <a:xfrm>
            <a:off x="9839850" y="5259180"/>
            <a:ext cx="1463040" cy="274320"/>
          </a:xfrm>
          <a:prstGeom prst="rect">
            <a:avLst/>
          </a:prstGeom>
          <a:noFill/>
          <a:ln/>
        </p:spPr>
        <p:txBody>
          <a:bodyPr wrap="square" lIns="0" tIns="0" rIns="0" bIns="0" rtlCol="0" anchor="t"/>
          <a:lstStyle/>
          <a:p>
            <a:pPr algn="ctr" indent="0" marL="0">
              <a:buNone/>
            </a:pPr>
            <a:r>
              <a:rPr lang="en-US" sz="1300" b="1" dirty="0">
                <a:solidFill>
                  <a:srgbClr val="A9D8D9"/>
                </a:solidFill>
              </a:rPr>
              <a:t>Retrieval</a:t>
            </a:r>
            <a:endParaRPr lang="en-US" sz="1300" dirty="0"/>
          </a:p>
        </p:txBody>
      </p:sp>
      <p:sp>
        <p:nvSpPr>
          <p:cNvPr id="28" name="hub node 4 circle"/>
          <p:cNvSpPr/>
          <p:nvPr/>
        </p:nvSpPr>
        <p:spPr>
          <a:xfrm>
            <a:off x="8301846" y="4372212"/>
            <a:ext cx="841248" cy="841248"/>
          </a:xfrm>
          <a:prstGeom prst="ellipse">
            <a:avLst/>
          </a:prstGeom>
          <a:solidFill>
            <a:schemeClr val="accent1"/>
          </a:solidFill>
          <a:ln/>
        </p:spPr>
      </p:sp>
      <p:pic>
        <p:nvPicPr>
          <p:cNvPr id="29" name="hub node 4 icon" descr="preencoded.png">    </p:cNvPr>
          <p:cNvPicPr>
            <a:picLocks noChangeAspect="1"/>
          </p:cNvPicPr>
          <p:nvPr/>
        </p:nvPicPr>
        <p:blipFill>
          <a:blip r:embed="rId6"/>
          <a:stretch>
            <a:fillRect/>
          </a:stretch>
        </p:blipFill>
        <p:spPr>
          <a:xfrm>
            <a:off x="8503746" y="4574112"/>
            <a:ext cx="437449" cy="437449"/>
          </a:xfrm>
          <a:prstGeom prst="rect">
            <a:avLst/>
          </a:prstGeom>
        </p:spPr>
      </p:pic>
      <p:sp>
        <p:nvSpPr>
          <p:cNvPr id="30" name="hub label 4"/>
          <p:cNvSpPr txBox="1"/>
          <p:nvPr/>
        </p:nvSpPr>
        <p:spPr>
          <a:xfrm>
            <a:off x="7990950" y="5259180"/>
            <a:ext cx="1463040" cy="274320"/>
          </a:xfrm>
          <a:prstGeom prst="rect">
            <a:avLst/>
          </a:prstGeom>
          <a:noFill/>
          <a:ln/>
        </p:spPr>
        <p:txBody>
          <a:bodyPr wrap="square" lIns="0" tIns="0" rIns="0" bIns="0" rtlCol="0" anchor="t"/>
          <a:lstStyle/>
          <a:p>
            <a:pPr algn="ctr" indent="0" marL="0">
              <a:buNone/>
            </a:pPr>
            <a:r>
              <a:rPr lang="en-US" sz="1300" b="1" dirty="0">
                <a:solidFill>
                  <a:srgbClr val="A9D8D9"/>
                </a:solidFill>
              </a:rPr>
              <a:t>Context</a:t>
            </a:r>
            <a:endParaRPr lang="en-US" sz="1300" dirty="0"/>
          </a:p>
        </p:txBody>
      </p:sp>
      <p:sp>
        <p:nvSpPr>
          <p:cNvPr id="31" name="hub node 5 circle"/>
          <p:cNvSpPr/>
          <p:nvPr/>
        </p:nvSpPr>
        <p:spPr>
          <a:xfrm>
            <a:off x="7730505" y="2613804"/>
            <a:ext cx="841248" cy="841248"/>
          </a:xfrm>
          <a:prstGeom prst="ellipse">
            <a:avLst/>
          </a:prstGeom>
          <a:solidFill>
            <a:schemeClr val="accent1"/>
          </a:solidFill>
          <a:ln/>
        </p:spPr>
      </p:sp>
      <p:pic>
        <p:nvPicPr>
          <p:cNvPr id="32" name="hub node 5 icon" descr="preencoded.png">    </p:cNvPr>
          <p:cNvPicPr>
            <a:picLocks noChangeAspect="1"/>
          </p:cNvPicPr>
          <p:nvPr/>
        </p:nvPicPr>
        <p:blipFill>
          <a:blip r:embed="rId7"/>
          <a:stretch>
            <a:fillRect/>
          </a:stretch>
        </p:blipFill>
        <p:spPr>
          <a:xfrm>
            <a:off x="7932404" y="2815703"/>
            <a:ext cx="437449" cy="437449"/>
          </a:xfrm>
          <a:prstGeom prst="rect">
            <a:avLst/>
          </a:prstGeom>
        </p:spPr>
      </p:pic>
      <p:sp>
        <p:nvSpPr>
          <p:cNvPr id="33" name="hub label 5"/>
          <p:cNvSpPr txBox="1"/>
          <p:nvPr/>
        </p:nvSpPr>
        <p:spPr>
          <a:xfrm>
            <a:off x="7419609" y="3500772"/>
            <a:ext cx="1463040" cy="274320"/>
          </a:xfrm>
          <a:prstGeom prst="rect">
            <a:avLst/>
          </a:prstGeom>
          <a:noFill/>
          <a:ln/>
        </p:spPr>
        <p:txBody>
          <a:bodyPr wrap="square" lIns="0" tIns="0" rIns="0" bIns="0" rtlCol="0" anchor="t"/>
          <a:lstStyle/>
          <a:p>
            <a:pPr algn="ctr" indent="0" marL="0">
              <a:buNone/>
            </a:pPr>
            <a:r>
              <a:rPr lang="en-US" sz="1300" b="1" dirty="0">
                <a:solidFill>
                  <a:srgbClr val="A9D8D9"/>
                </a:solidFill>
              </a:rPr>
              <a:t>Fusion</a:t>
            </a:r>
            <a:endParaRPr lang="en-US" sz="1300" dirty="0"/>
          </a:p>
        </p:txBody>
      </p:sp>
      <p:sp>
        <p:nvSpPr>
          <p:cNvPr id="34" name="hub caption"/>
          <p:cNvSpPr txBox="1"/>
          <p:nvPr/>
        </p:nvSpPr>
        <p:spPr>
          <a:xfrm>
            <a:off x="8183880" y="5971032"/>
            <a:ext cx="2926080" cy="274320"/>
          </a:xfrm>
          <a:prstGeom prst="rect">
            <a:avLst/>
          </a:prstGeom>
          <a:noFill/>
          <a:ln/>
        </p:spPr>
        <p:txBody>
          <a:bodyPr wrap="square" lIns="0" tIns="0" rIns="0" bIns="0" rtlCol="0" anchor="t"/>
          <a:lstStyle/>
          <a:p>
            <a:pPr algn="ctr" indent="0" marL="0">
              <a:buNone/>
            </a:pPr>
            <a:r>
              <a:rPr lang="en-US" sz="1200" i="1" dirty="0">
                <a:solidFill>
                  <a:schemeClr val="bg1"/>
                </a:solidFill>
              </a:rPr>
              <a:t>The clinician stays at the center</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94415" cy="777240"/>
          </a:xfrm>
          <a:prstGeom prst="rect">
            <a:avLst/>
          </a:prstGeom>
          <a:noFill/>
          <a:ln/>
        </p:spPr>
        <p:txBody>
          <a:bodyPr wrap="square" lIns="0" tIns="0" rIns="0" bIns="0" rtlCol="0" anchor="ctr"/>
          <a:lstStyle/>
          <a:p>
            <a:pPr algn="l" indent="0" marL="0">
              <a:buNone/>
            </a:pPr>
            <a:r>
              <a:rPr lang="en-US" sz="3400" b="1" dirty="0">
                <a:solidFill>
                  <a:schemeClr val="tx2"/>
                </a:solidFill>
                <a:latin typeface="+mj-lt" pitchFamily="34" charset="0"/>
                <a:ea typeface="+mj-lt" pitchFamily="34" charset="-122"/>
                <a:cs typeface="+mj-lt" pitchFamily="34" charset="-120"/>
              </a:rPr>
              <a:t>Outline</a:t>
            </a:r>
            <a:endParaRPr lang="en-US" sz="3400" dirty="0"/>
          </a:p>
        </p:txBody>
      </p:sp>
      <p:sp>
        <p:nvSpPr>
          <p:cNvPr id="3" name="outline item 1"/>
          <p:cNvSpPr/>
          <p:nvPr/>
        </p:nvSpPr>
        <p:spPr>
          <a:xfrm>
            <a:off x="548640" y="1371600"/>
            <a:ext cx="5410048" cy="960120"/>
          </a:xfrm>
          <a:prstGeom prst="roundRect">
            <a:avLst>
              <a:gd name="adj" fmla="val 11429"/>
            </a:avLst>
          </a:prstGeom>
          <a:solidFill>
            <a:schemeClr val="bg2"/>
          </a:solidFill>
          <a:ln/>
        </p:spPr>
      </p:sp>
      <p:sp>
        <p:nvSpPr>
          <p:cNvPr id="4" name="outline number 1"/>
          <p:cNvSpPr/>
          <p:nvPr/>
        </p:nvSpPr>
        <p:spPr>
          <a:xfrm>
            <a:off x="777240" y="1568196"/>
            <a:ext cx="566928" cy="566928"/>
          </a:xfrm>
          <a:prstGeom prst="ellipse">
            <a:avLst/>
          </a:prstGeom>
          <a:solidFill>
            <a:schemeClr val="accent1"/>
          </a:solidFill>
          <a:ln/>
        </p:spPr>
      </p:sp>
      <p:sp>
        <p:nvSpPr>
          <p:cNvPr id="5" name="outline number text 1"/>
          <p:cNvSpPr txBox="1"/>
          <p:nvPr/>
        </p:nvSpPr>
        <p:spPr>
          <a:xfrm>
            <a:off x="777240" y="1568196"/>
            <a:ext cx="566928" cy="566928"/>
          </a:xfrm>
          <a:prstGeom prst="rect">
            <a:avLst/>
          </a:prstGeom>
          <a:no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6" name="outline label 1"/>
          <p:cNvSpPr txBox="1"/>
          <p:nvPr/>
        </p:nvSpPr>
        <p:spPr>
          <a:xfrm>
            <a:off x="1554480" y="1371600"/>
            <a:ext cx="4175608" cy="960120"/>
          </a:xfrm>
          <a:prstGeom prst="rect">
            <a:avLst/>
          </a:prstGeom>
          <a:noFill/>
          <a:ln/>
        </p:spPr>
        <p:txBody>
          <a:bodyPr wrap="square" lIns="0" tIns="0" rIns="0" bIns="0" rtlCol="0" anchor="ctr"/>
          <a:lstStyle/>
          <a:p>
            <a:pPr indent="0" marL="0">
              <a:buNone/>
            </a:pPr>
            <a:r>
              <a:rPr lang="en-US" sz="1800" b="1" dirty="0">
                <a:solidFill>
                  <a:schemeClr val="tx2"/>
                </a:solidFill>
              </a:rPr>
              <a:t>Introduction &amp; Motivation</a:t>
            </a:r>
            <a:endParaRPr lang="en-US" sz="1800" dirty="0"/>
          </a:p>
        </p:txBody>
      </p:sp>
      <p:sp>
        <p:nvSpPr>
          <p:cNvPr id="7" name="outline item 2"/>
          <p:cNvSpPr/>
          <p:nvPr/>
        </p:nvSpPr>
        <p:spPr>
          <a:xfrm>
            <a:off x="548640" y="2606040"/>
            <a:ext cx="5410048" cy="960120"/>
          </a:xfrm>
          <a:prstGeom prst="roundRect">
            <a:avLst>
              <a:gd name="adj" fmla="val 11429"/>
            </a:avLst>
          </a:prstGeom>
          <a:solidFill>
            <a:schemeClr val="bg2"/>
          </a:solidFill>
          <a:ln/>
        </p:spPr>
      </p:sp>
      <p:sp>
        <p:nvSpPr>
          <p:cNvPr id="8" name="outline number 2"/>
          <p:cNvSpPr/>
          <p:nvPr/>
        </p:nvSpPr>
        <p:spPr>
          <a:xfrm>
            <a:off x="777240" y="2802636"/>
            <a:ext cx="566928" cy="566928"/>
          </a:xfrm>
          <a:prstGeom prst="ellipse">
            <a:avLst/>
          </a:prstGeom>
          <a:solidFill>
            <a:schemeClr val="accent1"/>
          </a:solidFill>
          <a:ln/>
        </p:spPr>
      </p:sp>
      <p:sp>
        <p:nvSpPr>
          <p:cNvPr id="9" name="outline number text 2"/>
          <p:cNvSpPr txBox="1"/>
          <p:nvPr/>
        </p:nvSpPr>
        <p:spPr>
          <a:xfrm>
            <a:off x="777240" y="2802636"/>
            <a:ext cx="566928" cy="566928"/>
          </a:xfrm>
          <a:prstGeom prst="rect">
            <a:avLst/>
          </a:prstGeom>
          <a:no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10" name="outline label 2"/>
          <p:cNvSpPr txBox="1"/>
          <p:nvPr/>
        </p:nvSpPr>
        <p:spPr>
          <a:xfrm>
            <a:off x="1554480" y="2606040"/>
            <a:ext cx="4175608" cy="960120"/>
          </a:xfrm>
          <a:prstGeom prst="rect">
            <a:avLst/>
          </a:prstGeom>
          <a:noFill/>
          <a:ln/>
        </p:spPr>
        <p:txBody>
          <a:bodyPr wrap="square" lIns="0" tIns="0" rIns="0" bIns="0" rtlCol="0" anchor="ctr"/>
          <a:lstStyle/>
          <a:p>
            <a:pPr indent="0" marL="0">
              <a:buNone/>
            </a:pPr>
            <a:r>
              <a:rPr lang="en-US" sz="1800" b="1" dirty="0">
                <a:solidFill>
                  <a:schemeClr val="tx2"/>
                </a:solidFill>
              </a:rPr>
              <a:t>Problem Statement &amp; Objectives</a:t>
            </a:r>
            <a:endParaRPr lang="en-US" sz="1800" dirty="0"/>
          </a:p>
        </p:txBody>
      </p:sp>
      <p:sp>
        <p:nvSpPr>
          <p:cNvPr id="11" name="outline item 3"/>
          <p:cNvSpPr/>
          <p:nvPr/>
        </p:nvSpPr>
        <p:spPr>
          <a:xfrm>
            <a:off x="548640" y="3840480"/>
            <a:ext cx="5410048" cy="960120"/>
          </a:xfrm>
          <a:prstGeom prst="roundRect">
            <a:avLst>
              <a:gd name="adj" fmla="val 11429"/>
            </a:avLst>
          </a:prstGeom>
          <a:solidFill>
            <a:schemeClr val="bg2"/>
          </a:solidFill>
          <a:ln/>
        </p:spPr>
      </p:sp>
      <p:sp>
        <p:nvSpPr>
          <p:cNvPr id="12" name="outline number 3"/>
          <p:cNvSpPr/>
          <p:nvPr/>
        </p:nvSpPr>
        <p:spPr>
          <a:xfrm>
            <a:off x="777240" y="4037076"/>
            <a:ext cx="566928" cy="566928"/>
          </a:xfrm>
          <a:prstGeom prst="ellipse">
            <a:avLst/>
          </a:prstGeom>
          <a:solidFill>
            <a:schemeClr val="accent1"/>
          </a:solidFill>
          <a:ln/>
        </p:spPr>
      </p:sp>
      <p:sp>
        <p:nvSpPr>
          <p:cNvPr id="13" name="outline number text 3"/>
          <p:cNvSpPr txBox="1"/>
          <p:nvPr/>
        </p:nvSpPr>
        <p:spPr>
          <a:xfrm>
            <a:off x="777240" y="4037076"/>
            <a:ext cx="566928" cy="566928"/>
          </a:xfrm>
          <a:prstGeom prst="rect">
            <a:avLst/>
          </a:prstGeom>
          <a:no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14" name="outline label 3"/>
          <p:cNvSpPr txBox="1"/>
          <p:nvPr/>
        </p:nvSpPr>
        <p:spPr>
          <a:xfrm>
            <a:off x="1554480" y="3840480"/>
            <a:ext cx="4175608" cy="960120"/>
          </a:xfrm>
          <a:prstGeom prst="rect">
            <a:avLst/>
          </a:prstGeom>
          <a:noFill/>
          <a:ln/>
        </p:spPr>
        <p:txBody>
          <a:bodyPr wrap="square" lIns="0" tIns="0" rIns="0" bIns="0" rtlCol="0" anchor="ctr"/>
          <a:lstStyle/>
          <a:p>
            <a:pPr indent="0" marL="0">
              <a:buNone/>
            </a:pPr>
            <a:r>
              <a:rPr lang="en-US" sz="1800" b="1" dirty="0">
                <a:solidFill>
                  <a:schemeClr val="tx2"/>
                </a:solidFill>
              </a:rPr>
              <a:t>Literature Survey &amp; Research Gap</a:t>
            </a:r>
            <a:endParaRPr lang="en-US" sz="1800" dirty="0"/>
          </a:p>
        </p:txBody>
      </p:sp>
      <p:sp>
        <p:nvSpPr>
          <p:cNvPr id="15" name="outline item 4"/>
          <p:cNvSpPr/>
          <p:nvPr/>
        </p:nvSpPr>
        <p:spPr>
          <a:xfrm>
            <a:off x="548640" y="5074920"/>
            <a:ext cx="5410048" cy="960120"/>
          </a:xfrm>
          <a:prstGeom prst="roundRect">
            <a:avLst>
              <a:gd name="adj" fmla="val 11429"/>
            </a:avLst>
          </a:prstGeom>
          <a:solidFill>
            <a:schemeClr val="bg2"/>
          </a:solidFill>
          <a:ln/>
        </p:spPr>
      </p:sp>
      <p:sp>
        <p:nvSpPr>
          <p:cNvPr id="16" name="outline number 4"/>
          <p:cNvSpPr/>
          <p:nvPr/>
        </p:nvSpPr>
        <p:spPr>
          <a:xfrm>
            <a:off x="777240" y="5271516"/>
            <a:ext cx="566928" cy="566928"/>
          </a:xfrm>
          <a:prstGeom prst="ellipse">
            <a:avLst/>
          </a:prstGeom>
          <a:solidFill>
            <a:schemeClr val="accent1"/>
          </a:solidFill>
          <a:ln/>
        </p:spPr>
      </p:sp>
      <p:sp>
        <p:nvSpPr>
          <p:cNvPr id="17" name="outline number text 4"/>
          <p:cNvSpPr txBox="1"/>
          <p:nvPr/>
        </p:nvSpPr>
        <p:spPr>
          <a:xfrm>
            <a:off x="777240" y="5271516"/>
            <a:ext cx="566928" cy="566928"/>
          </a:xfrm>
          <a:prstGeom prst="rect">
            <a:avLst/>
          </a:prstGeom>
          <a:noFill/>
          <a:ln/>
        </p:spPr>
        <p:txBody>
          <a:bodyPr wrap="square" lIns="0" tIns="0" rIns="0" bIns="0" rtlCol="0" anchor="ctr"/>
          <a:lstStyle/>
          <a:p>
            <a:pPr algn="ctr" indent="0" marL="0">
              <a:buNone/>
            </a:pPr>
            <a:r>
              <a:rPr lang="en-US" sz="1800" b="1" dirty="0">
                <a:solidFill>
                  <a:schemeClr val="bg1"/>
                </a:solidFill>
              </a:rPr>
              <a:t>4</a:t>
            </a:r>
            <a:endParaRPr lang="en-US" sz="1800" dirty="0"/>
          </a:p>
        </p:txBody>
      </p:sp>
      <p:sp>
        <p:nvSpPr>
          <p:cNvPr id="18" name="outline label 4"/>
          <p:cNvSpPr txBox="1"/>
          <p:nvPr/>
        </p:nvSpPr>
        <p:spPr>
          <a:xfrm>
            <a:off x="1554480" y="5074920"/>
            <a:ext cx="4175608" cy="960120"/>
          </a:xfrm>
          <a:prstGeom prst="rect">
            <a:avLst/>
          </a:prstGeom>
          <a:noFill/>
          <a:ln/>
        </p:spPr>
        <p:txBody>
          <a:bodyPr wrap="square" lIns="0" tIns="0" rIns="0" bIns="0" rtlCol="0" anchor="ctr"/>
          <a:lstStyle/>
          <a:p>
            <a:pPr indent="0" marL="0">
              <a:buNone/>
            </a:pPr>
            <a:r>
              <a:rPr lang="en-US" sz="1800" b="1" dirty="0">
                <a:solidFill>
                  <a:schemeClr val="tx2"/>
                </a:solidFill>
              </a:rPr>
              <a:t>Proposed Architecture</a:t>
            </a:r>
            <a:endParaRPr lang="en-US" sz="1800" dirty="0"/>
          </a:p>
        </p:txBody>
      </p:sp>
      <p:sp>
        <p:nvSpPr>
          <p:cNvPr id="19" name="outline item 5"/>
          <p:cNvSpPr/>
          <p:nvPr/>
        </p:nvSpPr>
        <p:spPr>
          <a:xfrm>
            <a:off x="6233008" y="1371600"/>
            <a:ext cx="5410048" cy="960120"/>
          </a:xfrm>
          <a:prstGeom prst="roundRect">
            <a:avLst>
              <a:gd name="adj" fmla="val 11429"/>
            </a:avLst>
          </a:prstGeom>
          <a:solidFill>
            <a:schemeClr val="bg2"/>
          </a:solidFill>
          <a:ln/>
        </p:spPr>
      </p:sp>
      <p:sp>
        <p:nvSpPr>
          <p:cNvPr id="20" name="outline number 5"/>
          <p:cNvSpPr/>
          <p:nvPr/>
        </p:nvSpPr>
        <p:spPr>
          <a:xfrm>
            <a:off x="6461608" y="1568196"/>
            <a:ext cx="566928" cy="566928"/>
          </a:xfrm>
          <a:prstGeom prst="ellipse">
            <a:avLst/>
          </a:prstGeom>
          <a:solidFill>
            <a:schemeClr val="accent1"/>
          </a:solidFill>
          <a:ln/>
        </p:spPr>
      </p:sp>
      <p:sp>
        <p:nvSpPr>
          <p:cNvPr id="21" name="outline number text 5"/>
          <p:cNvSpPr txBox="1"/>
          <p:nvPr/>
        </p:nvSpPr>
        <p:spPr>
          <a:xfrm>
            <a:off x="6461608" y="1568196"/>
            <a:ext cx="566928" cy="566928"/>
          </a:xfrm>
          <a:prstGeom prst="rect">
            <a:avLst/>
          </a:prstGeom>
          <a:noFill/>
          <a:ln/>
        </p:spPr>
        <p:txBody>
          <a:bodyPr wrap="square" lIns="0" tIns="0" rIns="0" bIns="0" rtlCol="0" anchor="ctr"/>
          <a:lstStyle/>
          <a:p>
            <a:pPr algn="ctr" indent="0" marL="0">
              <a:buNone/>
            </a:pPr>
            <a:r>
              <a:rPr lang="en-US" sz="1800" b="1" dirty="0">
                <a:solidFill>
                  <a:schemeClr val="bg1"/>
                </a:solidFill>
              </a:rPr>
              <a:t>5</a:t>
            </a:r>
            <a:endParaRPr lang="en-US" sz="1800" dirty="0"/>
          </a:p>
        </p:txBody>
      </p:sp>
      <p:sp>
        <p:nvSpPr>
          <p:cNvPr id="22" name="outline label 5"/>
          <p:cNvSpPr txBox="1"/>
          <p:nvPr/>
        </p:nvSpPr>
        <p:spPr>
          <a:xfrm>
            <a:off x="7238848" y="1371600"/>
            <a:ext cx="4175608" cy="960120"/>
          </a:xfrm>
          <a:prstGeom prst="rect">
            <a:avLst/>
          </a:prstGeom>
          <a:noFill/>
          <a:ln/>
        </p:spPr>
        <p:txBody>
          <a:bodyPr wrap="square" lIns="0" tIns="0" rIns="0" bIns="0" rtlCol="0" anchor="ctr"/>
          <a:lstStyle/>
          <a:p>
            <a:pPr indent="0" marL="0">
              <a:buNone/>
            </a:pPr>
            <a:r>
              <a:rPr lang="en-US" sz="1800" b="1" dirty="0">
                <a:solidFill>
                  <a:schemeClr val="tx2"/>
                </a:solidFill>
              </a:rPr>
              <a:t>Agents &amp; Decision Fusion</a:t>
            </a:r>
            <a:endParaRPr lang="en-US" sz="1800" dirty="0"/>
          </a:p>
        </p:txBody>
      </p:sp>
      <p:sp>
        <p:nvSpPr>
          <p:cNvPr id="23" name="outline item 6"/>
          <p:cNvSpPr/>
          <p:nvPr/>
        </p:nvSpPr>
        <p:spPr>
          <a:xfrm>
            <a:off x="6233008" y="2606040"/>
            <a:ext cx="5410048" cy="960120"/>
          </a:xfrm>
          <a:prstGeom prst="roundRect">
            <a:avLst>
              <a:gd name="adj" fmla="val 11429"/>
            </a:avLst>
          </a:prstGeom>
          <a:solidFill>
            <a:schemeClr val="bg2"/>
          </a:solidFill>
          <a:ln/>
        </p:spPr>
      </p:sp>
      <p:sp>
        <p:nvSpPr>
          <p:cNvPr id="24" name="outline number 6"/>
          <p:cNvSpPr/>
          <p:nvPr/>
        </p:nvSpPr>
        <p:spPr>
          <a:xfrm>
            <a:off x="6461608" y="2802636"/>
            <a:ext cx="566928" cy="566928"/>
          </a:xfrm>
          <a:prstGeom prst="ellipse">
            <a:avLst/>
          </a:prstGeom>
          <a:solidFill>
            <a:schemeClr val="accent1"/>
          </a:solidFill>
          <a:ln/>
        </p:spPr>
      </p:sp>
      <p:sp>
        <p:nvSpPr>
          <p:cNvPr id="25" name="outline number text 6"/>
          <p:cNvSpPr txBox="1"/>
          <p:nvPr/>
        </p:nvSpPr>
        <p:spPr>
          <a:xfrm>
            <a:off x="6461608" y="2802636"/>
            <a:ext cx="566928" cy="566928"/>
          </a:xfrm>
          <a:prstGeom prst="rect">
            <a:avLst/>
          </a:prstGeom>
          <a:noFill/>
          <a:ln/>
        </p:spPr>
        <p:txBody>
          <a:bodyPr wrap="square" lIns="0" tIns="0" rIns="0" bIns="0" rtlCol="0" anchor="ctr"/>
          <a:lstStyle/>
          <a:p>
            <a:pPr algn="ctr" indent="0" marL="0">
              <a:buNone/>
            </a:pPr>
            <a:r>
              <a:rPr lang="en-US" sz="1800" b="1" dirty="0">
                <a:solidFill>
                  <a:schemeClr val="bg1"/>
                </a:solidFill>
              </a:rPr>
              <a:t>6</a:t>
            </a:r>
            <a:endParaRPr lang="en-US" sz="1800" dirty="0"/>
          </a:p>
        </p:txBody>
      </p:sp>
      <p:sp>
        <p:nvSpPr>
          <p:cNvPr id="26" name="outline label 6"/>
          <p:cNvSpPr txBox="1"/>
          <p:nvPr/>
        </p:nvSpPr>
        <p:spPr>
          <a:xfrm>
            <a:off x="7238848" y="2606040"/>
            <a:ext cx="4175608" cy="960120"/>
          </a:xfrm>
          <a:prstGeom prst="rect">
            <a:avLst/>
          </a:prstGeom>
          <a:noFill/>
          <a:ln/>
        </p:spPr>
        <p:txBody>
          <a:bodyPr wrap="square" lIns="0" tIns="0" rIns="0" bIns="0" rtlCol="0" anchor="ctr"/>
          <a:lstStyle/>
          <a:p>
            <a:pPr indent="0" marL="0">
              <a:buNone/>
            </a:pPr>
            <a:r>
              <a:rPr lang="en-US" sz="1800" b="1" dirty="0">
                <a:solidFill>
                  <a:schemeClr val="tx2"/>
                </a:solidFill>
              </a:rPr>
              <a:t>System Design: DFD &amp; UML</a:t>
            </a:r>
            <a:endParaRPr lang="en-US" sz="1800" dirty="0"/>
          </a:p>
        </p:txBody>
      </p:sp>
      <p:sp>
        <p:nvSpPr>
          <p:cNvPr id="27" name="outline item 7"/>
          <p:cNvSpPr/>
          <p:nvPr/>
        </p:nvSpPr>
        <p:spPr>
          <a:xfrm>
            <a:off x="6233008" y="3840480"/>
            <a:ext cx="5410048" cy="960120"/>
          </a:xfrm>
          <a:prstGeom prst="roundRect">
            <a:avLst>
              <a:gd name="adj" fmla="val 11429"/>
            </a:avLst>
          </a:prstGeom>
          <a:solidFill>
            <a:schemeClr val="bg2"/>
          </a:solidFill>
          <a:ln/>
        </p:spPr>
      </p:sp>
      <p:sp>
        <p:nvSpPr>
          <p:cNvPr id="28" name="outline number 7"/>
          <p:cNvSpPr/>
          <p:nvPr/>
        </p:nvSpPr>
        <p:spPr>
          <a:xfrm>
            <a:off x="6461608" y="4037076"/>
            <a:ext cx="566928" cy="566928"/>
          </a:xfrm>
          <a:prstGeom prst="ellipse">
            <a:avLst/>
          </a:prstGeom>
          <a:solidFill>
            <a:schemeClr val="accent1"/>
          </a:solidFill>
          <a:ln/>
        </p:spPr>
      </p:sp>
      <p:sp>
        <p:nvSpPr>
          <p:cNvPr id="29" name="outline number text 7"/>
          <p:cNvSpPr txBox="1"/>
          <p:nvPr/>
        </p:nvSpPr>
        <p:spPr>
          <a:xfrm>
            <a:off x="6461608" y="4037076"/>
            <a:ext cx="566928" cy="566928"/>
          </a:xfrm>
          <a:prstGeom prst="rect">
            <a:avLst/>
          </a:prstGeom>
          <a:noFill/>
          <a:ln/>
        </p:spPr>
        <p:txBody>
          <a:bodyPr wrap="square" lIns="0" tIns="0" rIns="0" bIns="0" rtlCol="0" anchor="ctr"/>
          <a:lstStyle/>
          <a:p>
            <a:pPr algn="ctr" indent="0" marL="0">
              <a:buNone/>
            </a:pPr>
            <a:r>
              <a:rPr lang="en-US" sz="1800" b="1" dirty="0">
                <a:solidFill>
                  <a:schemeClr val="bg1"/>
                </a:solidFill>
              </a:rPr>
              <a:t>7</a:t>
            </a:r>
            <a:endParaRPr lang="en-US" sz="1800" dirty="0"/>
          </a:p>
        </p:txBody>
      </p:sp>
      <p:sp>
        <p:nvSpPr>
          <p:cNvPr id="30" name="outline label 7"/>
          <p:cNvSpPr txBox="1"/>
          <p:nvPr/>
        </p:nvSpPr>
        <p:spPr>
          <a:xfrm>
            <a:off x="7238848" y="3840480"/>
            <a:ext cx="4175608" cy="960120"/>
          </a:xfrm>
          <a:prstGeom prst="rect">
            <a:avLst/>
          </a:prstGeom>
          <a:noFill/>
          <a:ln/>
        </p:spPr>
        <p:txBody>
          <a:bodyPr wrap="square" lIns="0" tIns="0" rIns="0" bIns="0" rtlCol="0" anchor="ctr"/>
          <a:lstStyle/>
          <a:p>
            <a:pPr indent="0" marL="0">
              <a:buNone/>
            </a:pPr>
            <a:r>
              <a:rPr lang="en-US" sz="1800" b="1" dirty="0">
                <a:solidFill>
                  <a:schemeClr val="tx2"/>
                </a:solidFill>
              </a:rPr>
              <a:t>Technology &amp; Evaluation Plan</a:t>
            </a:r>
            <a:endParaRPr lang="en-US" sz="1800" dirty="0"/>
          </a:p>
        </p:txBody>
      </p:sp>
      <p:sp>
        <p:nvSpPr>
          <p:cNvPr id="31" name="outline item 8"/>
          <p:cNvSpPr/>
          <p:nvPr/>
        </p:nvSpPr>
        <p:spPr>
          <a:xfrm>
            <a:off x="6233008" y="5074920"/>
            <a:ext cx="5410048" cy="960120"/>
          </a:xfrm>
          <a:prstGeom prst="roundRect">
            <a:avLst>
              <a:gd name="adj" fmla="val 11429"/>
            </a:avLst>
          </a:prstGeom>
          <a:solidFill>
            <a:schemeClr val="bg2"/>
          </a:solidFill>
          <a:ln/>
        </p:spPr>
      </p:sp>
      <p:sp>
        <p:nvSpPr>
          <p:cNvPr id="32" name="outline number 8"/>
          <p:cNvSpPr/>
          <p:nvPr/>
        </p:nvSpPr>
        <p:spPr>
          <a:xfrm>
            <a:off x="6461608" y="5271516"/>
            <a:ext cx="566928" cy="566928"/>
          </a:xfrm>
          <a:prstGeom prst="ellipse">
            <a:avLst/>
          </a:prstGeom>
          <a:solidFill>
            <a:schemeClr val="accent1"/>
          </a:solidFill>
          <a:ln/>
        </p:spPr>
      </p:sp>
      <p:sp>
        <p:nvSpPr>
          <p:cNvPr id="33" name="outline number text 8"/>
          <p:cNvSpPr txBox="1"/>
          <p:nvPr/>
        </p:nvSpPr>
        <p:spPr>
          <a:xfrm>
            <a:off x="6461608" y="5271516"/>
            <a:ext cx="566928" cy="566928"/>
          </a:xfrm>
          <a:prstGeom prst="rect">
            <a:avLst/>
          </a:prstGeom>
          <a:noFill/>
          <a:ln/>
        </p:spPr>
        <p:txBody>
          <a:bodyPr wrap="square" lIns="0" tIns="0" rIns="0" bIns="0" rtlCol="0" anchor="ctr"/>
          <a:lstStyle/>
          <a:p>
            <a:pPr algn="ctr" indent="0" marL="0">
              <a:buNone/>
            </a:pPr>
            <a:r>
              <a:rPr lang="en-US" sz="1800" b="1" dirty="0">
                <a:solidFill>
                  <a:schemeClr val="bg1"/>
                </a:solidFill>
              </a:rPr>
              <a:t>8</a:t>
            </a:r>
            <a:endParaRPr lang="en-US" sz="1800" dirty="0"/>
          </a:p>
        </p:txBody>
      </p:sp>
      <p:sp>
        <p:nvSpPr>
          <p:cNvPr id="34" name="outline label 8"/>
          <p:cNvSpPr txBox="1"/>
          <p:nvPr/>
        </p:nvSpPr>
        <p:spPr>
          <a:xfrm>
            <a:off x="7238848" y="5074920"/>
            <a:ext cx="4175608" cy="960120"/>
          </a:xfrm>
          <a:prstGeom prst="rect">
            <a:avLst/>
          </a:prstGeom>
          <a:noFill/>
          <a:ln/>
        </p:spPr>
        <p:txBody>
          <a:bodyPr wrap="square" lIns="0" tIns="0" rIns="0" bIns="0" rtlCol="0" anchor="ctr"/>
          <a:lstStyle/>
          <a:p>
            <a:pPr indent="0" marL="0">
              <a:buNone/>
            </a:pPr>
            <a:r>
              <a:rPr lang="en-US" sz="1800" b="1" dirty="0">
                <a:solidFill>
                  <a:schemeClr val="tx2"/>
                </a:solidFill>
              </a:rPr>
              <a:t>Conclusion &amp; Future Scope</a:t>
            </a:r>
            <a:endParaRPr lang="en-US" sz="1800" dirty="0"/>
          </a:p>
        </p:txBody>
      </p:sp>
      <p:sp>
        <p:nvSpPr>
          <p:cNvPr id="35" name="Slide Number Placeholder 0"/>
          <p:cNvSpPr>
            <a:spLocks noGrp="1"/>
          </p:cNvSpPr>
          <p:nvPr>
            <p:ph type="sldNum" sz="quarter" idx="4294967295"/>
          </p:nvPr>
        </p:nvSpPr>
        <p:spPr>
          <a:xfrm>
            <a:off x="11201400" y="6382512"/>
            <a:ext cx="438912" cy="27432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E6E73"/>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94415" cy="777240"/>
          </a:xfrm>
          <a:prstGeom prst="rect">
            <a:avLst/>
          </a:prstGeom>
          <a:noFill/>
          <a:ln/>
        </p:spPr>
        <p:txBody>
          <a:bodyPr wrap="square" lIns="0" tIns="0" rIns="0" bIns="0" rtlCol="0" anchor="ctr"/>
          <a:lstStyle/>
          <a:p>
            <a:pPr algn="l" indent="0" marL="0">
              <a:buNone/>
            </a:pPr>
            <a:r>
              <a:rPr lang="en-US" sz="3400" b="1" dirty="0">
                <a:solidFill>
                  <a:schemeClr val="tx2"/>
                </a:solidFill>
                <a:latin typeface="+mj-lt" pitchFamily="34" charset="0"/>
                <a:ea typeface="+mj-lt" pitchFamily="34" charset="-122"/>
                <a:cs typeface="+mj-lt" pitchFamily="34" charset="-120"/>
              </a:rPr>
              <a:t>Introduction &amp; Motivation</a:t>
            </a:r>
            <a:endParaRPr lang="en-US" sz="3400" dirty="0"/>
          </a:p>
        </p:txBody>
      </p:sp>
      <p:sp>
        <p:nvSpPr>
          <p:cNvPr id="3" name="intro text"/>
          <p:cNvSpPr txBox="1"/>
          <p:nvPr/>
        </p:nvSpPr>
        <p:spPr>
          <a:xfrm>
            <a:off x="548640" y="1371600"/>
            <a:ext cx="4892040" cy="3017520"/>
          </a:xfrm>
          <a:prstGeom prst="rect">
            <a:avLst/>
          </a:prstGeom>
          <a:noFill/>
          <a:ln/>
        </p:spPr>
        <p:txBody>
          <a:bodyPr wrap="square" lIns="0" tIns="0" rIns="0" bIns="0" rtlCol="0" anchor="t"/>
          <a:lstStyle/>
          <a:p>
            <a:pPr indent="0" marL="0">
              <a:lnSpc>
                <a:spcPct val="110000"/>
              </a:lnSpc>
              <a:spcAft>
                <a:spcPts val="1400"/>
              </a:spcAft>
              <a:buNone/>
            </a:pPr>
            <a:r>
              <a:rPr lang="en-US" sz="1700" dirty="0">
                <a:solidFill>
                  <a:schemeClr val="tx1"/>
                </a:solidFill>
              </a:rPr>
              <a:t>Clinical decision support systems (CDSS) help clinicians interpret patient data through alerts, risk estimates and suggested next steps.</a:t>
            </a:r>
            <a:endParaRPr lang="en-US" sz="1700" dirty="0"/>
          </a:p>
          <a:p>
            <a:pPr indent="0" marL="0">
              <a:lnSpc>
                <a:spcPct val="110000"/>
              </a:lnSpc>
              <a:spcAft>
                <a:spcPts val="1400"/>
              </a:spcAft>
              <a:buNone/>
            </a:pPr>
            <a:r>
              <a:rPr lang="en-US" sz="1700" dirty="0">
                <a:solidFill>
                  <a:schemeClr val="tx1"/>
                </a:solidFill>
              </a:rPr>
              <a:t>Large language models (LLMs) have widened what these systems can do, yet reviews keep reporting the same weaknesses: calibration, validation and transparency [7].</a:t>
            </a:r>
            <a:endParaRPr lang="en-US" sz="1700" dirty="0"/>
          </a:p>
        </p:txBody>
      </p:sp>
      <p:sp>
        <p:nvSpPr>
          <p:cNvPr id="4" name="goal card"/>
          <p:cNvSpPr/>
          <p:nvPr/>
        </p:nvSpPr>
        <p:spPr>
          <a:xfrm>
            <a:off x="548640" y="4663440"/>
            <a:ext cx="4892040" cy="1371600"/>
          </a:xfrm>
          <a:prstGeom prst="roundRect">
            <a:avLst>
              <a:gd name="adj" fmla="val 8000"/>
            </a:avLst>
          </a:prstGeom>
          <a:solidFill>
            <a:schemeClr val="accent1"/>
          </a:solidFill>
          <a:ln/>
        </p:spPr>
      </p:sp>
      <p:sp>
        <p:nvSpPr>
          <p:cNvPr id="5" name="goal circle"/>
          <p:cNvSpPr/>
          <p:nvPr/>
        </p:nvSpPr>
        <p:spPr>
          <a:xfrm>
            <a:off x="822960" y="5056632"/>
            <a:ext cx="585216" cy="585216"/>
          </a:xfrm>
          <a:prstGeom prst="ellipse">
            <a:avLst/>
          </a:prstGeom>
          <a:solidFill>
            <a:schemeClr val="bg1"/>
          </a:solidFill>
          <a:ln/>
        </p:spPr>
      </p:sp>
      <p:pic>
        <p:nvPicPr>
          <p:cNvPr id="6" name="goal icon" descr="preencoded.png">    </p:cNvPr>
          <p:cNvPicPr>
            <a:picLocks noChangeAspect="1"/>
          </p:cNvPicPr>
          <p:nvPr/>
        </p:nvPicPr>
        <p:blipFill>
          <a:blip r:embed="rId1"/>
          <a:stretch>
            <a:fillRect/>
          </a:stretch>
        </p:blipFill>
        <p:spPr>
          <a:xfrm>
            <a:off x="963412" y="5197084"/>
            <a:ext cx="304312" cy="304312"/>
          </a:xfrm>
          <a:prstGeom prst="rect">
            <a:avLst/>
          </a:prstGeom>
        </p:spPr>
      </p:pic>
      <p:sp>
        <p:nvSpPr>
          <p:cNvPr id="7" name="goal text"/>
          <p:cNvSpPr txBox="1"/>
          <p:nvPr/>
        </p:nvSpPr>
        <p:spPr>
          <a:xfrm>
            <a:off x="1591056" y="4663440"/>
            <a:ext cx="3575304" cy="1371600"/>
          </a:xfrm>
          <a:prstGeom prst="rect">
            <a:avLst/>
          </a:prstGeom>
          <a:noFill/>
          <a:ln/>
        </p:spPr>
        <p:txBody>
          <a:bodyPr wrap="square" lIns="0" tIns="0" rIns="0" bIns="0" rtlCol="0" anchor="ctr"/>
          <a:lstStyle/>
          <a:p>
            <a:pPr indent="0" marL="0">
              <a:buNone/>
            </a:pPr>
            <a:r>
              <a:rPr lang="en-US" sz="1700" b="1" dirty="0">
                <a:solidFill>
                  <a:schemeClr val="bg1"/>
                </a:solidFill>
              </a:rPr>
              <a:t>Our goal: </a:t>
            </a:r>
            <a:pPr indent="0" marL="0">
              <a:buNone/>
            </a:pPr>
            <a:r>
              <a:rPr lang="en-US" sz="1700" dirty="0">
                <a:solidFill>
                  <a:schemeClr val="bg1"/>
                </a:solidFill>
              </a:rPr>
              <a:t>every recommendation should carry its own record of how it was reached.</a:t>
            </a:r>
            <a:endParaRPr lang="en-US" sz="1700" dirty="0"/>
          </a:p>
        </p:txBody>
      </p:sp>
      <p:sp>
        <p:nvSpPr>
          <p:cNvPr id="8" name="motivation card 1"/>
          <p:cNvSpPr/>
          <p:nvPr/>
        </p:nvSpPr>
        <p:spPr>
          <a:xfrm>
            <a:off x="5806440" y="1371600"/>
            <a:ext cx="5836615" cy="1371600"/>
          </a:xfrm>
          <a:prstGeom prst="roundRect">
            <a:avLst>
              <a:gd name="adj" fmla="val 8000"/>
            </a:avLst>
          </a:prstGeom>
          <a:solidFill>
            <a:schemeClr val="bg2"/>
          </a:solidFill>
          <a:ln/>
        </p:spPr>
      </p:sp>
      <p:sp>
        <p:nvSpPr>
          <p:cNvPr id="9" name="motivation 1 circle"/>
          <p:cNvSpPr/>
          <p:nvPr/>
        </p:nvSpPr>
        <p:spPr>
          <a:xfrm>
            <a:off x="6080760" y="1764792"/>
            <a:ext cx="585216" cy="585216"/>
          </a:xfrm>
          <a:prstGeom prst="ellipse">
            <a:avLst/>
          </a:prstGeom>
          <a:solidFill>
            <a:schemeClr val="accent1"/>
          </a:solidFill>
          <a:ln/>
        </p:spPr>
      </p:sp>
      <p:pic>
        <p:nvPicPr>
          <p:cNvPr id="10" name="motivation 1 icon" descr="preencoded.png">    </p:cNvPr>
          <p:cNvPicPr>
            <a:picLocks noChangeAspect="1"/>
          </p:cNvPicPr>
          <p:nvPr/>
        </p:nvPicPr>
        <p:blipFill>
          <a:blip r:embed="rId2"/>
          <a:stretch>
            <a:fillRect/>
          </a:stretch>
        </p:blipFill>
        <p:spPr>
          <a:xfrm>
            <a:off x="6221212" y="1905244"/>
            <a:ext cx="304312" cy="304312"/>
          </a:xfrm>
          <a:prstGeom prst="rect">
            <a:avLst/>
          </a:prstGeom>
        </p:spPr>
      </p:pic>
      <p:sp>
        <p:nvSpPr>
          <p:cNvPr id="11" name="motivation text 1"/>
          <p:cNvSpPr txBox="1"/>
          <p:nvPr/>
        </p:nvSpPr>
        <p:spPr>
          <a:xfrm>
            <a:off x="6848856" y="1371600"/>
            <a:ext cx="4519879" cy="1371600"/>
          </a:xfrm>
          <a:prstGeom prst="rect">
            <a:avLst/>
          </a:prstGeom>
          <a:noFill/>
          <a:ln/>
        </p:spPr>
        <p:txBody>
          <a:bodyPr wrap="square" lIns="0" tIns="0" rIns="0" bIns="0" rtlCol="0" anchor="ctr"/>
          <a:lstStyle/>
          <a:p>
            <a:pPr indent="0" marL="0">
              <a:spcAft>
                <a:spcPts val="300"/>
              </a:spcAft>
              <a:buNone/>
            </a:pPr>
            <a:r>
              <a:rPr lang="en-US" sz="1600" b="1" dirty="0">
                <a:solidFill>
                  <a:schemeClr val="tx2"/>
                </a:solidFill>
              </a:rPr>
              <a:t>Messy real-world data</a:t>
            </a:r>
            <a:endParaRPr lang="en-US" sz="1400" dirty="0"/>
          </a:p>
          <a:p>
            <a:pPr indent="0" marL="0">
              <a:spcAft>
                <a:spcPts val="300"/>
              </a:spcAft>
              <a:buNone/>
            </a:pPr>
            <a:r>
              <a:rPr lang="en-US" sz="1400" dirty="0">
                <a:solidFill>
                  <a:schemeClr val="tx1"/>
                </a:solidFill>
              </a:rPr>
              <a:t>One record can hold missing fields, mixed units, repeated observations and free-text notes.</a:t>
            </a:r>
            <a:endParaRPr lang="en-US" sz="1400" dirty="0"/>
          </a:p>
        </p:txBody>
      </p:sp>
      <p:sp>
        <p:nvSpPr>
          <p:cNvPr id="12" name="motivation card 2"/>
          <p:cNvSpPr/>
          <p:nvPr/>
        </p:nvSpPr>
        <p:spPr>
          <a:xfrm>
            <a:off x="5806440" y="3017520"/>
            <a:ext cx="5836615" cy="1371600"/>
          </a:xfrm>
          <a:prstGeom prst="roundRect">
            <a:avLst>
              <a:gd name="adj" fmla="val 8000"/>
            </a:avLst>
          </a:prstGeom>
          <a:solidFill>
            <a:schemeClr val="bg2"/>
          </a:solidFill>
          <a:ln/>
        </p:spPr>
      </p:sp>
      <p:sp>
        <p:nvSpPr>
          <p:cNvPr id="13" name="motivation 2 circle"/>
          <p:cNvSpPr/>
          <p:nvPr/>
        </p:nvSpPr>
        <p:spPr>
          <a:xfrm>
            <a:off x="6080760" y="3410712"/>
            <a:ext cx="585216" cy="585216"/>
          </a:xfrm>
          <a:prstGeom prst="ellipse">
            <a:avLst/>
          </a:prstGeom>
          <a:solidFill>
            <a:schemeClr val="accent1"/>
          </a:solidFill>
          <a:ln/>
        </p:spPr>
      </p:sp>
      <p:pic>
        <p:nvPicPr>
          <p:cNvPr id="14" name="motivation 2 icon" descr="preencoded.png">    </p:cNvPr>
          <p:cNvPicPr>
            <a:picLocks noChangeAspect="1"/>
          </p:cNvPicPr>
          <p:nvPr/>
        </p:nvPicPr>
        <p:blipFill>
          <a:blip r:embed="rId3"/>
          <a:stretch>
            <a:fillRect/>
          </a:stretch>
        </p:blipFill>
        <p:spPr>
          <a:xfrm>
            <a:off x="6221212" y="3551164"/>
            <a:ext cx="304312" cy="304312"/>
          </a:xfrm>
          <a:prstGeom prst="rect">
            <a:avLst/>
          </a:prstGeom>
        </p:spPr>
      </p:pic>
      <p:sp>
        <p:nvSpPr>
          <p:cNvPr id="15" name="motivation text 2"/>
          <p:cNvSpPr txBox="1"/>
          <p:nvPr/>
        </p:nvSpPr>
        <p:spPr>
          <a:xfrm>
            <a:off x="6848856" y="3017520"/>
            <a:ext cx="4519879" cy="1371600"/>
          </a:xfrm>
          <a:prstGeom prst="rect">
            <a:avLst/>
          </a:prstGeom>
          <a:noFill/>
          <a:ln/>
        </p:spPr>
        <p:txBody>
          <a:bodyPr wrap="square" lIns="0" tIns="0" rIns="0" bIns="0" rtlCol="0" anchor="ctr"/>
          <a:lstStyle/>
          <a:p>
            <a:pPr indent="0" marL="0">
              <a:spcAft>
                <a:spcPts val="300"/>
              </a:spcAft>
              <a:buNone/>
            </a:pPr>
            <a:r>
              <a:rPr lang="en-US" sz="1600" b="1" dirty="0">
                <a:solidFill>
                  <a:schemeClr val="tx2"/>
                </a:solidFill>
              </a:rPr>
              <a:t>Opaque recommendations</a:t>
            </a:r>
            <a:endParaRPr lang="en-US" sz="1400" dirty="0"/>
          </a:p>
          <a:p>
            <a:pPr indent="0" marL="0">
              <a:spcAft>
                <a:spcPts val="300"/>
              </a:spcAft>
              <a:buNone/>
            </a:pPr>
            <a:r>
              <a:rPr lang="en-US" sz="1400" dirty="0">
                <a:solidFill>
                  <a:schemeClr val="tx1"/>
                </a:solidFill>
              </a:rPr>
              <a:t>When one generative model writes the answer, nobody can see which evidence produced it.</a:t>
            </a:r>
            <a:endParaRPr lang="en-US" sz="1400" dirty="0"/>
          </a:p>
        </p:txBody>
      </p:sp>
      <p:sp>
        <p:nvSpPr>
          <p:cNvPr id="16" name="motivation card 3"/>
          <p:cNvSpPr/>
          <p:nvPr/>
        </p:nvSpPr>
        <p:spPr>
          <a:xfrm>
            <a:off x="5806440" y="4663440"/>
            <a:ext cx="5836615" cy="1371600"/>
          </a:xfrm>
          <a:prstGeom prst="roundRect">
            <a:avLst>
              <a:gd name="adj" fmla="val 8000"/>
            </a:avLst>
          </a:prstGeom>
          <a:solidFill>
            <a:schemeClr val="bg2"/>
          </a:solidFill>
          <a:ln/>
        </p:spPr>
      </p:sp>
      <p:sp>
        <p:nvSpPr>
          <p:cNvPr id="17" name="motivation 3 circle"/>
          <p:cNvSpPr/>
          <p:nvPr/>
        </p:nvSpPr>
        <p:spPr>
          <a:xfrm>
            <a:off x="6080760" y="5056632"/>
            <a:ext cx="585216" cy="585216"/>
          </a:xfrm>
          <a:prstGeom prst="ellipse">
            <a:avLst/>
          </a:prstGeom>
          <a:solidFill>
            <a:schemeClr val="accent1"/>
          </a:solidFill>
          <a:ln/>
        </p:spPr>
      </p:sp>
      <p:pic>
        <p:nvPicPr>
          <p:cNvPr id="18" name="motivation 3 icon" descr="preencoded.png">    </p:cNvPr>
          <p:cNvPicPr>
            <a:picLocks noChangeAspect="1"/>
          </p:cNvPicPr>
          <p:nvPr/>
        </p:nvPicPr>
        <p:blipFill>
          <a:blip r:embed="rId4"/>
          <a:stretch>
            <a:fillRect/>
          </a:stretch>
        </p:blipFill>
        <p:spPr>
          <a:xfrm>
            <a:off x="6221212" y="5197084"/>
            <a:ext cx="304312" cy="304312"/>
          </a:xfrm>
          <a:prstGeom prst="rect">
            <a:avLst/>
          </a:prstGeom>
        </p:spPr>
      </p:pic>
      <p:sp>
        <p:nvSpPr>
          <p:cNvPr id="19" name="motivation text 3"/>
          <p:cNvSpPr txBox="1"/>
          <p:nvPr/>
        </p:nvSpPr>
        <p:spPr>
          <a:xfrm>
            <a:off x="6848856" y="4663440"/>
            <a:ext cx="4519879" cy="1371600"/>
          </a:xfrm>
          <a:prstGeom prst="rect">
            <a:avLst/>
          </a:prstGeom>
          <a:noFill/>
          <a:ln/>
        </p:spPr>
        <p:txBody>
          <a:bodyPr wrap="square" lIns="0" tIns="0" rIns="0" bIns="0" rtlCol="0" anchor="ctr"/>
          <a:lstStyle/>
          <a:p>
            <a:pPr indent="0" marL="0">
              <a:spcAft>
                <a:spcPts val="300"/>
              </a:spcAft>
              <a:buNone/>
            </a:pPr>
            <a:r>
              <a:rPr lang="en-US" sz="1600" b="1" dirty="0">
                <a:solidFill>
                  <a:schemeClr val="tx2"/>
                </a:solidFill>
              </a:rPr>
              <a:t>Clinicians must verify</a:t>
            </a:r>
            <a:endParaRPr lang="en-US" sz="1400" dirty="0"/>
          </a:p>
          <a:p>
            <a:pPr indent="0" marL="0">
              <a:spcAft>
                <a:spcPts val="300"/>
              </a:spcAft>
              <a:buNone/>
            </a:pPr>
            <a:r>
              <a:rPr lang="en-US" sz="1400" dirty="0">
                <a:solidFill>
                  <a:schemeClr val="tx1"/>
                </a:solidFill>
              </a:rPr>
              <a:t>Model output, rules fired, sources and versions should travel with every recommendation.</a:t>
            </a:r>
            <a:endParaRPr lang="en-US" sz="1400" dirty="0"/>
          </a:p>
        </p:txBody>
      </p:sp>
      <p:sp>
        <p:nvSpPr>
          <p:cNvPr id="25" name="Slide Number Placeholder 0"/>
          <p:cNvSpPr>
            <a:spLocks noGrp="1"/>
          </p:cNvSpPr>
          <p:nvPr>
            <p:ph type="sldNum" sz="quarter" idx="4294967295"/>
          </p:nvPr>
        </p:nvSpPr>
        <p:spPr>
          <a:xfrm>
            <a:off x="11201400" y="6382512"/>
            <a:ext cx="438912" cy="27432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E6E73"/>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94415" cy="777240"/>
          </a:xfrm>
          <a:prstGeom prst="rect">
            <a:avLst/>
          </a:prstGeom>
          <a:noFill/>
          <a:ln/>
        </p:spPr>
        <p:txBody>
          <a:bodyPr wrap="square" lIns="0" tIns="0" rIns="0" bIns="0" rtlCol="0" anchor="ctr"/>
          <a:lstStyle/>
          <a:p>
            <a:pPr algn="l" indent="0" marL="0">
              <a:buNone/>
            </a:pPr>
            <a:r>
              <a:rPr lang="en-US" sz="3400" b="1" dirty="0">
                <a:solidFill>
                  <a:schemeClr val="tx2"/>
                </a:solidFill>
                <a:latin typeface="+mj-lt" pitchFamily="34" charset="0"/>
                <a:ea typeface="+mj-lt" pitchFamily="34" charset="-122"/>
                <a:cs typeface="+mj-lt" pitchFamily="34" charset="-120"/>
              </a:rPr>
              <a:t>Problem Statement &amp; Objectives</a:t>
            </a:r>
            <a:endParaRPr lang="en-US" sz="3400" dirty="0"/>
          </a:p>
        </p:txBody>
      </p:sp>
      <p:sp>
        <p:nvSpPr>
          <p:cNvPr id="3" name="problem card"/>
          <p:cNvSpPr/>
          <p:nvPr/>
        </p:nvSpPr>
        <p:spPr>
          <a:xfrm>
            <a:off x="548640" y="1371600"/>
            <a:ext cx="4206240" cy="4663440"/>
          </a:xfrm>
          <a:prstGeom prst="roundRect">
            <a:avLst>
              <a:gd name="adj" fmla="val 2609"/>
            </a:avLst>
          </a:prstGeom>
          <a:solidFill>
            <a:schemeClr val="bg2"/>
          </a:solidFill>
          <a:ln/>
        </p:spPr>
      </p:sp>
      <p:sp>
        <p:nvSpPr>
          <p:cNvPr id="4" name="problem circle"/>
          <p:cNvSpPr/>
          <p:nvPr/>
        </p:nvSpPr>
        <p:spPr>
          <a:xfrm>
            <a:off x="822960" y="1645920"/>
            <a:ext cx="585216" cy="585216"/>
          </a:xfrm>
          <a:prstGeom prst="ellipse">
            <a:avLst/>
          </a:prstGeom>
          <a:solidFill>
            <a:schemeClr val="accent2"/>
          </a:solidFill>
          <a:ln/>
        </p:spPr>
      </p:sp>
      <p:pic>
        <p:nvPicPr>
          <p:cNvPr id="5" name="problem icon" descr="preencoded.png">    </p:cNvPr>
          <p:cNvPicPr>
            <a:picLocks noChangeAspect="1"/>
          </p:cNvPicPr>
          <p:nvPr/>
        </p:nvPicPr>
        <p:blipFill>
          <a:blip r:embed="rId1"/>
          <a:stretch>
            <a:fillRect/>
          </a:stretch>
        </p:blipFill>
        <p:spPr>
          <a:xfrm>
            <a:off x="963412" y="1786372"/>
            <a:ext cx="304312" cy="304312"/>
          </a:xfrm>
          <a:prstGeom prst="rect">
            <a:avLst/>
          </a:prstGeom>
        </p:spPr>
      </p:pic>
      <p:sp>
        <p:nvSpPr>
          <p:cNvPr id="6" name="problem heading"/>
          <p:cNvSpPr txBox="1"/>
          <p:nvPr/>
        </p:nvSpPr>
        <p:spPr>
          <a:xfrm>
            <a:off x="1591056" y="1645920"/>
            <a:ext cx="4206240" cy="585216"/>
          </a:xfrm>
          <a:prstGeom prst="rect">
            <a:avLst/>
          </a:prstGeom>
          <a:noFill/>
          <a:ln/>
        </p:spPr>
        <p:txBody>
          <a:bodyPr wrap="square" lIns="0" tIns="0" rIns="0" bIns="0" rtlCol="0" anchor="ctr"/>
          <a:lstStyle/>
          <a:p>
            <a:pPr indent="0" marL="0">
              <a:buNone/>
            </a:pPr>
            <a:r>
              <a:rPr lang="en-US" sz="2000" b="1" dirty="0">
                <a:solidFill>
                  <a:schemeClr val="tx2"/>
                </a:solidFill>
                <a:latin typeface="+mj-lt" pitchFamily="34" charset="0"/>
                <a:ea typeface="+mj-lt" pitchFamily="34" charset="-122"/>
                <a:cs typeface="+mj-lt" pitchFamily="34" charset="-120"/>
              </a:rPr>
              <a:t>Problem Statement</a:t>
            </a:r>
            <a:endParaRPr lang="en-US" sz="2000" dirty="0"/>
          </a:p>
        </p:txBody>
      </p:sp>
      <p:sp>
        <p:nvSpPr>
          <p:cNvPr id="7" name="problem text"/>
          <p:cNvSpPr txBox="1"/>
          <p:nvPr/>
        </p:nvSpPr>
        <p:spPr>
          <a:xfrm>
            <a:off x="822960" y="2468880"/>
            <a:ext cx="3657600" cy="3291840"/>
          </a:xfrm>
          <a:prstGeom prst="rect">
            <a:avLst/>
          </a:prstGeom>
          <a:noFill/>
          <a:ln/>
        </p:spPr>
        <p:txBody>
          <a:bodyPr wrap="square" lIns="0" tIns="0" rIns="0" bIns="0" rtlCol="0" anchor="t"/>
          <a:lstStyle/>
          <a:p>
            <a:pPr indent="0" marL="0">
              <a:lnSpc>
                <a:spcPct val="110000"/>
              </a:lnSpc>
              <a:buNone/>
            </a:pPr>
            <a:r>
              <a:rPr lang="en-US" sz="1700" dirty="0">
                <a:solidFill>
                  <a:schemeClr val="tx1"/>
                </a:solidFill>
              </a:rPr>
              <a:t>Design an implementable, modular pipeline for patient-level decision support that accepts imperfect patient data, keeps learned, rule-based and retrieved evidence separate, combines it through an explicit confidence function and gives clinicians a traceable report, while processing many patients in parallel without mixing their contexts.</a:t>
            </a:r>
            <a:endParaRPr lang="en-US" sz="1700" dirty="0"/>
          </a:p>
        </p:txBody>
      </p:sp>
      <p:sp>
        <p:nvSpPr>
          <p:cNvPr id="8" name="objectives card"/>
          <p:cNvSpPr/>
          <p:nvPr/>
        </p:nvSpPr>
        <p:spPr>
          <a:xfrm>
            <a:off x="5029200" y="1371600"/>
            <a:ext cx="6613855" cy="4663440"/>
          </a:xfrm>
          <a:prstGeom prst="roundRect">
            <a:avLst>
              <a:gd name="adj" fmla="val 2353"/>
            </a:avLst>
          </a:prstGeom>
          <a:solidFill>
            <a:schemeClr val="bg2"/>
          </a:solidFill>
          <a:ln/>
        </p:spPr>
      </p:sp>
      <p:sp>
        <p:nvSpPr>
          <p:cNvPr id="9" name="objectives circle"/>
          <p:cNvSpPr/>
          <p:nvPr/>
        </p:nvSpPr>
        <p:spPr>
          <a:xfrm>
            <a:off x="5303520" y="1645920"/>
            <a:ext cx="585216" cy="585216"/>
          </a:xfrm>
          <a:prstGeom prst="ellipse">
            <a:avLst/>
          </a:prstGeom>
          <a:solidFill>
            <a:schemeClr val="accent1"/>
          </a:solidFill>
          <a:ln/>
        </p:spPr>
      </p:sp>
      <p:pic>
        <p:nvPicPr>
          <p:cNvPr id="10" name="objectives icon" descr="preencoded.png">    </p:cNvPr>
          <p:cNvPicPr>
            <a:picLocks noChangeAspect="1"/>
          </p:cNvPicPr>
          <p:nvPr/>
        </p:nvPicPr>
        <p:blipFill>
          <a:blip r:embed="rId2"/>
          <a:stretch>
            <a:fillRect/>
          </a:stretch>
        </p:blipFill>
        <p:spPr>
          <a:xfrm>
            <a:off x="5443972" y="1786372"/>
            <a:ext cx="304312" cy="304312"/>
          </a:xfrm>
          <a:prstGeom prst="rect">
            <a:avLst/>
          </a:prstGeom>
        </p:spPr>
      </p:pic>
      <p:sp>
        <p:nvSpPr>
          <p:cNvPr id="11" name="objectives heading"/>
          <p:cNvSpPr txBox="1"/>
          <p:nvPr/>
        </p:nvSpPr>
        <p:spPr>
          <a:xfrm>
            <a:off x="6071616" y="1645920"/>
            <a:ext cx="4206240" cy="585216"/>
          </a:xfrm>
          <a:prstGeom prst="rect">
            <a:avLst/>
          </a:prstGeom>
          <a:noFill/>
          <a:ln/>
        </p:spPr>
        <p:txBody>
          <a:bodyPr wrap="square" lIns="0" tIns="0" rIns="0" bIns="0" rtlCol="0" anchor="ctr"/>
          <a:lstStyle/>
          <a:p>
            <a:pPr indent="0" marL="0">
              <a:buNone/>
            </a:pPr>
            <a:r>
              <a:rPr lang="en-US" sz="2000" b="1" dirty="0">
                <a:solidFill>
                  <a:schemeClr val="tx2"/>
                </a:solidFill>
                <a:latin typeface="+mj-lt" pitchFamily="34" charset="0"/>
                <a:ea typeface="+mj-lt" pitchFamily="34" charset="-122"/>
                <a:cs typeface="+mj-lt" pitchFamily="34" charset="-120"/>
              </a:rPr>
              <a:t>Objectives</a:t>
            </a:r>
            <a:endParaRPr lang="en-US" sz="2000" dirty="0"/>
          </a:p>
        </p:txBody>
      </p:sp>
      <p:sp>
        <p:nvSpPr>
          <p:cNvPr id="12" name="objective 1 circle"/>
          <p:cNvSpPr/>
          <p:nvPr/>
        </p:nvSpPr>
        <p:spPr>
          <a:xfrm>
            <a:off x="5367528" y="2514600"/>
            <a:ext cx="457200" cy="457200"/>
          </a:xfrm>
          <a:prstGeom prst="ellipse">
            <a:avLst/>
          </a:prstGeom>
          <a:solidFill>
            <a:schemeClr val="accent1"/>
          </a:solidFill>
          <a:ln/>
        </p:spPr>
      </p:sp>
      <p:pic>
        <p:nvPicPr>
          <p:cNvPr id="13" name="objective 1 icon" descr="preencoded.png">    </p:cNvPr>
          <p:cNvPicPr>
            <a:picLocks noChangeAspect="1"/>
          </p:cNvPicPr>
          <p:nvPr/>
        </p:nvPicPr>
        <p:blipFill>
          <a:blip r:embed="rId3"/>
          <a:stretch>
            <a:fillRect/>
          </a:stretch>
        </p:blipFill>
        <p:spPr>
          <a:xfrm>
            <a:off x="5477256" y="2624328"/>
            <a:ext cx="237744" cy="237744"/>
          </a:xfrm>
          <a:prstGeom prst="rect">
            <a:avLst/>
          </a:prstGeom>
        </p:spPr>
      </p:pic>
      <p:sp>
        <p:nvSpPr>
          <p:cNvPr id="14" name="objective text 1"/>
          <p:cNvSpPr txBox="1"/>
          <p:nvPr/>
        </p:nvSpPr>
        <p:spPr>
          <a:xfrm>
            <a:off x="6071616" y="2468880"/>
            <a:ext cx="4154119" cy="548640"/>
          </a:xfrm>
          <a:prstGeom prst="rect">
            <a:avLst/>
          </a:prstGeom>
          <a:noFill/>
          <a:ln/>
        </p:spPr>
        <p:txBody>
          <a:bodyPr wrap="square" lIns="0" tIns="0" rIns="0" bIns="0" rtlCol="0" anchor="ctr"/>
          <a:lstStyle/>
          <a:p>
            <a:pPr indent="0" marL="0">
              <a:spcAft>
                <a:spcPts val="100"/>
              </a:spcAft>
              <a:buNone/>
            </a:pPr>
            <a:r>
              <a:rPr lang="en-US" sz="1600" b="1" dirty="0">
                <a:solidFill>
                  <a:schemeClr val="tx2"/>
                </a:solidFill>
              </a:rPr>
              <a:t>Modular architecture</a:t>
            </a:r>
            <a:endParaRPr lang="en-US" sz="1400" dirty="0"/>
          </a:p>
          <a:p>
            <a:pPr indent="0" marL="0">
              <a:spcAft>
                <a:spcPts val="100"/>
              </a:spcAft>
              <a:buNone/>
            </a:pPr>
            <a:r>
              <a:rPr lang="en-US" sz="1400" dirty="0">
                <a:solidFill>
                  <a:schemeClr val="tx1"/>
                </a:solidFill>
              </a:rPr>
              <a:t>Separate agents with defined output contracts</a:t>
            </a:r>
            <a:endParaRPr lang="en-US" sz="1400" dirty="0"/>
          </a:p>
        </p:txBody>
      </p:sp>
      <p:sp>
        <p:nvSpPr>
          <p:cNvPr id="15" name="objective stage pill 1"/>
          <p:cNvSpPr/>
          <p:nvPr/>
        </p:nvSpPr>
        <p:spPr>
          <a:xfrm>
            <a:off x="10454335" y="2587752"/>
            <a:ext cx="914400" cy="310896"/>
          </a:xfrm>
          <a:prstGeom prst="roundRect">
            <a:avLst>
              <a:gd name="adj" fmla="val 50000"/>
            </a:avLst>
          </a:prstGeom>
          <a:solidFill>
            <a:schemeClr val="accent1"/>
          </a:solidFill>
          <a:ln/>
        </p:spPr>
      </p:sp>
      <p:sp>
        <p:nvSpPr>
          <p:cNvPr id="16" name="objective stage 1"/>
          <p:cNvSpPr txBox="1"/>
          <p:nvPr/>
        </p:nvSpPr>
        <p:spPr>
          <a:xfrm>
            <a:off x="10454335" y="2587752"/>
            <a:ext cx="914400" cy="310896"/>
          </a:xfrm>
          <a:prstGeom prst="rect">
            <a:avLst/>
          </a:prstGeom>
          <a:noFill/>
          <a:ln/>
        </p:spPr>
        <p:txBody>
          <a:bodyPr wrap="square" lIns="0" tIns="0" rIns="0" bIns="0" rtlCol="0" anchor="ctr"/>
          <a:lstStyle/>
          <a:p>
            <a:pPr algn="ctr" indent="0" marL="0">
              <a:buNone/>
            </a:pPr>
            <a:r>
              <a:rPr lang="en-US" sz="1200" b="1" dirty="0">
                <a:solidFill>
                  <a:schemeClr val="bg1"/>
                </a:solidFill>
              </a:rPr>
              <a:t>Stage I</a:t>
            </a:r>
            <a:endParaRPr lang="en-US" sz="1200" dirty="0"/>
          </a:p>
        </p:txBody>
      </p:sp>
      <p:sp>
        <p:nvSpPr>
          <p:cNvPr id="17" name="objective 2 circle"/>
          <p:cNvSpPr/>
          <p:nvPr/>
        </p:nvSpPr>
        <p:spPr>
          <a:xfrm>
            <a:off x="5367528" y="3172968"/>
            <a:ext cx="457200" cy="457200"/>
          </a:xfrm>
          <a:prstGeom prst="ellipse">
            <a:avLst/>
          </a:prstGeom>
          <a:solidFill>
            <a:schemeClr val="accent1"/>
          </a:solidFill>
          <a:ln/>
        </p:spPr>
      </p:sp>
      <p:pic>
        <p:nvPicPr>
          <p:cNvPr id="18" name="objective 2 icon" descr="preencoded.png">    </p:cNvPr>
          <p:cNvPicPr>
            <a:picLocks noChangeAspect="1"/>
          </p:cNvPicPr>
          <p:nvPr/>
        </p:nvPicPr>
        <p:blipFill>
          <a:blip r:embed="rId4"/>
          <a:stretch>
            <a:fillRect/>
          </a:stretch>
        </p:blipFill>
        <p:spPr>
          <a:xfrm>
            <a:off x="5477256" y="3282696"/>
            <a:ext cx="237744" cy="237744"/>
          </a:xfrm>
          <a:prstGeom prst="rect">
            <a:avLst/>
          </a:prstGeom>
        </p:spPr>
      </p:pic>
      <p:sp>
        <p:nvSpPr>
          <p:cNvPr id="19" name="objective text 2"/>
          <p:cNvSpPr txBox="1"/>
          <p:nvPr/>
        </p:nvSpPr>
        <p:spPr>
          <a:xfrm>
            <a:off x="6071616" y="3127248"/>
            <a:ext cx="4154119" cy="548640"/>
          </a:xfrm>
          <a:prstGeom prst="rect">
            <a:avLst/>
          </a:prstGeom>
          <a:noFill/>
          <a:ln/>
        </p:spPr>
        <p:txBody>
          <a:bodyPr wrap="square" lIns="0" tIns="0" rIns="0" bIns="0" rtlCol="0" anchor="ctr"/>
          <a:lstStyle/>
          <a:p>
            <a:pPr indent="0" marL="0">
              <a:spcAft>
                <a:spcPts val="100"/>
              </a:spcAft>
              <a:buNone/>
            </a:pPr>
            <a:r>
              <a:rPr lang="en-US" sz="1600" b="1" dirty="0">
                <a:solidFill>
                  <a:schemeClr val="tx2"/>
                </a:solidFill>
              </a:rPr>
              <a:t>Traceable reporting</a:t>
            </a:r>
            <a:endParaRPr lang="en-US" sz="1400" dirty="0"/>
          </a:p>
          <a:p>
            <a:pPr indent="0" marL="0">
              <a:spcAft>
                <a:spcPts val="100"/>
              </a:spcAft>
              <a:buNone/>
            </a:pPr>
            <a:r>
              <a:rPr lang="en-US" sz="1400" dirty="0">
                <a:solidFill>
                  <a:schemeClr val="tx1"/>
                </a:solidFill>
              </a:rPr>
              <a:t>Reports link back to features, rules and sources</a:t>
            </a:r>
            <a:endParaRPr lang="en-US" sz="1400" dirty="0"/>
          </a:p>
        </p:txBody>
      </p:sp>
      <p:sp>
        <p:nvSpPr>
          <p:cNvPr id="20" name="objective stage pill 2"/>
          <p:cNvSpPr/>
          <p:nvPr/>
        </p:nvSpPr>
        <p:spPr>
          <a:xfrm>
            <a:off x="10454335" y="3246120"/>
            <a:ext cx="914400" cy="310896"/>
          </a:xfrm>
          <a:prstGeom prst="roundRect">
            <a:avLst>
              <a:gd name="adj" fmla="val 50000"/>
            </a:avLst>
          </a:prstGeom>
          <a:solidFill>
            <a:schemeClr val="accent1"/>
          </a:solidFill>
          <a:ln/>
        </p:spPr>
      </p:sp>
      <p:sp>
        <p:nvSpPr>
          <p:cNvPr id="21" name="objective stage 2"/>
          <p:cNvSpPr txBox="1"/>
          <p:nvPr/>
        </p:nvSpPr>
        <p:spPr>
          <a:xfrm>
            <a:off x="10454335" y="3246120"/>
            <a:ext cx="914400" cy="310896"/>
          </a:xfrm>
          <a:prstGeom prst="rect">
            <a:avLst/>
          </a:prstGeom>
          <a:noFill/>
          <a:ln/>
        </p:spPr>
        <p:txBody>
          <a:bodyPr wrap="square" lIns="0" tIns="0" rIns="0" bIns="0" rtlCol="0" anchor="ctr"/>
          <a:lstStyle/>
          <a:p>
            <a:pPr algn="ctr" indent="0" marL="0">
              <a:buNone/>
            </a:pPr>
            <a:r>
              <a:rPr lang="en-US" sz="1200" b="1" dirty="0">
                <a:solidFill>
                  <a:schemeClr val="bg1"/>
                </a:solidFill>
              </a:rPr>
              <a:t>Stage I</a:t>
            </a:r>
            <a:endParaRPr lang="en-US" sz="1200" dirty="0"/>
          </a:p>
        </p:txBody>
      </p:sp>
      <p:sp>
        <p:nvSpPr>
          <p:cNvPr id="22" name="objective 3 circle"/>
          <p:cNvSpPr/>
          <p:nvPr/>
        </p:nvSpPr>
        <p:spPr>
          <a:xfrm>
            <a:off x="5367528" y="3831336"/>
            <a:ext cx="457200" cy="457200"/>
          </a:xfrm>
          <a:prstGeom prst="ellipse">
            <a:avLst/>
          </a:prstGeom>
          <a:solidFill>
            <a:schemeClr val="accent1"/>
          </a:solidFill>
          <a:ln/>
        </p:spPr>
      </p:sp>
      <p:pic>
        <p:nvPicPr>
          <p:cNvPr id="23" name="objective 3 icon" descr="preencoded.png">    </p:cNvPr>
          <p:cNvPicPr>
            <a:picLocks noChangeAspect="1"/>
          </p:cNvPicPr>
          <p:nvPr/>
        </p:nvPicPr>
        <p:blipFill>
          <a:blip r:embed="rId5"/>
          <a:stretch>
            <a:fillRect/>
          </a:stretch>
        </p:blipFill>
        <p:spPr>
          <a:xfrm>
            <a:off x="5477256" y="3941064"/>
            <a:ext cx="237744" cy="237744"/>
          </a:xfrm>
          <a:prstGeom prst="rect">
            <a:avLst/>
          </a:prstGeom>
        </p:spPr>
      </p:pic>
      <p:sp>
        <p:nvSpPr>
          <p:cNvPr id="24" name="objective text 3"/>
          <p:cNvSpPr txBox="1"/>
          <p:nvPr/>
        </p:nvSpPr>
        <p:spPr>
          <a:xfrm>
            <a:off x="6071616" y="3785616"/>
            <a:ext cx="4154119" cy="548640"/>
          </a:xfrm>
          <a:prstGeom prst="rect">
            <a:avLst/>
          </a:prstGeom>
          <a:noFill/>
          <a:ln/>
        </p:spPr>
        <p:txBody>
          <a:bodyPr wrap="square" lIns="0" tIns="0" rIns="0" bIns="0" rtlCol="0" anchor="ctr"/>
          <a:lstStyle/>
          <a:p>
            <a:pPr indent="0" marL="0">
              <a:spcAft>
                <a:spcPts val="100"/>
              </a:spcAft>
              <a:buNone/>
            </a:pPr>
            <a:r>
              <a:rPr lang="en-US" sz="1600" b="1" dirty="0">
                <a:solidFill>
                  <a:schemeClr val="tx2"/>
                </a:solidFill>
              </a:rPr>
              <a:t>Parallel prototype</a:t>
            </a:r>
            <a:endParaRPr lang="en-US" sz="1400" dirty="0"/>
          </a:p>
          <a:p>
            <a:pPr indent="0" marL="0">
              <a:spcAft>
                <a:spcPts val="100"/>
              </a:spcAft>
              <a:buNone/>
            </a:pPr>
            <a:r>
              <a:rPr lang="en-US" sz="1400" dirty="0">
                <a:solidFill>
                  <a:schemeClr val="tx1"/>
                </a:solidFill>
              </a:rPr>
              <a:t>Concurrent analysis in isolated patient contexts</a:t>
            </a:r>
            <a:endParaRPr lang="en-US" sz="1400" dirty="0"/>
          </a:p>
        </p:txBody>
      </p:sp>
      <p:sp>
        <p:nvSpPr>
          <p:cNvPr id="25" name="objective stage pill 3"/>
          <p:cNvSpPr/>
          <p:nvPr/>
        </p:nvSpPr>
        <p:spPr>
          <a:xfrm>
            <a:off x="10454335" y="3904488"/>
            <a:ext cx="914400" cy="310896"/>
          </a:xfrm>
          <a:prstGeom prst="roundRect">
            <a:avLst>
              <a:gd name="adj" fmla="val 50000"/>
            </a:avLst>
          </a:prstGeom>
          <a:solidFill>
            <a:schemeClr val="accent4"/>
          </a:solidFill>
          <a:ln/>
        </p:spPr>
      </p:sp>
      <p:sp>
        <p:nvSpPr>
          <p:cNvPr id="26" name="objective stage 3"/>
          <p:cNvSpPr txBox="1"/>
          <p:nvPr/>
        </p:nvSpPr>
        <p:spPr>
          <a:xfrm>
            <a:off x="10454335" y="3904488"/>
            <a:ext cx="914400" cy="310896"/>
          </a:xfrm>
          <a:prstGeom prst="rect">
            <a:avLst/>
          </a:prstGeom>
          <a:noFill/>
          <a:ln/>
        </p:spPr>
        <p:txBody>
          <a:bodyPr wrap="square" lIns="0" tIns="0" rIns="0" bIns="0" rtlCol="0" anchor="ctr"/>
          <a:lstStyle/>
          <a:p>
            <a:pPr algn="ctr" indent="0" marL="0">
              <a:buNone/>
            </a:pPr>
            <a:r>
              <a:rPr lang="en-US" sz="1200" b="1" dirty="0">
                <a:solidFill>
                  <a:schemeClr val="bg1"/>
                </a:solidFill>
              </a:rPr>
              <a:t>Stage II</a:t>
            </a:r>
            <a:endParaRPr lang="en-US" sz="1200" dirty="0"/>
          </a:p>
        </p:txBody>
      </p:sp>
      <p:sp>
        <p:nvSpPr>
          <p:cNvPr id="27" name="objective 4 circle"/>
          <p:cNvSpPr/>
          <p:nvPr/>
        </p:nvSpPr>
        <p:spPr>
          <a:xfrm>
            <a:off x="5367528" y="4489704"/>
            <a:ext cx="457200" cy="457200"/>
          </a:xfrm>
          <a:prstGeom prst="ellipse">
            <a:avLst/>
          </a:prstGeom>
          <a:solidFill>
            <a:schemeClr val="accent1"/>
          </a:solidFill>
          <a:ln/>
        </p:spPr>
      </p:sp>
      <p:pic>
        <p:nvPicPr>
          <p:cNvPr id="28" name="objective 4 icon" descr="preencoded.png">    </p:cNvPr>
          <p:cNvPicPr>
            <a:picLocks noChangeAspect="1"/>
          </p:cNvPicPr>
          <p:nvPr/>
        </p:nvPicPr>
        <p:blipFill>
          <a:blip r:embed="rId6"/>
          <a:stretch>
            <a:fillRect/>
          </a:stretch>
        </p:blipFill>
        <p:spPr>
          <a:xfrm>
            <a:off x="5477256" y="4599432"/>
            <a:ext cx="237744" cy="237744"/>
          </a:xfrm>
          <a:prstGeom prst="rect">
            <a:avLst/>
          </a:prstGeom>
        </p:spPr>
      </p:pic>
      <p:sp>
        <p:nvSpPr>
          <p:cNvPr id="29" name="objective text 4"/>
          <p:cNvSpPr txBox="1"/>
          <p:nvPr/>
        </p:nvSpPr>
        <p:spPr>
          <a:xfrm>
            <a:off x="6071616" y="4443984"/>
            <a:ext cx="4154119" cy="548640"/>
          </a:xfrm>
          <a:prstGeom prst="rect">
            <a:avLst/>
          </a:prstGeom>
          <a:noFill/>
          <a:ln/>
        </p:spPr>
        <p:txBody>
          <a:bodyPr wrap="square" lIns="0" tIns="0" rIns="0" bIns="0" rtlCol="0" anchor="ctr"/>
          <a:lstStyle/>
          <a:p>
            <a:pPr indent="0" marL="0">
              <a:spcAft>
                <a:spcPts val="100"/>
              </a:spcAft>
              <a:buNone/>
            </a:pPr>
            <a:r>
              <a:rPr lang="en-US" sz="1600" b="1" dirty="0">
                <a:solidFill>
                  <a:schemeClr val="tx2"/>
                </a:solidFill>
              </a:rPr>
              <a:t>Staged evaluation</a:t>
            </a:r>
            <a:endParaRPr lang="en-US" sz="1400" dirty="0"/>
          </a:p>
          <a:p>
            <a:pPr indent="0" marL="0">
              <a:spcAft>
                <a:spcPts val="100"/>
              </a:spcAft>
              <a:buNone/>
            </a:pPr>
            <a:r>
              <a:rPr lang="en-US" sz="1400" dirty="0">
                <a:solidFill>
                  <a:schemeClr val="tx1"/>
                </a:solidFill>
              </a:rPr>
              <a:t>Baselines, ablation and calibration checks</a:t>
            </a:r>
            <a:endParaRPr lang="en-US" sz="1400" dirty="0"/>
          </a:p>
        </p:txBody>
      </p:sp>
      <p:sp>
        <p:nvSpPr>
          <p:cNvPr id="30" name="objective stage pill 4"/>
          <p:cNvSpPr/>
          <p:nvPr/>
        </p:nvSpPr>
        <p:spPr>
          <a:xfrm>
            <a:off x="10454335" y="4562856"/>
            <a:ext cx="914400" cy="310896"/>
          </a:xfrm>
          <a:prstGeom prst="roundRect">
            <a:avLst>
              <a:gd name="adj" fmla="val 50000"/>
            </a:avLst>
          </a:prstGeom>
          <a:solidFill>
            <a:schemeClr val="accent4"/>
          </a:solidFill>
          <a:ln/>
        </p:spPr>
      </p:sp>
      <p:sp>
        <p:nvSpPr>
          <p:cNvPr id="31" name="objective stage 4"/>
          <p:cNvSpPr txBox="1"/>
          <p:nvPr/>
        </p:nvSpPr>
        <p:spPr>
          <a:xfrm>
            <a:off x="10454335" y="4562856"/>
            <a:ext cx="914400" cy="310896"/>
          </a:xfrm>
          <a:prstGeom prst="rect">
            <a:avLst/>
          </a:prstGeom>
          <a:noFill/>
          <a:ln/>
        </p:spPr>
        <p:txBody>
          <a:bodyPr wrap="square" lIns="0" tIns="0" rIns="0" bIns="0" rtlCol="0" anchor="ctr"/>
          <a:lstStyle/>
          <a:p>
            <a:pPr algn="ctr" indent="0" marL="0">
              <a:buNone/>
            </a:pPr>
            <a:r>
              <a:rPr lang="en-US" sz="1200" b="1" dirty="0">
                <a:solidFill>
                  <a:schemeClr val="bg1"/>
                </a:solidFill>
              </a:rPr>
              <a:t>Stage II</a:t>
            </a:r>
            <a:endParaRPr lang="en-US" sz="1200" dirty="0"/>
          </a:p>
        </p:txBody>
      </p:sp>
      <p:sp>
        <p:nvSpPr>
          <p:cNvPr id="32" name="objective 5 circle"/>
          <p:cNvSpPr/>
          <p:nvPr/>
        </p:nvSpPr>
        <p:spPr>
          <a:xfrm>
            <a:off x="5367528" y="5148072"/>
            <a:ext cx="457200" cy="457200"/>
          </a:xfrm>
          <a:prstGeom prst="ellipse">
            <a:avLst/>
          </a:prstGeom>
          <a:solidFill>
            <a:schemeClr val="accent1"/>
          </a:solidFill>
          <a:ln/>
        </p:spPr>
      </p:sp>
      <p:pic>
        <p:nvPicPr>
          <p:cNvPr id="33" name="objective 5 icon" descr="preencoded.png">    </p:cNvPr>
          <p:cNvPicPr>
            <a:picLocks noChangeAspect="1"/>
          </p:cNvPicPr>
          <p:nvPr/>
        </p:nvPicPr>
        <p:blipFill>
          <a:blip r:embed="rId7"/>
          <a:stretch>
            <a:fillRect/>
          </a:stretch>
        </p:blipFill>
        <p:spPr>
          <a:xfrm>
            <a:off x="5477256" y="5257800"/>
            <a:ext cx="237744" cy="237744"/>
          </a:xfrm>
          <a:prstGeom prst="rect">
            <a:avLst/>
          </a:prstGeom>
        </p:spPr>
      </p:pic>
      <p:sp>
        <p:nvSpPr>
          <p:cNvPr id="34" name="objective text 5"/>
          <p:cNvSpPr txBox="1"/>
          <p:nvPr/>
        </p:nvSpPr>
        <p:spPr>
          <a:xfrm>
            <a:off x="6071616" y="5102352"/>
            <a:ext cx="4154119" cy="548640"/>
          </a:xfrm>
          <a:prstGeom prst="rect">
            <a:avLst/>
          </a:prstGeom>
          <a:noFill/>
          <a:ln/>
        </p:spPr>
        <p:txBody>
          <a:bodyPr wrap="square" lIns="0" tIns="0" rIns="0" bIns="0" rtlCol="0" anchor="ctr"/>
          <a:lstStyle/>
          <a:p>
            <a:pPr indent="0" marL="0">
              <a:spcAft>
                <a:spcPts val="100"/>
              </a:spcAft>
              <a:buNone/>
            </a:pPr>
            <a:r>
              <a:rPr lang="en-US" sz="1600" b="1" dirty="0">
                <a:solidFill>
                  <a:schemeClr val="tx2"/>
                </a:solidFill>
              </a:rPr>
              <a:t>Clinician review loop</a:t>
            </a:r>
            <a:endParaRPr lang="en-US" sz="1400" dirty="0"/>
          </a:p>
          <a:p>
            <a:pPr indent="0" marL="0">
              <a:spcAft>
                <a:spcPts val="100"/>
              </a:spcAft>
              <a:buNone/>
            </a:pPr>
            <a:r>
              <a:rPr lang="en-US" sz="1400" dirty="0">
                <a:solidFill>
                  <a:schemeClr val="tx1"/>
                </a:solidFill>
              </a:rPr>
              <a:t>Only clinician-validated outcomes are re-indexed</a:t>
            </a:r>
            <a:endParaRPr lang="en-US" sz="1400" dirty="0"/>
          </a:p>
        </p:txBody>
      </p:sp>
      <p:sp>
        <p:nvSpPr>
          <p:cNvPr id="35" name="objective stage pill 5"/>
          <p:cNvSpPr/>
          <p:nvPr/>
        </p:nvSpPr>
        <p:spPr>
          <a:xfrm>
            <a:off x="10454335" y="5221224"/>
            <a:ext cx="914400" cy="310896"/>
          </a:xfrm>
          <a:prstGeom prst="roundRect">
            <a:avLst>
              <a:gd name="adj" fmla="val 50000"/>
            </a:avLst>
          </a:prstGeom>
          <a:solidFill>
            <a:schemeClr val="accent4"/>
          </a:solidFill>
          <a:ln/>
        </p:spPr>
      </p:sp>
      <p:sp>
        <p:nvSpPr>
          <p:cNvPr id="36" name="objective stage 5"/>
          <p:cNvSpPr txBox="1"/>
          <p:nvPr/>
        </p:nvSpPr>
        <p:spPr>
          <a:xfrm>
            <a:off x="10454335" y="5221224"/>
            <a:ext cx="914400" cy="310896"/>
          </a:xfrm>
          <a:prstGeom prst="rect">
            <a:avLst/>
          </a:prstGeom>
          <a:noFill/>
          <a:ln/>
        </p:spPr>
        <p:txBody>
          <a:bodyPr wrap="square" lIns="0" tIns="0" rIns="0" bIns="0" rtlCol="0" anchor="ctr"/>
          <a:lstStyle/>
          <a:p>
            <a:pPr algn="ctr" indent="0" marL="0">
              <a:buNone/>
            </a:pPr>
            <a:r>
              <a:rPr lang="en-US" sz="1200" b="1" dirty="0">
                <a:solidFill>
                  <a:schemeClr val="bg1"/>
                </a:solidFill>
              </a:rPr>
              <a:t>Stage II</a:t>
            </a:r>
            <a:endParaRPr lang="en-US" sz="1200" dirty="0"/>
          </a:p>
        </p:txBody>
      </p:sp>
      <p:sp>
        <p:nvSpPr>
          <p:cNvPr id="37" name="Slide Number Placeholder 0"/>
          <p:cNvSpPr>
            <a:spLocks noGrp="1"/>
          </p:cNvSpPr>
          <p:nvPr>
            <p:ph type="sldNum" sz="quarter" idx="4294967295"/>
          </p:nvPr>
        </p:nvSpPr>
        <p:spPr>
          <a:xfrm>
            <a:off x="11201400" y="6382512"/>
            <a:ext cx="438912" cy="27432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E6E73"/>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94415" cy="777240"/>
          </a:xfrm>
          <a:prstGeom prst="rect">
            <a:avLst/>
          </a:prstGeom>
          <a:noFill/>
          <a:ln/>
        </p:spPr>
        <p:txBody>
          <a:bodyPr wrap="square" lIns="0" tIns="0" rIns="0" bIns="0" rtlCol="0" anchor="ctr"/>
          <a:lstStyle/>
          <a:p>
            <a:pPr algn="l" indent="0" marL="0">
              <a:buNone/>
            </a:pPr>
            <a:r>
              <a:rPr lang="en-US" sz="3400" b="1" dirty="0">
                <a:solidFill>
                  <a:schemeClr val="tx2"/>
                </a:solidFill>
                <a:latin typeface="+mj-lt" pitchFamily="34" charset="0"/>
                <a:ea typeface="+mj-lt" pitchFamily="34" charset="-122"/>
                <a:cs typeface="+mj-lt" pitchFamily="34" charset="-120"/>
              </a:rPr>
              <a:t>Literature Survey</a:t>
            </a:r>
            <a:endParaRPr lang="en-US" sz="3400" dirty="0"/>
          </a:p>
        </p:txBody>
      </p:sp>
      <p:graphicFrame>
        <p:nvGraphicFramePr>
          <p:cNvPr id="6" name="literature table"/>
          <p:cNvGraphicFramePr>
            <a:graphicFrameLocks noGrp="1"/>
          </p:cNvGraphicFramePr>
          <p:nvPr>
            <p:extLst>
              <p:ext uri="{D42A27DB-BD31-4B8C-83A1-F6EECF244321}">
                <p14:modId xmlns:p14="http://schemas.microsoft.com/office/powerpoint/2010/main" val="1579011935"/>
              </p:ext>
            </p:extLst>
          </p:nvPr>
        </p:nvGraphicFramePr>
        <p:xfrm>
          <a:off x="548640" y="1371600"/>
          <a:ext cx="11094415" cy="914400"/>
        </p:xfrm>
        <a:graphic>
          <a:graphicData uri="http://schemas.openxmlformats.org/drawingml/2006/table">
            <a:tbl>
              <a:tblPr/>
              <a:tblGrid>
                <a:gridCol w="2514600"/>
                <a:gridCol w="4069080"/>
                <a:gridCol w="4510735"/>
              </a:tblGrid>
              <a:tr h="411480">
                <a:tc>
                  <a:txBody>
                    <a:bodyPr/>
                    <a:lstStyle/>
                    <a:p>
                      <a:pPr indent="0" marL="0">
                        <a:buNone/>
                      </a:pPr>
                      <a:r>
                        <a:rPr lang="en-US" sz="1400" b="1" dirty="0">
                          <a:solidFill>
                            <a:schemeClr val="bg1"/>
                          </a:solidFill>
                        </a:rPr>
                        <a:t>Work</a:t>
                      </a:r>
                      <a:endParaRPr lang="en-US" sz="1400" dirty="0"/>
                    </a:p>
                  </a:txBody>
                  <a:tcPr marL="109728" marR="109728" marT="54864" marB="54864" anchor="ctr">
                    <a:lnL w="9525" cap="flat" cmpd="sng" algn="ctr">
                      <a:solidFill>
                        <a:srgbClr val="C7D9DA"/>
                      </a:solidFill>
                      <a:prstDash val="solid"/>
                      <a:round/>
                      <a:headEnd type="none" w="med" len="med"/>
                      <a:tailEnd type="none" w="med" len="med"/>
                    </a:lnL>
                    <a:lnR w="9525" cap="flat" cmpd="sng" algn="ctr">
                      <a:solidFill>
                        <a:srgbClr val="C7D9DA"/>
                      </a:solidFill>
                      <a:prstDash val="solid"/>
                      <a:round/>
                      <a:headEnd type="none" w="med" len="med"/>
                      <a:tailEnd type="none" w="med" len="med"/>
                    </a:lnR>
                    <a:lnT w="9525" cap="flat" cmpd="sng" algn="ctr">
                      <a:solidFill>
                        <a:srgbClr val="C7D9DA"/>
                      </a:solidFill>
                      <a:prstDash val="solid"/>
                      <a:round/>
                      <a:headEnd type="none" w="med" len="med"/>
                      <a:tailEnd type="none" w="med" len="med"/>
                    </a:lnT>
                    <a:lnB w="9525" cap="flat" cmpd="sng" algn="ctr">
                      <a:solidFill>
                        <a:srgbClr val="C7D9DA"/>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Approach</a:t>
                      </a:r>
                      <a:endParaRPr lang="en-US" sz="1400" dirty="0"/>
                    </a:p>
                  </a:txBody>
                  <a:tcPr marL="109728" marR="109728" marT="54864" marB="54864" anchor="ctr">
                    <a:lnL w="9525" cap="flat" cmpd="sng" algn="ctr">
                      <a:solidFill>
                        <a:srgbClr val="C7D9DA"/>
                      </a:solidFill>
                      <a:prstDash val="solid"/>
                      <a:round/>
                      <a:headEnd type="none" w="med" len="med"/>
                      <a:tailEnd type="none" w="med" len="med"/>
                    </a:lnL>
                    <a:lnR w="9525" cap="flat" cmpd="sng" algn="ctr">
                      <a:solidFill>
                        <a:srgbClr val="C7D9DA"/>
                      </a:solidFill>
                      <a:prstDash val="solid"/>
                      <a:round/>
                      <a:headEnd type="none" w="med" len="med"/>
                      <a:tailEnd type="none" w="med" len="med"/>
                    </a:lnR>
                    <a:lnT w="9525" cap="flat" cmpd="sng" algn="ctr">
                      <a:solidFill>
                        <a:srgbClr val="C7D9DA"/>
                      </a:solidFill>
                      <a:prstDash val="solid"/>
                      <a:round/>
                      <a:headEnd type="none" w="med" len="med"/>
                      <a:tailEnd type="none" w="med" len="med"/>
                    </a:lnT>
                    <a:lnB w="9525" cap="flat" cmpd="sng" algn="ctr">
                      <a:solidFill>
                        <a:srgbClr val="C7D9DA"/>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Limitation</a:t>
                      </a:r>
                      <a:endParaRPr lang="en-US" sz="1400" dirty="0"/>
                    </a:p>
                  </a:txBody>
                  <a:tcPr marL="109728" marR="109728" marT="54864" marB="54864" anchor="ctr">
                    <a:lnL w="9525" cap="flat" cmpd="sng" algn="ctr">
                      <a:solidFill>
                        <a:srgbClr val="C7D9DA"/>
                      </a:solidFill>
                      <a:prstDash val="solid"/>
                      <a:round/>
                      <a:headEnd type="none" w="med" len="med"/>
                      <a:tailEnd type="none" w="med" len="med"/>
                    </a:lnL>
                    <a:lnR w="9525" cap="flat" cmpd="sng" algn="ctr">
                      <a:solidFill>
                        <a:srgbClr val="C7D9DA"/>
                      </a:solidFill>
                      <a:prstDash val="solid"/>
                      <a:round/>
                      <a:headEnd type="none" w="med" len="med"/>
                      <a:tailEnd type="none" w="med" len="med"/>
                    </a:lnR>
                    <a:lnT w="9525" cap="flat" cmpd="sng" algn="ctr">
                      <a:solidFill>
                        <a:srgbClr val="C7D9DA"/>
                      </a:solidFill>
                      <a:prstDash val="solid"/>
                      <a:round/>
                      <a:headEnd type="none" w="med" len="med"/>
                      <a:tailEnd type="none" w="med" len="med"/>
                    </a:lnT>
                    <a:lnB w="9525" cap="flat" cmpd="sng" algn="ctr">
                      <a:solidFill>
                        <a:srgbClr val="C7D9DA"/>
                      </a:solidFill>
                      <a:prstDash val="solid"/>
                      <a:round/>
                      <a:headEnd type="none" w="med" len="med"/>
                      <a:tailEnd type="none" w="med" len="med"/>
                    </a:lnB>
                    <a:solidFill>
                      <a:schemeClr val="tx2"/>
                    </a:solidFill>
                  </a:tcPr>
                </a:tc>
              </a:tr>
              <a:tr h="640080">
                <a:tc>
                  <a:txBody>
                    <a:bodyPr/>
                    <a:lstStyle/>
                    <a:p>
                      <a:pPr indent="0" marL="0">
                        <a:buNone/>
                      </a:pPr>
                      <a:r>
                        <a:rPr lang="en-US" sz="1400" b="1" dirty="0">
                          <a:solidFill>
                            <a:schemeClr val="tx2"/>
                          </a:solidFill>
                        </a:rPr>
                        <a:t>[1] Öğdü et al., 2025</a:t>
                      </a:r>
                      <a:endParaRPr lang="en-US" sz="1400" dirty="0"/>
                    </a:p>
                  </a:txBody>
                  <a:tcPr marL="109728" marR="109728" marT="54864" marB="54864" anchor="ctr">
                    <a:lnL w="9525" cap="flat" cmpd="sng" algn="ctr">
                      <a:solidFill>
                        <a:srgbClr val="C7D9DA"/>
                      </a:solidFill>
                      <a:prstDash val="solid"/>
                      <a:round/>
                      <a:headEnd type="none" w="med" len="med"/>
                      <a:tailEnd type="none" w="med" len="med"/>
                    </a:lnL>
                    <a:lnR w="9525" cap="flat" cmpd="sng" algn="ctr">
                      <a:solidFill>
                        <a:srgbClr val="C7D9DA"/>
                      </a:solidFill>
                      <a:prstDash val="solid"/>
                      <a:round/>
                      <a:headEnd type="none" w="med" len="med"/>
                      <a:tailEnd type="none" w="med" len="med"/>
                    </a:lnR>
                    <a:lnT w="9525" cap="flat" cmpd="sng" algn="ctr">
                      <a:solidFill>
                        <a:srgbClr val="C7D9DA"/>
                      </a:solidFill>
                      <a:prstDash val="solid"/>
                      <a:round/>
                      <a:headEnd type="none" w="med" len="med"/>
                      <a:tailEnd type="none" w="med" len="med"/>
                    </a:lnT>
                    <a:lnB w="9525" cap="flat" cmpd="sng" algn="ctr">
                      <a:solidFill>
                        <a:srgbClr val="C7D9D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Adaptive multi-agent LLM CDSS with biomedical RAG, web evidence and data fusion</a:t>
                      </a:r>
                      <a:endParaRPr lang="en-US" sz="1400" dirty="0"/>
                    </a:p>
                  </a:txBody>
                  <a:tcPr marL="109728" marR="109728" marT="54864" marB="54864" anchor="ctr">
                    <a:lnL w="9525" cap="flat" cmpd="sng" algn="ctr">
                      <a:solidFill>
                        <a:srgbClr val="C7D9DA"/>
                      </a:solidFill>
                      <a:prstDash val="solid"/>
                      <a:round/>
                      <a:headEnd type="none" w="med" len="med"/>
                      <a:tailEnd type="none" w="med" len="med"/>
                    </a:lnL>
                    <a:lnR w="9525" cap="flat" cmpd="sng" algn="ctr">
                      <a:solidFill>
                        <a:srgbClr val="C7D9DA"/>
                      </a:solidFill>
                      <a:prstDash val="solid"/>
                      <a:round/>
                      <a:headEnd type="none" w="med" len="med"/>
                      <a:tailEnd type="none" w="med" len="med"/>
                    </a:lnR>
                    <a:lnT w="9525" cap="flat" cmpd="sng" algn="ctr">
                      <a:solidFill>
                        <a:srgbClr val="C7D9DA"/>
                      </a:solidFill>
                      <a:prstDash val="solid"/>
                      <a:round/>
                      <a:headEnd type="none" w="med" len="med"/>
                      <a:tailEnd type="none" w="med" len="med"/>
                    </a:lnT>
                    <a:lnB w="9525" cap="flat" cmpd="sng" algn="ctr">
                      <a:solidFill>
                        <a:srgbClr val="C7D9D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With many reasoning components it is hard to tell which one produced a recommendation</a:t>
                      </a:r>
                      <a:endParaRPr lang="en-US" sz="1400" dirty="0"/>
                    </a:p>
                  </a:txBody>
                  <a:tcPr marL="109728" marR="109728" marT="54864" marB="54864" anchor="ctr">
                    <a:lnL w="9525" cap="flat" cmpd="sng" algn="ctr">
                      <a:solidFill>
                        <a:srgbClr val="C7D9DA"/>
                      </a:solidFill>
                      <a:prstDash val="solid"/>
                      <a:round/>
                      <a:headEnd type="none" w="med" len="med"/>
                      <a:tailEnd type="none" w="med" len="med"/>
                    </a:lnL>
                    <a:lnR w="9525" cap="flat" cmpd="sng" algn="ctr">
                      <a:solidFill>
                        <a:srgbClr val="C7D9DA"/>
                      </a:solidFill>
                      <a:prstDash val="solid"/>
                      <a:round/>
                      <a:headEnd type="none" w="med" len="med"/>
                      <a:tailEnd type="none" w="med" len="med"/>
                    </a:lnR>
                    <a:lnT w="9525" cap="flat" cmpd="sng" algn="ctr">
                      <a:solidFill>
                        <a:srgbClr val="C7D9DA"/>
                      </a:solidFill>
                      <a:prstDash val="solid"/>
                      <a:round/>
                      <a:headEnd type="none" w="med" len="med"/>
                      <a:tailEnd type="none" w="med" len="med"/>
                    </a:lnT>
                    <a:lnB w="9525" cap="flat" cmpd="sng" algn="ctr">
                      <a:solidFill>
                        <a:srgbClr val="C7D9DA"/>
                      </a:solidFill>
                      <a:prstDash val="solid"/>
                      <a:round/>
                      <a:headEnd type="none" w="med" len="med"/>
                      <a:tailEnd type="none" w="med" len="med"/>
                    </a:lnB>
                    <a:solidFill>
                      <a:schemeClr val="bg1"/>
                    </a:solidFill>
                  </a:tcPr>
                </a:tc>
              </a:tr>
              <a:tr h="640080">
                <a:tc>
                  <a:txBody>
                    <a:bodyPr/>
                    <a:lstStyle/>
                    <a:p>
                      <a:pPr indent="0" marL="0">
                        <a:buNone/>
                      </a:pPr>
                      <a:r>
                        <a:rPr lang="en-US" sz="1400" b="1" dirty="0">
                          <a:solidFill>
                            <a:schemeClr val="tx2"/>
                          </a:solidFill>
                        </a:rPr>
                        <a:t>[2] Tang et al., 2024 (MedAgents)</a:t>
                      </a:r>
                      <a:endParaRPr lang="en-US" sz="1400" dirty="0"/>
                    </a:p>
                  </a:txBody>
                  <a:tcPr marL="109728" marR="109728" marT="54864" marB="54864" anchor="ctr">
                    <a:lnL w="9525" cap="flat" cmpd="sng" algn="ctr">
                      <a:solidFill>
                        <a:srgbClr val="C7D9DA"/>
                      </a:solidFill>
                      <a:prstDash val="solid"/>
                      <a:round/>
                      <a:headEnd type="none" w="med" len="med"/>
                      <a:tailEnd type="none" w="med" len="med"/>
                    </a:lnL>
                    <a:lnR w="9525" cap="flat" cmpd="sng" algn="ctr">
                      <a:solidFill>
                        <a:srgbClr val="C7D9DA"/>
                      </a:solidFill>
                      <a:prstDash val="solid"/>
                      <a:round/>
                      <a:headEnd type="none" w="med" len="med"/>
                      <a:tailEnd type="none" w="med" len="med"/>
                    </a:lnR>
                    <a:lnT w="9525" cap="flat" cmpd="sng" algn="ctr">
                      <a:solidFill>
                        <a:srgbClr val="C7D9DA"/>
                      </a:solidFill>
                      <a:prstDash val="solid"/>
                      <a:round/>
                      <a:headEnd type="none" w="med" len="med"/>
                      <a:tailEnd type="none" w="med" len="med"/>
                    </a:lnT>
                    <a:lnB w="9525" cap="flat" cmpd="sng" algn="ctr">
                      <a:solidFill>
                        <a:srgbClr val="C7D9DA"/>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Role-based LLM agents that discuss a question and reach consensus</a:t>
                      </a:r>
                      <a:endParaRPr lang="en-US" sz="1400" dirty="0"/>
                    </a:p>
                  </a:txBody>
                  <a:tcPr marL="109728" marR="109728" marT="54864" marB="54864" anchor="ctr">
                    <a:lnL w="9525" cap="flat" cmpd="sng" algn="ctr">
                      <a:solidFill>
                        <a:srgbClr val="C7D9DA"/>
                      </a:solidFill>
                      <a:prstDash val="solid"/>
                      <a:round/>
                      <a:headEnd type="none" w="med" len="med"/>
                      <a:tailEnd type="none" w="med" len="med"/>
                    </a:lnL>
                    <a:lnR w="9525" cap="flat" cmpd="sng" algn="ctr">
                      <a:solidFill>
                        <a:srgbClr val="C7D9DA"/>
                      </a:solidFill>
                      <a:prstDash val="solid"/>
                      <a:round/>
                      <a:headEnd type="none" w="med" len="med"/>
                      <a:tailEnd type="none" w="med" len="med"/>
                    </a:lnR>
                    <a:lnT w="9525" cap="flat" cmpd="sng" algn="ctr">
                      <a:solidFill>
                        <a:srgbClr val="C7D9DA"/>
                      </a:solidFill>
                      <a:prstDash val="solid"/>
                      <a:round/>
                      <a:headEnd type="none" w="med" len="med"/>
                      <a:tailEnd type="none" w="med" len="med"/>
                    </a:lnT>
                    <a:lnB w="9525" cap="flat" cmpd="sng" algn="ctr">
                      <a:solidFill>
                        <a:srgbClr val="C7D9DA"/>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Analysis stays within LLM agents, with no dedicated ML model or deterministic rules</a:t>
                      </a:r>
                      <a:endParaRPr lang="en-US" sz="1400" dirty="0"/>
                    </a:p>
                  </a:txBody>
                  <a:tcPr marL="109728" marR="109728" marT="54864" marB="54864" anchor="ctr">
                    <a:lnL w="9525" cap="flat" cmpd="sng" algn="ctr">
                      <a:solidFill>
                        <a:srgbClr val="C7D9DA"/>
                      </a:solidFill>
                      <a:prstDash val="solid"/>
                      <a:round/>
                      <a:headEnd type="none" w="med" len="med"/>
                      <a:tailEnd type="none" w="med" len="med"/>
                    </a:lnL>
                    <a:lnR w="9525" cap="flat" cmpd="sng" algn="ctr">
                      <a:solidFill>
                        <a:srgbClr val="C7D9DA"/>
                      </a:solidFill>
                      <a:prstDash val="solid"/>
                      <a:round/>
                      <a:headEnd type="none" w="med" len="med"/>
                      <a:tailEnd type="none" w="med" len="med"/>
                    </a:lnR>
                    <a:lnT w="9525" cap="flat" cmpd="sng" algn="ctr">
                      <a:solidFill>
                        <a:srgbClr val="C7D9DA"/>
                      </a:solidFill>
                      <a:prstDash val="solid"/>
                      <a:round/>
                      <a:headEnd type="none" w="med" len="med"/>
                      <a:tailEnd type="none" w="med" len="med"/>
                    </a:lnT>
                    <a:lnB w="9525" cap="flat" cmpd="sng" algn="ctr">
                      <a:solidFill>
                        <a:srgbClr val="C7D9DA"/>
                      </a:solidFill>
                      <a:prstDash val="solid"/>
                      <a:round/>
                      <a:headEnd type="none" w="med" len="med"/>
                      <a:tailEnd type="none" w="med" len="med"/>
                    </a:lnB>
                    <a:solidFill>
                      <a:schemeClr val="bg2"/>
                    </a:solidFill>
                  </a:tcPr>
                </a:tc>
              </a:tr>
              <a:tr h="640080">
                <a:tc>
                  <a:txBody>
                    <a:bodyPr/>
                    <a:lstStyle/>
                    <a:p>
                      <a:pPr indent="0" marL="0">
                        <a:buNone/>
                      </a:pPr>
                      <a:r>
                        <a:rPr lang="en-US" sz="1400" b="1" dirty="0">
                          <a:solidFill>
                            <a:schemeClr val="tx2"/>
                          </a:solidFill>
                        </a:rPr>
                        <a:t>[3] Lu et al., 2024 (ClinicalRAG)</a:t>
                      </a:r>
                      <a:endParaRPr lang="en-US" sz="1400" dirty="0"/>
                    </a:p>
                  </a:txBody>
                  <a:tcPr marL="109728" marR="109728" marT="54864" marB="54864" anchor="ctr">
                    <a:lnL w="9525" cap="flat" cmpd="sng" algn="ctr">
                      <a:solidFill>
                        <a:srgbClr val="C7D9DA"/>
                      </a:solidFill>
                      <a:prstDash val="solid"/>
                      <a:round/>
                      <a:headEnd type="none" w="med" len="med"/>
                      <a:tailEnd type="none" w="med" len="med"/>
                    </a:lnL>
                    <a:lnR w="9525" cap="flat" cmpd="sng" algn="ctr">
                      <a:solidFill>
                        <a:srgbClr val="C7D9DA"/>
                      </a:solidFill>
                      <a:prstDash val="solid"/>
                      <a:round/>
                      <a:headEnd type="none" w="med" len="med"/>
                      <a:tailEnd type="none" w="med" len="med"/>
                    </a:lnR>
                    <a:lnT w="9525" cap="flat" cmpd="sng" algn="ctr">
                      <a:solidFill>
                        <a:srgbClr val="C7D9DA"/>
                      </a:solidFill>
                      <a:prstDash val="solid"/>
                      <a:round/>
                      <a:headEnd type="none" w="med" len="med"/>
                      <a:tailEnd type="none" w="med" len="med"/>
                    </a:lnT>
                    <a:lnB w="9525" cap="flat" cmpd="sng" algn="ctr">
                      <a:solidFill>
                        <a:srgbClr val="C7D9D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Multi-agent pipeline with heterogeneous knowledge retrieval</a:t>
                      </a:r>
                      <a:endParaRPr lang="en-US" sz="1400" dirty="0"/>
                    </a:p>
                  </a:txBody>
                  <a:tcPr marL="109728" marR="109728" marT="54864" marB="54864" anchor="ctr">
                    <a:lnL w="9525" cap="flat" cmpd="sng" algn="ctr">
                      <a:solidFill>
                        <a:srgbClr val="C7D9DA"/>
                      </a:solidFill>
                      <a:prstDash val="solid"/>
                      <a:round/>
                      <a:headEnd type="none" w="med" len="med"/>
                      <a:tailEnd type="none" w="med" len="med"/>
                    </a:lnL>
                    <a:lnR w="9525" cap="flat" cmpd="sng" algn="ctr">
                      <a:solidFill>
                        <a:srgbClr val="C7D9DA"/>
                      </a:solidFill>
                      <a:prstDash val="solid"/>
                      <a:round/>
                      <a:headEnd type="none" w="med" len="med"/>
                      <a:tailEnd type="none" w="med" len="med"/>
                    </a:lnR>
                    <a:lnT w="9525" cap="flat" cmpd="sng" algn="ctr">
                      <a:solidFill>
                        <a:srgbClr val="C7D9DA"/>
                      </a:solidFill>
                      <a:prstDash val="solid"/>
                      <a:round/>
                      <a:headEnd type="none" w="med" len="med"/>
                      <a:tailEnd type="none" w="med" len="med"/>
                    </a:lnT>
                    <a:lnB w="9525" cap="flat" cmpd="sng" algn="ctr">
                      <a:solidFill>
                        <a:srgbClr val="C7D9D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Tabular ML and rules do not share a common interface with retrieval</a:t>
                      </a:r>
                      <a:endParaRPr lang="en-US" sz="1400" dirty="0"/>
                    </a:p>
                  </a:txBody>
                  <a:tcPr marL="109728" marR="109728" marT="54864" marB="54864" anchor="ctr">
                    <a:lnL w="9525" cap="flat" cmpd="sng" algn="ctr">
                      <a:solidFill>
                        <a:srgbClr val="C7D9DA"/>
                      </a:solidFill>
                      <a:prstDash val="solid"/>
                      <a:round/>
                      <a:headEnd type="none" w="med" len="med"/>
                      <a:tailEnd type="none" w="med" len="med"/>
                    </a:lnL>
                    <a:lnR w="9525" cap="flat" cmpd="sng" algn="ctr">
                      <a:solidFill>
                        <a:srgbClr val="C7D9DA"/>
                      </a:solidFill>
                      <a:prstDash val="solid"/>
                      <a:round/>
                      <a:headEnd type="none" w="med" len="med"/>
                      <a:tailEnd type="none" w="med" len="med"/>
                    </a:lnR>
                    <a:lnT w="9525" cap="flat" cmpd="sng" algn="ctr">
                      <a:solidFill>
                        <a:srgbClr val="C7D9DA"/>
                      </a:solidFill>
                      <a:prstDash val="solid"/>
                      <a:round/>
                      <a:headEnd type="none" w="med" len="med"/>
                      <a:tailEnd type="none" w="med" len="med"/>
                    </a:lnT>
                    <a:lnB w="9525" cap="flat" cmpd="sng" algn="ctr">
                      <a:solidFill>
                        <a:srgbClr val="C7D9DA"/>
                      </a:solidFill>
                      <a:prstDash val="solid"/>
                      <a:round/>
                      <a:headEnd type="none" w="med" len="med"/>
                      <a:tailEnd type="none" w="med" len="med"/>
                    </a:lnB>
                    <a:solidFill>
                      <a:schemeClr val="bg1"/>
                    </a:solidFill>
                  </a:tcPr>
                </a:tc>
              </a:tr>
              <a:tr h="640080">
                <a:tc>
                  <a:txBody>
                    <a:bodyPr/>
                    <a:lstStyle/>
                    <a:p>
                      <a:pPr indent="0" marL="0">
                        <a:buNone/>
                      </a:pPr>
                      <a:r>
                        <a:rPr lang="en-US" sz="1400" b="1" dirty="0">
                          <a:solidFill>
                            <a:schemeClr val="tx2"/>
                          </a:solidFill>
                        </a:rPr>
                        <a:t>[4] Zuo et al., 2025 (KG4Diagnosis)</a:t>
                      </a:r>
                      <a:endParaRPr lang="en-US" sz="1400" dirty="0"/>
                    </a:p>
                  </a:txBody>
                  <a:tcPr marL="109728" marR="109728" marT="54864" marB="54864" anchor="ctr">
                    <a:lnL w="9525" cap="flat" cmpd="sng" algn="ctr">
                      <a:solidFill>
                        <a:srgbClr val="C7D9DA"/>
                      </a:solidFill>
                      <a:prstDash val="solid"/>
                      <a:round/>
                      <a:headEnd type="none" w="med" len="med"/>
                      <a:tailEnd type="none" w="med" len="med"/>
                    </a:lnL>
                    <a:lnR w="9525" cap="flat" cmpd="sng" algn="ctr">
                      <a:solidFill>
                        <a:srgbClr val="C7D9DA"/>
                      </a:solidFill>
                      <a:prstDash val="solid"/>
                      <a:round/>
                      <a:headEnd type="none" w="med" len="med"/>
                      <a:tailEnd type="none" w="med" len="med"/>
                    </a:lnR>
                    <a:lnT w="9525" cap="flat" cmpd="sng" algn="ctr">
                      <a:solidFill>
                        <a:srgbClr val="C7D9DA"/>
                      </a:solidFill>
                      <a:prstDash val="solid"/>
                      <a:round/>
                      <a:headEnd type="none" w="med" len="med"/>
                      <a:tailEnd type="none" w="med" len="med"/>
                    </a:lnT>
                    <a:lnB w="9525" cap="flat" cmpd="sng" algn="ctr">
                      <a:solidFill>
                        <a:srgbClr val="C7D9DA"/>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Hierarchical LLM agents with a medical knowledge graph</a:t>
                      </a:r>
                      <a:endParaRPr lang="en-US" sz="1400" dirty="0"/>
                    </a:p>
                  </a:txBody>
                  <a:tcPr marL="109728" marR="109728" marT="54864" marB="54864" anchor="ctr">
                    <a:lnL w="9525" cap="flat" cmpd="sng" algn="ctr">
                      <a:solidFill>
                        <a:srgbClr val="C7D9DA"/>
                      </a:solidFill>
                      <a:prstDash val="solid"/>
                      <a:round/>
                      <a:headEnd type="none" w="med" len="med"/>
                      <a:tailEnd type="none" w="med" len="med"/>
                    </a:lnL>
                    <a:lnR w="9525" cap="flat" cmpd="sng" algn="ctr">
                      <a:solidFill>
                        <a:srgbClr val="C7D9DA"/>
                      </a:solidFill>
                      <a:prstDash val="solid"/>
                      <a:round/>
                      <a:headEnd type="none" w="med" len="med"/>
                      <a:tailEnd type="none" w="med" len="med"/>
                    </a:lnR>
                    <a:lnT w="9525" cap="flat" cmpd="sng" algn="ctr">
                      <a:solidFill>
                        <a:srgbClr val="C7D9DA"/>
                      </a:solidFill>
                      <a:prstDash val="solid"/>
                      <a:round/>
                      <a:headEnd type="none" w="med" len="med"/>
                      <a:tailEnd type="none" w="med" len="med"/>
                    </a:lnT>
                    <a:lnB w="9525" cap="flat" cmpd="sng" algn="ctr">
                      <a:solidFill>
                        <a:srgbClr val="C7D9DA"/>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The knowledge graph adds knowledge-engineering requirements</a:t>
                      </a:r>
                      <a:endParaRPr lang="en-US" sz="1400" dirty="0"/>
                    </a:p>
                  </a:txBody>
                  <a:tcPr marL="109728" marR="109728" marT="54864" marB="54864" anchor="ctr">
                    <a:lnL w="9525" cap="flat" cmpd="sng" algn="ctr">
                      <a:solidFill>
                        <a:srgbClr val="C7D9DA"/>
                      </a:solidFill>
                      <a:prstDash val="solid"/>
                      <a:round/>
                      <a:headEnd type="none" w="med" len="med"/>
                      <a:tailEnd type="none" w="med" len="med"/>
                    </a:lnL>
                    <a:lnR w="9525" cap="flat" cmpd="sng" algn="ctr">
                      <a:solidFill>
                        <a:srgbClr val="C7D9DA"/>
                      </a:solidFill>
                      <a:prstDash val="solid"/>
                      <a:round/>
                      <a:headEnd type="none" w="med" len="med"/>
                      <a:tailEnd type="none" w="med" len="med"/>
                    </a:lnR>
                    <a:lnT w="9525" cap="flat" cmpd="sng" algn="ctr">
                      <a:solidFill>
                        <a:srgbClr val="C7D9DA"/>
                      </a:solidFill>
                      <a:prstDash val="solid"/>
                      <a:round/>
                      <a:headEnd type="none" w="med" len="med"/>
                      <a:tailEnd type="none" w="med" len="med"/>
                    </a:lnT>
                    <a:lnB w="9525" cap="flat" cmpd="sng" algn="ctr">
                      <a:solidFill>
                        <a:srgbClr val="C7D9DA"/>
                      </a:solidFill>
                      <a:prstDash val="solid"/>
                      <a:round/>
                      <a:headEnd type="none" w="med" len="med"/>
                      <a:tailEnd type="none" w="med" len="med"/>
                    </a:lnB>
                    <a:solidFill>
                      <a:schemeClr val="bg2"/>
                    </a:solidFill>
                  </a:tcPr>
                </a:tc>
              </a:tr>
              <a:tr h="640080">
                <a:tc>
                  <a:txBody>
                    <a:bodyPr/>
                    <a:lstStyle/>
                    <a:p>
                      <a:pPr indent="0" marL="0">
                        <a:buNone/>
                      </a:pPr>
                      <a:r>
                        <a:rPr lang="en-US" sz="1400" b="1" dirty="0">
                          <a:solidFill>
                            <a:schemeClr val="tx2"/>
                          </a:solidFill>
                        </a:rPr>
                        <a:t>[5] Abdullahi et al., 2024</a:t>
                      </a:r>
                      <a:endParaRPr lang="en-US" sz="1400" dirty="0"/>
                    </a:p>
                  </a:txBody>
                  <a:tcPr marL="109728" marR="109728" marT="54864" marB="54864" anchor="ctr">
                    <a:lnL w="9525" cap="flat" cmpd="sng" algn="ctr">
                      <a:solidFill>
                        <a:srgbClr val="C7D9DA"/>
                      </a:solidFill>
                      <a:prstDash val="solid"/>
                      <a:round/>
                      <a:headEnd type="none" w="med" len="med"/>
                      <a:tailEnd type="none" w="med" len="med"/>
                    </a:lnL>
                    <a:lnR w="9525" cap="flat" cmpd="sng" algn="ctr">
                      <a:solidFill>
                        <a:srgbClr val="C7D9DA"/>
                      </a:solidFill>
                      <a:prstDash val="solid"/>
                      <a:round/>
                      <a:headEnd type="none" w="med" len="med"/>
                      <a:tailEnd type="none" w="med" len="med"/>
                    </a:lnR>
                    <a:lnT w="9525" cap="flat" cmpd="sng" algn="ctr">
                      <a:solidFill>
                        <a:srgbClr val="C7D9DA"/>
                      </a:solidFill>
                      <a:prstDash val="solid"/>
                      <a:round/>
                      <a:headEnd type="none" w="med" len="med"/>
                      <a:tailEnd type="none" w="med" len="med"/>
                    </a:lnT>
                    <a:lnB w="9525" cap="flat" cmpd="sng" algn="ctr">
                      <a:solidFill>
                        <a:srgbClr val="C7D9D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Ensemble of retrieval-based and predictive diagnosis</a:t>
                      </a:r>
                      <a:endParaRPr lang="en-US" sz="1400" dirty="0"/>
                    </a:p>
                  </a:txBody>
                  <a:tcPr marL="109728" marR="109728" marT="54864" marB="54864" anchor="ctr">
                    <a:lnL w="9525" cap="flat" cmpd="sng" algn="ctr">
                      <a:solidFill>
                        <a:srgbClr val="C7D9DA"/>
                      </a:solidFill>
                      <a:prstDash val="solid"/>
                      <a:round/>
                      <a:headEnd type="none" w="med" len="med"/>
                      <a:tailEnd type="none" w="med" len="med"/>
                    </a:lnL>
                    <a:lnR w="9525" cap="flat" cmpd="sng" algn="ctr">
                      <a:solidFill>
                        <a:srgbClr val="C7D9DA"/>
                      </a:solidFill>
                      <a:prstDash val="solid"/>
                      <a:round/>
                      <a:headEnd type="none" w="med" len="med"/>
                      <a:tailEnd type="none" w="med" len="med"/>
                    </a:lnR>
                    <a:lnT w="9525" cap="flat" cmpd="sng" algn="ctr">
                      <a:solidFill>
                        <a:srgbClr val="C7D9DA"/>
                      </a:solidFill>
                      <a:prstDash val="solid"/>
                      <a:round/>
                      <a:headEnd type="none" w="med" len="med"/>
                      <a:tailEnd type="none" w="med" len="med"/>
                    </a:lnT>
                    <a:lnB w="9525" cap="flat" cmpd="sng" algn="ctr">
                      <a:solidFill>
                        <a:srgbClr val="C7D9D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Focus is diagnostic ranking, not an auditable pipeline for each patient</a:t>
                      </a:r>
                      <a:endParaRPr lang="en-US" sz="1400" dirty="0"/>
                    </a:p>
                  </a:txBody>
                  <a:tcPr marL="109728" marR="109728" marT="54864" marB="54864" anchor="ctr">
                    <a:lnL w="9525" cap="flat" cmpd="sng" algn="ctr">
                      <a:solidFill>
                        <a:srgbClr val="C7D9DA"/>
                      </a:solidFill>
                      <a:prstDash val="solid"/>
                      <a:round/>
                      <a:headEnd type="none" w="med" len="med"/>
                      <a:tailEnd type="none" w="med" len="med"/>
                    </a:lnL>
                    <a:lnR w="9525" cap="flat" cmpd="sng" algn="ctr">
                      <a:solidFill>
                        <a:srgbClr val="C7D9DA"/>
                      </a:solidFill>
                      <a:prstDash val="solid"/>
                      <a:round/>
                      <a:headEnd type="none" w="med" len="med"/>
                      <a:tailEnd type="none" w="med" len="med"/>
                    </a:lnR>
                    <a:lnT w="9525" cap="flat" cmpd="sng" algn="ctr">
                      <a:solidFill>
                        <a:srgbClr val="C7D9DA"/>
                      </a:solidFill>
                      <a:prstDash val="solid"/>
                      <a:round/>
                      <a:headEnd type="none" w="med" len="med"/>
                      <a:tailEnd type="none" w="med" len="med"/>
                    </a:lnT>
                    <a:lnB w="9525" cap="flat" cmpd="sng" algn="ctr">
                      <a:solidFill>
                        <a:srgbClr val="C7D9DA"/>
                      </a:solidFill>
                      <a:prstDash val="solid"/>
                      <a:round/>
                      <a:headEnd type="none" w="med" len="med"/>
                      <a:tailEnd type="none" w="med" len="med"/>
                    </a:lnB>
                    <a:solidFill>
                      <a:schemeClr val="bg1"/>
                    </a:solidFill>
                  </a:tcPr>
                </a:tc>
              </a:tr>
              <a:tr h="640080">
                <a:tc>
                  <a:txBody>
                    <a:bodyPr/>
                    <a:lstStyle/>
                    <a:p>
                      <a:pPr indent="0" marL="0">
                        <a:buNone/>
                      </a:pPr>
                      <a:r>
                        <a:rPr lang="en-US" sz="1400" b="1" dirty="0">
                          <a:solidFill>
                            <a:schemeClr val="tx2"/>
                          </a:solidFill>
                        </a:rPr>
                        <a:t>[10] Li et al., 2025 (MACD)</a:t>
                      </a:r>
                      <a:endParaRPr lang="en-US" sz="1400" dirty="0"/>
                    </a:p>
                  </a:txBody>
                  <a:tcPr marL="109728" marR="109728" marT="54864" marB="54864" anchor="ctr">
                    <a:lnL w="9525" cap="flat" cmpd="sng" algn="ctr">
                      <a:solidFill>
                        <a:srgbClr val="C7D9DA"/>
                      </a:solidFill>
                      <a:prstDash val="solid"/>
                      <a:round/>
                      <a:headEnd type="none" w="med" len="med"/>
                      <a:tailEnd type="none" w="med" len="med"/>
                    </a:lnL>
                    <a:lnR w="9525" cap="flat" cmpd="sng" algn="ctr">
                      <a:solidFill>
                        <a:srgbClr val="C7D9DA"/>
                      </a:solidFill>
                      <a:prstDash val="solid"/>
                      <a:round/>
                      <a:headEnd type="none" w="med" len="med"/>
                      <a:tailEnd type="none" w="med" len="med"/>
                    </a:lnR>
                    <a:lnT w="9525" cap="flat" cmpd="sng" algn="ctr">
                      <a:solidFill>
                        <a:srgbClr val="C7D9DA"/>
                      </a:solidFill>
                      <a:prstDash val="solid"/>
                      <a:round/>
                      <a:headEnd type="none" w="med" len="med"/>
                      <a:tailEnd type="none" w="med" len="med"/>
                    </a:lnT>
                    <a:lnB w="9525" cap="flat" cmpd="sng" algn="ctr">
                      <a:solidFill>
                        <a:srgbClr val="C7D9DA"/>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Multi-agent diagnosis with self-learned knowledge</a:t>
                      </a:r>
                      <a:endParaRPr lang="en-US" sz="1400" dirty="0"/>
                    </a:p>
                  </a:txBody>
                  <a:tcPr marL="109728" marR="109728" marT="54864" marB="54864" anchor="ctr">
                    <a:lnL w="9525" cap="flat" cmpd="sng" algn="ctr">
                      <a:solidFill>
                        <a:srgbClr val="C7D9DA"/>
                      </a:solidFill>
                      <a:prstDash val="solid"/>
                      <a:round/>
                      <a:headEnd type="none" w="med" len="med"/>
                      <a:tailEnd type="none" w="med" len="med"/>
                    </a:lnL>
                    <a:lnR w="9525" cap="flat" cmpd="sng" algn="ctr">
                      <a:solidFill>
                        <a:srgbClr val="C7D9DA"/>
                      </a:solidFill>
                      <a:prstDash val="solid"/>
                      <a:round/>
                      <a:headEnd type="none" w="med" len="med"/>
                      <a:tailEnd type="none" w="med" len="med"/>
                    </a:lnR>
                    <a:lnT w="9525" cap="flat" cmpd="sng" algn="ctr">
                      <a:solidFill>
                        <a:srgbClr val="C7D9DA"/>
                      </a:solidFill>
                      <a:prstDash val="solid"/>
                      <a:round/>
                      <a:headEnd type="none" w="med" len="med"/>
                      <a:tailEnd type="none" w="med" len="med"/>
                    </a:lnT>
                    <a:lnB w="9525" cap="flat" cmpd="sng" algn="ctr">
                      <a:solidFill>
                        <a:srgbClr val="C7D9DA"/>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Makes the governance of self-learned knowledge more visible</a:t>
                      </a:r>
                      <a:endParaRPr lang="en-US" sz="1400" dirty="0"/>
                    </a:p>
                  </a:txBody>
                  <a:tcPr marL="109728" marR="109728" marT="54864" marB="54864" anchor="ctr">
                    <a:lnL w="9525" cap="flat" cmpd="sng" algn="ctr">
                      <a:solidFill>
                        <a:srgbClr val="C7D9DA"/>
                      </a:solidFill>
                      <a:prstDash val="solid"/>
                      <a:round/>
                      <a:headEnd type="none" w="med" len="med"/>
                      <a:tailEnd type="none" w="med" len="med"/>
                    </a:lnL>
                    <a:lnR w="9525" cap="flat" cmpd="sng" algn="ctr">
                      <a:solidFill>
                        <a:srgbClr val="C7D9DA"/>
                      </a:solidFill>
                      <a:prstDash val="solid"/>
                      <a:round/>
                      <a:headEnd type="none" w="med" len="med"/>
                      <a:tailEnd type="none" w="med" len="med"/>
                    </a:lnR>
                    <a:lnT w="9525" cap="flat" cmpd="sng" algn="ctr">
                      <a:solidFill>
                        <a:srgbClr val="C7D9DA"/>
                      </a:solidFill>
                      <a:prstDash val="solid"/>
                      <a:round/>
                      <a:headEnd type="none" w="med" len="med"/>
                      <a:tailEnd type="none" w="med" len="med"/>
                    </a:lnT>
                    <a:lnB w="9525" cap="flat" cmpd="sng" algn="ctr">
                      <a:solidFill>
                        <a:srgbClr val="C7D9DA"/>
                      </a:solidFill>
                      <a:prstDash val="solid"/>
                      <a:round/>
                      <a:headEnd type="none" w="med" len="med"/>
                      <a:tailEnd type="none" w="med" len="med"/>
                    </a:lnB>
                    <a:solidFill>
                      <a:schemeClr val="bg2"/>
                    </a:solidFill>
                  </a:tcPr>
                </a:tc>
              </a:tr>
            </a:tbl>
          </a:graphicData>
        </a:graphic>
      </p:graphicFrame>
      <p:sp>
        <p:nvSpPr>
          <p:cNvPr id="4" name="literature note"/>
          <p:cNvSpPr txBox="1"/>
          <p:nvPr/>
        </p:nvSpPr>
        <p:spPr>
          <a:xfrm>
            <a:off x="548640" y="5751576"/>
            <a:ext cx="11094415" cy="256032"/>
          </a:xfrm>
          <a:prstGeom prst="rect">
            <a:avLst/>
          </a:prstGeom>
          <a:noFill/>
          <a:ln/>
        </p:spPr>
        <p:txBody>
          <a:bodyPr wrap="square" lIns="0" tIns="0" rIns="0" bIns="0" rtlCol="0" anchor="ctr"/>
          <a:lstStyle/>
          <a:p>
            <a:pPr algn="l" indent="0" marL="0">
              <a:buNone/>
            </a:pPr>
            <a:r>
              <a:rPr lang="en-US" sz="1200" i="1" dirty="0">
                <a:solidFill>
                  <a:srgbClr val="5E6E73"/>
                </a:solidFill>
              </a:rPr>
              <a:t>Twelve works were reviewed in total; the full comparison is Table 2.2 of the report.</a:t>
            </a:r>
            <a:endParaRPr lang="en-US" sz="1200" dirty="0"/>
          </a:p>
        </p:txBody>
      </p:sp>
      <p:sp>
        <p:nvSpPr>
          <p:cNvPr id="25" name="Slide Number Placeholder 0"/>
          <p:cNvSpPr>
            <a:spLocks noGrp="1"/>
          </p:cNvSpPr>
          <p:nvPr>
            <p:ph type="sldNum" sz="quarter" idx="4294967295"/>
          </p:nvPr>
        </p:nvSpPr>
        <p:spPr>
          <a:xfrm>
            <a:off x="11201400" y="6382512"/>
            <a:ext cx="438912" cy="27432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E6E73"/>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94415" cy="777240"/>
          </a:xfrm>
          <a:prstGeom prst="rect">
            <a:avLst/>
          </a:prstGeom>
          <a:noFill/>
          <a:ln/>
        </p:spPr>
        <p:txBody>
          <a:bodyPr wrap="square" lIns="0" tIns="0" rIns="0" bIns="0" rtlCol="0" anchor="ctr"/>
          <a:lstStyle/>
          <a:p>
            <a:pPr algn="l" indent="0" marL="0">
              <a:buNone/>
            </a:pPr>
            <a:r>
              <a:rPr lang="en-US" sz="3400" b="1" dirty="0">
                <a:solidFill>
                  <a:schemeClr val="tx2"/>
                </a:solidFill>
                <a:latin typeface="+mj-lt" pitchFamily="34" charset="0"/>
                <a:ea typeface="+mj-lt" pitchFamily="34" charset="-122"/>
                <a:cs typeface="+mj-lt" pitchFamily="34" charset="-120"/>
              </a:rPr>
              <a:t>Research Gap</a:t>
            </a:r>
            <a:endParaRPr lang="en-US" sz="3400" dirty="0"/>
          </a:p>
        </p:txBody>
      </p:sp>
      <p:sp>
        <p:nvSpPr>
          <p:cNvPr id="3" name="gap 1 circle"/>
          <p:cNvSpPr/>
          <p:nvPr/>
        </p:nvSpPr>
        <p:spPr>
          <a:xfrm>
            <a:off x="548640" y="1371600"/>
            <a:ext cx="548640" cy="548640"/>
          </a:xfrm>
          <a:prstGeom prst="ellipse">
            <a:avLst/>
          </a:prstGeom>
          <a:solidFill>
            <a:schemeClr val="accent2"/>
          </a:solidFill>
          <a:ln/>
        </p:spPr>
      </p:sp>
      <p:pic>
        <p:nvPicPr>
          <p:cNvPr id="4" name="gap 1 icon" descr="preencoded.png">    </p:cNvPr>
          <p:cNvPicPr>
            <a:picLocks noChangeAspect="1"/>
          </p:cNvPicPr>
          <p:nvPr/>
        </p:nvPicPr>
        <p:blipFill>
          <a:blip r:embed="rId1"/>
          <a:stretch>
            <a:fillRect/>
          </a:stretch>
        </p:blipFill>
        <p:spPr>
          <a:xfrm>
            <a:off x="680314" y="1503274"/>
            <a:ext cx="285293" cy="285293"/>
          </a:xfrm>
          <a:prstGeom prst="rect">
            <a:avLst/>
          </a:prstGeom>
        </p:spPr>
      </p:pic>
      <p:sp>
        <p:nvSpPr>
          <p:cNvPr id="5" name="gap text 1"/>
          <p:cNvSpPr txBox="1"/>
          <p:nvPr/>
        </p:nvSpPr>
        <p:spPr>
          <a:xfrm>
            <a:off x="1298448" y="1389888"/>
            <a:ext cx="3456432" cy="929640"/>
          </a:xfrm>
          <a:prstGeom prst="rect">
            <a:avLst/>
          </a:prstGeom>
          <a:noFill/>
          <a:ln/>
        </p:spPr>
        <p:txBody>
          <a:bodyPr wrap="square" lIns="0" tIns="0" rIns="0" bIns="0" rtlCol="0" anchor="t"/>
          <a:lstStyle/>
          <a:p>
            <a:pPr indent="0" marL="0">
              <a:spcAft>
                <a:spcPts val="300"/>
              </a:spcAft>
              <a:buNone/>
            </a:pPr>
            <a:r>
              <a:rPr lang="en-US" sz="1600" b="1" dirty="0">
                <a:solidFill>
                  <a:schemeClr val="tx2"/>
                </a:solidFill>
              </a:rPr>
              <a:t>Untraceable outputs</a:t>
            </a:r>
            <a:endParaRPr lang="en-US" sz="1400" dirty="0"/>
          </a:p>
          <a:p>
            <a:pPr indent="0" marL="0">
              <a:spcAft>
                <a:spcPts val="300"/>
              </a:spcAft>
              <a:buNone/>
            </a:pPr>
            <a:r>
              <a:rPr lang="en-US" sz="1400" dirty="0">
                <a:solidFill>
                  <a:schemeClr val="tx1"/>
                </a:solidFill>
              </a:rPr>
              <a:t>Single models and chained LLM agents do not link a recommendation to the feature, rule or source behind it.</a:t>
            </a:r>
            <a:endParaRPr lang="en-US" sz="1400" dirty="0"/>
          </a:p>
        </p:txBody>
      </p:sp>
      <p:sp>
        <p:nvSpPr>
          <p:cNvPr id="6" name="gap 2 circle"/>
          <p:cNvSpPr/>
          <p:nvPr/>
        </p:nvSpPr>
        <p:spPr>
          <a:xfrm>
            <a:off x="548640" y="2438400"/>
            <a:ext cx="548640" cy="548640"/>
          </a:xfrm>
          <a:prstGeom prst="ellipse">
            <a:avLst/>
          </a:prstGeom>
          <a:solidFill>
            <a:schemeClr val="accent2"/>
          </a:solidFill>
          <a:ln/>
        </p:spPr>
      </p:sp>
      <p:pic>
        <p:nvPicPr>
          <p:cNvPr id="7" name="gap 2 icon" descr="preencoded.png">    </p:cNvPr>
          <p:cNvPicPr>
            <a:picLocks noChangeAspect="1"/>
          </p:cNvPicPr>
          <p:nvPr/>
        </p:nvPicPr>
        <p:blipFill>
          <a:blip r:embed="rId2"/>
          <a:stretch>
            <a:fillRect/>
          </a:stretch>
        </p:blipFill>
        <p:spPr>
          <a:xfrm>
            <a:off x="680314" y="2570074"/>
            <a:ext cx="285293" cy="285293"/>
          </a:xfrm>
          <a:prstGeom prst="rect">
            <a:avLst/>
          </a:prstGeom>
        </p:spPr>
      </p:pic>
      <p:sp>
        <p:nvSpPr>
          <p:cNvPr id="8" name="gap text 2"/>
          <p:cNvSpPr txBox="1"/>
          <p:nvPr/>
        </p:nvSpPr>
        <p:spPr>
          <a:xfrm>
            <a:off x="1298448" y="2456688"/>
            <a:ext cx="3456432" cy="929640"/>
          </a:xfrm>
          <a:prstGeom prst="rect">
            <a:avLst/>
          </a:prstGeom>
          <a:noFill/>
          <a:ln/>
        </p:spPr>
        <p:txBody>
          <a:bodyPr wrap="square" lIns="0" tIns="0" rIns="0" bIns="0" rtlCol="0" anchor="t"/>
          <a:lstStyle/>
          <a:p>
            <a:pPr indent="0" marL="0">
              <a:spcAft>
                <a:spcPts val="300"/>
              </a:spcAft>
              <a:buNone/>
            </a:pPr>
            <a:r>
              <a:rPr lang="en-US" sz="1600" b="1" dirty="0">
                <a:solidFill>
                  <a:schemeClr val="tx2"/>
                </a:solidFill>
              </a:rPr>
              <a:t>No common interface</a:t>
            </a:r>
            <a:endParaRPr lang="en-US" sz="1400" dirty="0"/>
          </a:p>
          <a:p>
            <a:pPr indent="0" marL="0">
              <a:spcAft>
                <a:spcPts val="300"/>
              </a:spcAft>
              <a:buNone/>
            </a:pPr>
            <a:r>
              <a:rPr lang="en-US" sz="1400" dirty="0">
                <a:solidFill>
                  <a:schemeClr val="tx1"/>
                </a:solidFill>
              </a:rPr>
              <a:t>Tabular ML, deterministic rules, retrieval and LLM synthesis do not meet at one interface for each patient.</a:t>
            </a:r>
            <a:endParaRPr lang="en-US" sz="1400" dirty="0"/>
          </a:p>
        </p:txBody>
      </p:sp>
      <p:sp>
        <p:nvSpPr>
          <p:cNvPr id="9" name="gap 3 circle"/>
          <p:cNvSpPr/>
          <p:nvPr/>
        </p:nvSpPr>
        <p:spPr>
          <a:xfrm>
            <a:off x="548640" y="3505200"/>
            <a:ext cx="548640" cy="548640"/>
          </a:xfrm>
          <a:prstGeom prst="ellipse">
            <a:avLst/>
          </a:prstGeom>
          <a:solidFill>
            <a:schemeClr val="accent2"/>
          </a:solidFill>
          <a:ln/>
        </p:spPr>
      </p:sp>
      <p:pic>
        <p:nvPicPr>
          <p:cNvPr id="10" name="gap 3 icon" descr="preencoded.png">    </p:cNvPr>
          <p:cNvPicPr>
            <a:picLocks noChangeAspect="1"/>
          </p:cNvPicPr>
          <p:nvPr/>
        </p:nvPicPr>
        <p:blipFill>
          <a:blip r:embed="rId3"/>
          <a:stretch>
            <a:fillRect/>
          </a:stretch>
        </p:blipFill>
        <p:spPr>
          <a:xfrm>
            <a:off x="680314" y="3636874"/>
            <a:ext cx="285293" cy="285293"/>
          </a:xfrm>
          <a:prstGeom prst="rect">
            <a:avLst/>
          </a:prstGeom>
        </p:spPr>
      </p:pic>
      <p:sp>
        <p:nvSpPr>
          <p:cNvPr id="11" name="gap text 3"/>
          <p:cNvSpPr txBox="1"/>
          <p:nvPr/>
        </p:nvSpPr>
        <p:spPr>
          <a:xfrm>
            <a:off x="1298448" y="3523488"/>
            <a:ext cx="3456432" cy="929640"/>
          </a:xfrm>
          <a:prstGeom prst="rect">
            <a:avLst/>
          </a:prstGeom>
          <a:noFill/>
          <a:ln/>
        </p:spPr>
        <p:txBody>
          <a:bodyPr wrap="square" lIns="0" tIns="0" rIns="0" bIns="0" rtlCol="0" anchor="t"/>
          <a:lstStyle/>
          <a:p>
            <a:pPr indent="0" marL="0">
              <a:spcAft>
                <a:spcPts val="300"/>
              </a:spcAft>
              <a:buNone/>
            </a:pPr>
            <a:r>
              <a:rPr lang="en-US" sz="1600" b="1" dirty="0">
                <a:solidFill>
                  <a:schemeClr val="tx2"/>
                </a:solidFill>
              </a:rPr>
              <a:t>Incomplete evaluation</a:t>
            </a:r>
            <a:endParaRPr lang="en-US" sz="1400" dirty="0"/>
          </a:p>
          <a:p>
            <a:pPr indent="0" marL="0">
              <a:spcAft>
                <a:spcPts val="300"/>
              </a:spcAft>
              <a:buNone/>
            </a:pPr>
            <a:r>
              <a:rPr lang="en-US" sz="1400" dirty="0">
                <a:solidFill>
                  <a:schemeClr val="tx1"/>
                </a:solidFill>
              </a:rPr>
              <a:t>Few studies show what each component adds or whether the confidence is calibrated.</a:t>
            </a:r>
            <a:endParaRPr lang="en-US" sz="1400" dirty="0"/>
          </a:p>
        </p:txBody>
      </p:sp>
      <p:sp>
        <p:nvSpPr>
          <p:cNvPr id="12" name="gap answer card"/>
          <p:cNvSpPr/>
          <p:nvPr/>
        </p:nvSpPr>
        <p:spPr>
          <a:xfrm>
            <a:off x="548640" y="4846320"/>
            <a:ext cx="4206240" cy="1188720"/>
          </a:xfrm>
          <a:prstGeom prst="roundRect">
            <a:avLst>
              <a:gd name="adj" fmla="val 9231"/>
            </a:avLst>
          </a:prstGeom>
          <a:solidFill>
            <a:schemeClr val="accent1"/>
          </a:solidFill>
          <a:ln/>
        </p:spPr>
      </p:sp>
      <p:sp>
        <p:nvSpPr>
          <p:cNvPr id="13" name="gap answer"/>
          <p:cNvSpPr txBox="1"/>
          <p:nvPr/>
        </p:nvSpPr>
        <p:spPr>
          <a:xfrm>
            <a:off x="822960" y="4846320"/>
            <a:ext cx="3657600" cy="1188720"/>
          </a:xfrm>
          <a:prstGeom prst="rect">
            <a:avLst/>
          </a:prstGeom>
          <a:noFill/>
          <a:ln/>
        </p:spPr>
        <p:txBody>
          <a:bodyPr wrap="square" lIns="0" tIns="0" rIns="0" bIns="0" rtlCol="0" anchor="ctr"/>
          <a:lstStyle/>
          <a:p>
            <a:pPr indent="0" marL="0">
              <a:buNone/>
            </a:pPr>
            <a:r>
              <a:rPr lang="en-US" sz="1700" b="1" dirty="0">
                <a:solidFill>
                  <a:schemeClr val="bg1"/>
                </a:solidFill>
              </a:rPr>
              <a:t>MedIntel: </a:t>
            </a:r>
            <a:pPr indent="0" marL="0">
              <a:buNone/>
            </a:pPr>
            <a:r>
              <a:rPr lang="en-US" sz="1700" dirty="0">
                <a:solidFill>
                  <a:schemeClr val="bg1"/>
                </a:solidFill>
              </a:rPr>
              <a:t>separate evidence, explicit fusion, clinician in charge.</a:t>
            </a:r>
            <a:endParaRPr lang="en-US" sz="1700" dirty="0"/>
          </a:p>
        </p:txBody>
      </p:sp>
      <p:pic>
        <p:nvPicPr>
          <p:cNvPr id="14" name="CDSS design comparison figure" descr="CDSS design comparison figure">    </p:cNvPr>
          <p:cNvPicPr>
            <a:picLocks noChangeAspect="1"/>
          </p:cNvPicPr>
          <p:nvPr/>
        </p:nvPicPr>
        <p:blipFill>
          <a:blip r:embed="rId4"/>
          <a:stretch>
            <a:fillRect/>
          </a:stretch>
        </p:blipFill>
        <p:spPr>
          <a:xfrm>
            <a:off x="5166360" y="1597370"/>
            <a:ext cx="6476695" cy="3864428"/>
          </a:xfrm>
          <a:prstGeom prst="rect">
            <a:avLst/>
          </a:prstGeom>
        </p:spPr>
      </p:pic>
      <p:sp>
        <p:nvSpPr>
          <p:cNvPr id="15" name="gap figure caption"/>
          <p:cNvSpPr txBox="1"/>
          <p:nvPr/>
        </p:nvSpPr>
        <p:spPr>
          <a:xfrm>
            <a:off x="5166360" y="5553238"/>
            <a:ext cx="6476695" cy="256032"/>
          </a:xfrm>
          <a:prstGeom prst="rect">
            <a:avLst/>
          </a:prstGeom>
          <a:noFill/>
          <a:ln/>
        </p:spPr>
        <p:txBody>
          <a:bodyPr wrap="square" lIns="0" tIns="0" rIns="0" bIns="0" rtlCol="0" anchor="ctr"/>
          <a:lstStyle/>
          <a:p>
            <a:pPr algn="ctr" indent="0" marL="0">
              <a:buNone/>
            </a:pPr>
            <a:r>
              <a:rPr lang="en-US" sz="1200" i="1" dirty="0">
                <a:solidFill>
                  <a:srgbClr val="5E6E73"/>
                </a:solidFill>
              </a:rPr>
              <a:t>Single-model, RAG-based and evidence-separated multi-agent CDSS designs</a:t>
            </a:r>
            <a:endParaRPr lang="en-US" sz="1200" dirty="0"/>
          </a:p>
        </p:txBody>
      </p:sp>
      <p:sp>
        <p:nvSpPr>
          <p:cNvPr id="25" name="Slide Number Placeholder 0"/>
          <p:cNvSpPr>
            <a:spLocks noGrp="1"/>
          </p:cNvSpPr>
          <p:nvPr>
            <p:ph type="sldNum" sz="quarter" idx="4294967295"/>
          </p:nvPr>
        </p:nvSpPr>
        <p:spPr>
          <a:xfrm>
            <a:off x="11201400" y="6382512"/>
            <a:ext cx="438912" cy="27432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E6E73"/>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94415" cy="777240"/>
          </a:xfrm>
          <a:prstGeom prst="rect">
            <a:avLst/>
          </a:prstGeom>
          <a:noFill/>
          <a:ln/>
        </p:spPr>
        <p:txBody>
          <a:bodyPr wrap="square" lIns="0" tIns="0" rIns="0" bIns="0" rtlCol="0" anchor="ctr"/>
          <a:lstStyle/>
          <a:p>
            <a:pPr algn="l" indent="0" marL="0">
              <a:buNone/>
            </a:pPr>
            <a:r>
              <a:rPr lang="en-US" sz="3400" b="1" dirty="0">
                <a:solidFill>
                  <a:schemeClr val="tx2"/>
                </a:solidFill>
                <a:latin typeface="+mj-lt" pitchFamily="34" charset="0"/>
                <a:ea typeface="+mj-lt" pitchFamily="34" charset="-122"/>
                <a:cs typeface="+mj-lt" pitchFamily="34" charset="-120"/>
              </a:rPr>
              <a:t>Proposed Architecture</a:t>
            </a:r>
            <a:endParaRPr lang="en-US" sz="3400" dirty="0"/>
          </a:p>
        </p:txBody>
      </p:sp>
      <p:pic>
        <p:nvPicPr>
          <p:cNvPr id="3" name="MedIntel architecture figure" descr="MedIntel architecture figure">    </p:cNvPr>
          <p:cNvPicPr>
            <a:picLocks noChangeAspect="1"/>
          </p:cNvPicPr>
          <p:nvPr/>
        </p:nvPicPr>
        <p:blipFill>
          <a:blip r:embed="rId1"/>
          <a:stretch>
            <a:fillRect/>
          </a:stretch>
        </p:blipFill>
        <p:spPr>
          <a:xfrm>
            <a:off x="1340968" y="1371600"/>
            <a:ext cx="9509760" cy="4242168"/>
          </a:xfrm>
          <a:prstGeom prst="rect">
            <a:avLst/>
          </a:prstGeom>
        </p:spPr>
      </p:pic>
      <p:sp>
        <p:nvSpPr>
          <p:cNvPr id="4" name="architecture takeaway"/>
          <p:cNvSpPr txBox="1"/>
          <p:nvPr/>
        </p:nvSpPr>
        <p:spPr>
          <a:xfrm>
            <a:off x="548640" y="5723496"/>
            <a:ext cx="11094415" cy="311544"/>
          </a:xfrm>
          <a:prstGeom prst="rect">
            <a:avLst/>
          </a:prstGeom>
          <a:noFill/>
          <a:ln/>
        </p:spPr>
        <p:txBody>
          <a:bodyPr wrap="square" lIns="0" tIns="0" rIns="0" bIns="0" rtlCol="0" anchor="ctr"/>
          <a:lstStyle/>
          <a:p>
            <a:pPr algn="ctr" indent="0" marL="0">
              <a:buNone/>
            </a:pPr>
            <a:r>
              <a:rPr lang="en-US" sz="1600" b="1" dirty="0">
                <a:solidFill>
                  <a:schemeClr val="tx2"/>
                </a:solidFill>
              </a:rPr>
              <a:t>Typed agent outputs</a:t>
            </a:r>
            <a:pPr algn="ctr" indent="0" marL="0">
              <a:buNone/>
            </a:pPr>
            <a:r>
              <a:rPr lang="en-US" sz="1600" dirty="0">
                <a:solidFill>
                  <a:schemeClr val="tx1"/>
                </a:solidFill>
              </a:rPr>
              <a:t> are fused into one scored recommendation, and a clinician reviews every report.</a:t>
            </a:r>
            <a:endParaRPr lang="en-US" sz="1600" dirty="0"/>
          </a:p>
        </p:txBody>
      </p:sp>
      <p:sp>
        <p:nvSpPr>
          <p:cNvPr id="25" name="Slide Number Placeholder 0"/>
          <p:cNvSpPr>
            <a:spLocks noGrp="1"/>
          </p:cNvSpPr>
          <p:nvPr>
            <p:ph type="sldNum" sz="quarter" idx="4294967295"/>
          </p:nvPr>
        </p:nvSpPr>
        <p:spPr>
          <a:xfrm>
            <a:off x="11201400" y="6382512"/>
            <a:ext cx="438912" cy="27432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E6E73"/>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94415" cy="777240"/>
          </a:xfrm>
          <a:prstGeom prst="rect">
            <a:avLst/>
          </a:prstGeom>
          <a:noFill/>
          <a:ln/>
        </p:spPr>
        <p:txBody>
          <a:bodyPr wrap="square" lIns="0" tIns="0" rIns="0" bIns="0" rtlCol="0" anchor="ctr"/>
          <a:lstStyle/>
          <a:p>
            <a:pPr algn="l" indent="0" marL="0">
              <a:buNone/>
            </a:pPr>
            <a:r>
              <a:rPr lang="en-US" sz="3400" b="1" dirty="0">
                <a:solidFill>
                  <a:schemeClr val="tx2"/>
                </a:solidFill>
                <a:latin typeface="+mj-lt" pitchFamily="34" charset="0"/>
                <a:ea typeface="+mj-lt" pitchFamily="34" charset="-122"/>
                <a:cs typeface="+mj-lt" pitchFamily="34" charset="-120"/>
              </a:rPr>
              <a:t>Agents &amp; Output Contracts</a:t>
            </a:r>
            <a:endParaRPr lang="en-US" sz="3400" dirty="0"/>
          </a:p>
        </p:txBody>
      </p:sp>
      <p:sp>
        <p:nvSpPr>
          <p:cNvPr id="3" name="agent card 1"/>
          <p:cNvSpPr/>
          <p:nvPr/>
        </p:nvSpPr>
        <p:spPr>
          <a:xfrm>
            <a:off x="548640" y="1371600"/>
            <a:ext cx="3515258" cy="2194560"/>
          </a:xfrm>
          <a:prstGeom prst="roundRect">
            <a:avLst>
              <a:gd name="adj" fmla="val 5000"/>
            </a:avLst>
          </a:prstGeom>
          <a:solidFill>
            <a:schemeClr val="bg1"/>
          </a:solidFill>
          <a:ln w="9525">
            <a:solidFill>
              <a:srgbClr val="D5E3E4"/>
            </a:solidFill>
            <a:prstDash val="solid"/>
          </a:ln>
          <a:effectLst>
            <a:outerShdw sx="100000" sy="100000" kx="0" ky="0" algn="bl" rotWithShape="0" blurRad="76200" dist="25400" dir="5400000">
              <a:srgbClr val="000000">
                <a:alpha val="12000"/>
              </a:srgbClr>
            </a:outerShdw>
          </a:effectLst>
        </p:spPr>
      </p:sp>
      <p:sp>
        <p:nvSpPr>
          <p:cNvPr id="4" name="agent 1 circle"/>
          <p:cNvSpPr/>
          <p:nvPr/>
        </p:nvSpPr>
        <p:spPr>
          <a:xfrm>
            <a:off x="777240" y="1600200"/>
            <a:ext cx="658368" cy="658368"/>
          </a:xfrm>
          <a:prstGeom prst="ellipse">
            <a:avLst/>
          </a:prstGeom>
          <a:solidFill>
            <a:schemeClr val="accent5"/>
          </a:solidFill>
          <a:ln/>
        </p:spPr>
      </p:sp>
      <p:pic>
        <p:nvPicPr>
          <p:cNvPr id="5" name="agent 1 icon" descr="preencoded.png">    </p:cNvPr>
          <p:cNvPicPr>
            <a:picLocks noChangeAspect="1"/>
          </p:cNvPicPr>
          <p:nvPr/>
        </p:nvPicPr>
        <p:blipFill>
          <a:blip r:embed="rId1"/>
          <a:stretch>
            <a:fillRect/>
          </a:stretch>
        </p:blipFill>
        <p:spPr>
          <a:xfrm>
            <a:off x="935248" y="1758208"/>
            <a:ext cx="342351" cy="342351"/>
          </a:xfrm>
          <a:prstGeom prst="rect">
            <a:avLst/>
          </a:prstGeom>
        </p:spPr>
      </p:pic>
      <p:sp>
        <p:nvSpPr>
          <p:cNvPr id="6" name="agent name 1"/>
          <p:cNvSpPr txBox="1"/>
          <p:nvPr/>
        </p:nvSpPr>
        <p:spPr>
          <a:xfrm>
            <a:off x="1618488" y="1600200"/>
            <a:ext cx="2216810" cy="658368"/>
          </a:xfrm>
          <a:prstGeom prst="rect">
            <a:avLst/>
          </a:prstGeom>
          <a:noFill/>
          <a:ln/>
        </p:spPr>
        <p:txBody>
          <a:bodyPr wrap="square" lIns="0" tIns="0" rIns="0" bIns="0" rtlCol="0" anchor="ctr"/>
          <a:lstStyle/>
          <a:p>
            <a:pPr indent="0" marL="0">
              <a:buNone/>
            </a:pPr>
            <a:r>
              <a:rPr lang="en-US" sz="1600" b="1" dirty="0">
                <a:solidFill>
                  <a:schemeClr val="tx2"/>
                </a:solidFill>
              </a:rPr>
              <a:t>ML Analysis Agent</a:t>
            </a:r>
            <a:endParaRPr lang="en-US" sz="1600" dirty="0"/>
          </a:p>
        </p:txBody>
      </p:sp>
      <p:sp>
        <p:nvSpPr>
          <p:cNvPr id="7" name="agent role 1"/>
          <p:cNvSpPr txBox="1"/>
          <p:nvPr/>
        </p:nvSpPr>
        <p:spPr>
          <a:xfrm>
            <a:off x="777240" y="2441448"/>
            <a:ext cx="3058058" cy="457200"/>
          </a:xfrm>
          <a:prstGeom prst="rect">
            <a:avLst/>
          </a:prstGeom>
          <a:noFill/>
          <a:ln/>
        </p:spPr>
        <p:txBody>
          <a:bodyPr wrap="square" lIns="0" tIns="0" rIns="0" bIns="0" rtlCol="0" anchor="t"/>
          <a:lstStyle/>
          <a:p>
            <a:pPr indent="0" marL="0">
              <a:buNone/>
            </a:pPr>
            <a:r>
              <a:rPr lang="en-US" sz="1400" dirty="0">
                <a:solidFill>
                  <a:schemeClr val="tx1"/>
                </a:solidFill>
              </a:rPr>
              <a:t>Learned patterns in structured features</a:t>
            </a:r>
            <a:endParaRPr lang="en-US" sz="1400" dirty="0"/>
          </a:p>
        </p:txBody>
      </p:sp>
      <p:sp>
        <p:nvSpPr>
          <p:cNvPr id="8" name="agent output 1"/>
          <p:cNvSpPr txBox="1"/>
          <p:nvPr/>
        </p:nvSpPr>
        <p:spPr>
          <a:xfrm>
            <a:off x="777240" y="2971800"/>
            <a:ext cx="3058058" cy="411480"/>
          </a:xfrm>
          <a:prstGeom prst="rect">
            <a:avLst/>
          </a:prstGeom>
          <a:noFill/>
          <a:ln/>
        </p:spPr>
        <p:txBody>
          <a:bodyPr wrap="square" lIns="0" tIns="0" rIns="0" bIns="0" rtlCol="0" anchor="t"/>
          <a:lstStyle/>
          <a:p>
            <a:pPr indent="0" marL="0">
              <a:buNone/>
            </a:pPr>
            <a:r>
              <a:rPr lang="en-US" sz="1200" i="1" dirty="0">
                <a:solidFill>
                  <a:srgbClr val="5E6E73"/>
                </a:solidFill>
              </a:rPr>
              <a:t>MLResult: prediction, class probabilities, feature importance, model version</a:t>
            </a:r>
            <a:endParaRPr lang="en-US" sz="1200" dirty="0"/>
          </a:p>
        </p:txBody>
      </p:sp>
      <p:sp>
        <p:nvSpPr>
          <p:cNvPr id="9" name="agent card 2"/>
          <p:cNvSpPr/>
          <p:nvPr/>
        </p:nvSpPr>
        <p:spPr>
          <a:xfrm>
            <a:off x="4338218" y="1371600"/>
            <a:ext cx="3515258" cy="2194560"/>
          </a:xfrm>
          <a:prstGeom prst="roundRect">
            <a:avLst>
              <a:gd name="adj" fmla="val 5000"/>
            </a:avLst>
          </a:prstGeom>
          <a:solidFill>
            <a:schemeClr val="bg1"/>
          </a:solidFill>
          <a:ln w="9525">
            <a:solidFill>
              <a:srgbClr val="D5E3E4"/>
            </a:solidFill>
            <a:prstDash val="solid"/>
          </a:ln>
          <a:effectLst>
            <a:outerShdw sx="100000" sy="100000" kx="0" ky="0" algn="bl" rotWithShape="0" blurRad="76200" dist="25400" dir="5400000">
              <a:srgbClr val="000000">
                <a:alpha val="12000"/>
              </a:srgbClr>
            </a:outerShdw>
          </a:effectLst>
        </p:spPr>
      </p:sp>
      <p:sp>
        <p:nvSpPr>
          <p:cNvPr id="10" name="agent 2 circle"/>
          <p:cNvSpPr/>
          <p:nvPr/>
        </p:nvSpPr>
        <p:spPr>
          <a:xfrm>
            <a:off x="4566818" y="1600200"/>
            <a:ext cx="658368" cy="658368"/>
          </a:xfrm>
          <a:prstGeom prst="ellipse">
            <a:avLst/>
          </a:prstGeom>
          <a:solidFill>
            <a:schemeClr val="accent3"/>
          </a:solidFill>
          <a:ln/>
        </p:spPr>
      </p:sp>
      <p:pic>
        <p:nvPicPr>
          <p:cNvPr id="11" name="agent 2 icon" descr="preencoded.png">    </p:cNvPr>
          <p:cNvPicPr>
            <a:picLocks noChangeAspect="1"/>
          </p:cNvPicPr>
          <p:nvPr/>
        </p:nvPicPr>
        <p:blipFill>
          <a:blip r:embed="rId2"/>
          <a:stretch>
            <a:fillRect/>
          </a:stretch>
        </p:blipFill>
        <p:spPr>
          <a:xfrm>
            <a:off x="4724827" y="1758208"/>
            <a:ext cx="342351" cy="342351"/>
          </a:xfrm>
          <a:prstGeom prst="rect">
            <a:avLst/>
          </a:prstGeom>
        </p:spPr>
      </p:pic>
      <p:sp>
        <p:nvSpPr>
          <p:cNvPr id="12" name="agent name 2"/>
          <p:cNvSpPr txBox="1"/>
          <p:nvPr/>
        </p:nvSpPr>
        <p:spPr>
          <a:xfrm>
            <a:off x="5408066" y="1600200"/>
            <a:ext cx="2216810" cy="658368"/>
          </a:xfrm>
          <a:prstGeom prst="rect">
            <a:avLst/>
          </a:prstGeom>
          <a:noFill/>
          <a:ln/>
        </p:spPr>
        <p:txBody>
          <a:bodyPr wrap="square" lIns="0" tIns="0" rIns="0" bIns="0" rtlCol="0" anchor="ctr"/>
          <a:lstStyle/>
          <a:p>
            <a:pPr indent="0" marL="0">
              <a:buNone/>
            </a:pPr>
            <a:r>
              <a:rPr lang="en-US" sz="1600" b="1" dirty="0">
                <a:solidFill>
                  <a:schemeClr val="tx2"/>
                </a:solidFill>
              </a:rPr>
              <a:t>Rule Validation Agent</a:t>
            </a:r>
            <a:endParaRPr lang="en-US" sz="1600" dirty="0"/>
          </a:p>
        </p:txBody>
      </p:sp>
      <p:sp>
        <p:nvSpPr>
          <p:cNvPr id="13" name="agent role 2"/>
          <p:cNvSpPr txBox="1"/>
          <p:nvPr/>
        </p:nvSpPr>
        <p:spPr>
          <a:xfrm>
            <a:off x="4566818" y="2441448"/>
            <a:ext cx="3058058" cy="457200"/>
          </a:xfrm>
          <a:prstGeom prst="rect">
            <a:avLst/>
          </a:prstGeom>
          <a:noFill/>
          <a:ln/>
        </p:spPr>
        <p:txBody>
          <a:bodyPr wrap="square" lIns="0" tIns="0" rIns="0" bIns="0" rtlCol="0" anchor="t"/>
          <a:lstStyle/>
          <a:p>
            <a:pPr indent="0" marL="0">
              <a:buNone/>
            </a:pPr>
            <a:r>
              <a:rPr lang="en-US" sz="1400" dirty="0">
                <a:solidFill>
                  <a:schemeClr val="tx1"/>
                </a:solidFill>
              </a:rPr>
              <a:t>Deterministic thresholds and policies from a versioned JSON rulebase</a:t>
            </a:r>
            <a:endParaRPr lang="en-US" sz="1400" dirty="0"/>
          </a:p>
        </p:txBody>
      </p:sp>
      <p:sp>
        <p:nvSpPr>
          <p:cNvPr id="14" name="agent output 2"/>
          <p:cNvSpPr txBox="1"/>
          <p:nvPr/>
        </p:nvSpPr>
        <p:spPr>
          <a:xfrm>
            <a:off x="4566818" y="2971800"/>
            <a:ext cx="3058058" cy="411480"/>
          </a:xfrm>
          <a:prstGeom prst="rect">
            <a:avLst/>
          </a:prstGeom>
          <a:noFill/>
          <a:ln/>
        </p:spPr>
        <p:txBody>
          <a:bodyPr wrap="square" lIns="0" tIns="0" rIns="0" bIns="0" rtlCol="0" anchor="t"/>
          <a:lstStyle/>
          <a:p>
            <a:pPr indent="0" marL="0">
              <a:buNone/>
            </a:pPr>
            <a:r>
              <a:rPr lang="en-US" sz="1200" i="1" dirty="0">
                <a:solidFill>
                  <a:srgbClr val="5E6E73"/>
                </a:solidFill>
              </a:rPr>
              <a:t>RuleResult: triggered rules, action, reason, rulebase version</a:t>
            </a:r>
            <a:endParaRPr lang="en-US" sz="1200" dirty="0"/>
          </a:p>
        </p:txBody>
      </p:sp>
      <p:sp>
        <p:nvSpPr>
          <p:cNvPr id="15" name="agent card 3"/>
          <p:cNvSpPr/>
          <p:nvPr/>
        </p:nvSpPr>
        <p:spPr>
          <a:xfrm>
            <a:off x="8127797" y="1371600"/>
            <a:ext cx="3515258" cy="2194560"/>
          </a:xfrm>
          <a:prstGeom prst="roundRect">
            <a:avLst>
              <a:gd name="adj" fmla="val 5000"/>
            </a:avLst>
          </a:prstGeom>
          <a:solidFill>
            <a:schemeClr val="bg1"/>
          </a:solidFill>
          <a:ln w="9525">
            <a:solidFill>
              <a:srgbClr val="D5E3E4"/>
            </a:solidFill>
            <a:prstDash val="solid"/>
          </a:ln>
          <a:effectLst>
            <a:outerShdw sx="100000" sy="100000" kx="0" ky="0" algn="bl" rotWithShape="0" blurRad="76200" dist="25400" dir="5400000">
              <a:srgbClr val="000000">
                <a:alpha val="12000"/>
              </a:srgbClr>
            </a:outerShdw>
          </a:effectLst>
        </p:spPr>
      </p:sp>
      <p:sp>
        <p:nvSpPr>
          <p:cNvPr id="16" name="agent 3 circle"/>
          <p:cNvSpPr/>
          <p:nvPr/>
        </p:nvSpPr>
        <p:spPr>
          <a:xfrm>
            <a:off x="8356397" y="1600200"/>
            <a:ext cx="658368" cy="658368"/>
          </a:xfrm>
          <a:prstGeom prst="ellipse">
            <a:avLst/>
          </a:prstGeom>
          <a:solidFill>
            <a:schemeClr val="accent6"/>
          </a:solidFill>
          <a:ln/>
        </p:spPr>
      </p:sp>
      <p:pic>
        <p:nvPicPr>
          <p:cNvPr id="17" name="agent 3 icon" descr="preencoded.png">    </p:cNvPr>
          <p:cNvPicPr>
            <a:picLocks noChangeAspect="1"/>
          </p:cNvPicPr>
          <p:nvPr/>
        </p:nvPicPr>
        <p:blipFill>
          <a:blip r:embed="rId3"/>
          <a:stretch>
            <a:fillRect/>
          </a:stretch>
        </p:blipFill>
        <p:spPr>
          <a:xfrm>
            <a:off x="8514405" y="1758208"/>
            <a:ext cx="342351" cy="342351"/>
          </a:xfrm>
          <a:prstGeom prst="rect">
            <a:avLst/>
          </a:prstGeom>
        </p:spPr>
      </p:pic>
      <p:sp>
        <p:nvSpPr>
          <p:cNvPr id="18" name="agent name 3"/>
          <p:cNvSpPr txBox="1"/>
          <p:nvPr/>
        </p:nvSpPr>
        <p:spPr>
          <a:xfrm>
            <a:off x="9197645" y="1600200"/>
            <a:ext cx="2216810" cy="658368"/>
          </a:xfrm>
          <a:prstGeom prst="rect">
            <a:avLst/>
          </a:prstGeom>
          <a:noFill/>
          <a:ln/>
        </p:spPr>
        <p:txBody>
          <a:bodyPr wrap="square" lIns="0" tIns="0" rIns="0" bIns="0" rtlCol="0" anchor="ctr"/>
          <a:lstStyle/>
          <a:p>
            <a:pPr indent="0" marL="0">
              <a:buNone/>
            </a:pPr>
            <a:r>
              <a:rPr lang="en-US" sz="1600" b="1" dirty="0">
                <a:solidFill>
                  <a:schemeClr val="tx2"/>
                </a:solidFill>
              </a:rPr>
              <a:t>Knowledge Retrieval Agent</a:t>
            </a:r>
            <a:endParaRPr lang="en-US" sz="1600" dirty="0"/>
          </a:p>
        </p:txBody>
      </p:sp>
      <p:sp>
        <p:nvSpPr>
          <p:cNvPr id="19" name="agent role 3"/>
          <p:cNvSpPr txBox="1"/>
          <p:nvPr/>
        </p:nvSpPr>
        <p:spPr>
          <a:xfrm>
            <a:off x="8356397" y="2441448"/>
            <a:ext cx="3058058" cy="457200"/>
          </a:xfrm>
          <a:prstGeom prst="rect">
            <a:avLst/>
          </a:prstGeom>
          <a:noFill/>
          <a:ln/>
        </p:spPr>
        <p:txBody>
          <a:bodyPr wrap="square" lIns="0" tIns="0" rIns="0" bIns="0" rtlCol="0" anchor="t"/>
          <a:lstStyle/>
          <a:p>
            <a:pPr indent="0" marL="0">
              <a:buNone/>
            </a:pPr>
            <a:r>
              <a:rPr lang="en-US" sz="1400" dirty="0">
                <a:solidFill>
                  <a:schemeClr val="tx1"/>
                </a:solidFill>
              </a:rPr>
              <a:t>Evidence from approved guidelines and articles in a FAISS index</a:t>
            </a:r>
            <a:endParaRPr lang="en-US" sz="1400" dirty="0"/>
          </a:p>
        </p:txBody>
      </p:sp>
      <p:sp>
        <p:nvSpPr>
          <p:cNvPr id="20" name="agent output 3"/>
          <p:cNvSpPr txBox="1"/>
          <p:nvPr/>
        </p:nvSpPr>
        <p:spPr>
          <a:xfrm>
            <a:off x="8356397" y="2971800"/>
            <a:ext cx="3058058" cy="411480"/>
          </a:xfrm>
          <a:prstGeom prst="rect">
            <a:avLst/>
          </a:prstGeom>
          <a:noFill/>
          <a:ln/>
        </p:spPr>
        <p:txBody>
          <a:bodyPr wrap="square" lIns="0" tIns="0" rIns="0" bIns="0" rtlCol="0" anchor="t"/>
          <a:lstStyle/>
          <a:p>
            <a:pPr indent="0" marL="0">
              <a:buNone/>
            </a:pPr>
            <a:r>
              <a:rPr lang="en-US" sz="1200" i="1" dirty="0">
                <a:solidFill>
                  <a:srgbClr val="5E6E73"/>
                </a:solidFill>
              </a:rPr>
              <a:t>EvidenceItem list: source id, passage, similarity score</a:t>
            </a:r>
            <a:endParaRPr lang="en-US" sz="1200" dirty="0"/>
          </a:p>
        </p:txBody>
      </p:sp>
      <p:sp>
        <p:nvSpPr>
          <p:cNvPr id="21" name="agent card 4"/>
          <p:cNvSpPr/>
          <p:nvPr/>
        </p:nvSpPr>
        <p:spPr>
          <a:xfrm>
            <a:off x="548640" y="3840480"/>
            <a:ext cx="3515258" cy="2194560"/>
          </a:xfrm>
          <a:prstGeom prst="roundRect">
            <a:avLst>
              <a:gd name="adj" fmla="val 5000"/>
            </a:avLst>
          </a:prstGeom>
          <a:solidFill>
            <a:schemeClr val="bg1"/>
          </a:solidFill>
          <a:ln w="9525">
            <a:solidFill>
              <a:srgbClr val="D5E3E4"/>
            </a:solidFill>
            <a:prstDash val="solid"/>
          </a:ln>
          <a:effectLst>
            <a:outerShdw sx="100000" sy="100000" kx="0" ky="0" algn="bl" rotWithShape="0" blurRad="76200" dist="25400" dir="5400000">
              <a:srgbClr val="000000">
                <a:alpha val="12000"/>
              </a:srgbClr>
            </a:outerShdw>
          </a:effectLst>
        </p:spPr>
      </p:sp>
      <p:sp>
        <p:nvSpPr>
          <p:cNvPr id="22" name="agent 4 circle"/>
          <p:cNvSpPr/>
          <p:nvPr/>
        </p:nvSpPr>
        <p:spPr>
          <a:xfrm>
            <a:off x="777240" y="4069080"/>
            <a:ext cx="658368" cy="658368"/>
          </a:xfrm>
          <a:prstGeom prst="ellipse">
            <a:avLst/>
          </a:prstGeom>
          <a:solidFill>
            <a:schemeClr val="accent1"/>
          </a:solidFill>
          <a:ln/>
        </p:spPr>
      </p:sp>
      <p:pic>
        <p:nvPicPr>
          <p:cNvPr id="23" name="agent 4 icon" descr="preencoded.png">    </p:cNvPr>
          <p:cNvPicPr>
            <a:picLocks noChangeAspect="1"/>
          </p:cNvPicPr>
          <p:nvPr/>
        </p:nvPicPr>
        <p:blipFill>
          <a:blip r:embed="rId4"/>
          <a:stretch>
            <a:fillRect/>
          </a:stretch>
        </p:blipFill>
        <p:spPr>
          <a:xfrm>
            <a:off x="935248" y="4227088"/>
            <a:ext cx="342351" cy="342351"/>
          </a:xfrm>
          <a:prstGeom prst="rect">
            <a:avLst/>
          </a:prstGeom>
        </p:spPr>
      </p:pic>
      <p:sp>
        <p:nvSpPr>
          <p:cNvPr id="24" name="agent name 4"/>
          <p:cNvSpPr txBox="1"/>
          <p:nvPr/>
        </p:nvSpPr>
        <p:spPr>
          <a:xfrm>
            <a:off x="1618488" y="4069080"/>
            <a:ext cx="2216810" cy="658368"/>
          </a:xfrm>
          <a:prstGeom prst="rect">
            <a:avLst/>
          </a:prstGeom>
          <a:noFill/>
          <a:ln/>
        </p:spPr>
        <p:txBody>
          <a:bodyPr wrap="square" lIns="0" tIns="0" rIns="0" bIns="0" rtlCol="0" anchor="ctr"/>
          <a:lstStyle/>
          <a:p>
            <a:pPr indent="0" marL="0">
              <a:buNone/>
            </a:pPr>
            <a:r>
              <a:rPr lang="en-US" sz="1600" b="1" dirty="0">
                <a:solidFill>
                  <a:schemeClr val="tx2"/>
                </a:solidFill>
              </a:rPr>
              <a:t>Clinical Context Agent</a:t>
            </a:r>
            <a:endParaRPr lang="en-US" sz="1600" dirty="0"/>
          </a:p>
        </p:txBody>
      </p:sp>
      <p:sp>
        <p:nvSpPr>
          <p:cNvPr id="25" name="agent role 4"/>
          <p:cNvSpPr txBox="1"/>
          <p:nvPr/>
        </p:nvSpPr>
        <p:spPr>
          <a:xfrm>
            <a:off x="777240" y="4910328"/>
            <a:ext cx="3058058" cy="457200"/>
          </a:xfrm>
          <a:prstGeom prst="rect">
            <a:avLst/>
          </a:prstGeom>
          <a:noFill/>
          <a:ln/>
        </p:spPr>
        <p:txBody>
          <a:bodyPr wrap="square" lIns="0" tIns="0" rIns="0" bIns="0" rtlCol="0" anchor="t"/>
          <a:lstStyle/>
          <a:p>
            <a:pPr indent="0" marL="0">
              <a:buNone/>
            </a:pPr>
            <a:r>
              <a:rPr lang="en-US" sz="1400" dirty="0">
                <a:solidFill>
                  <a:schemeClr val="tx1"/>
                </a:solidFill>
              </a:rPr>
              <a:t>LLM synthesis that names conflicts and invents nothing</a:t>
            </a:r>
            <a:endParaRPr lang="en-US" sz="1400" dirty="0"/>
          </a:p>
        </p:txBody>
      </p:sp>
      <p:sp>
        <p:nvSpPr>
          <p:cNvPr id="26" name="agent output 4"/>
          <p:cNvSpPr txBox="1"/>
          <p:nvPr/>
        </p:nvSpPr>
        <p:spPr>
          <a:xfrm>
            <a:off x="777240" y="5440680"/>
            <a:ext cx="3058058" cy="411480"/>
          </a:xfrm>
          <a:prstGeom prst="rect">
            <a:avLst/>
          </a:prstGeom>
          <a:noFill/>
          <a:ln/>
        </p:spPr>
        <p:txBody>
          <a:bodyPr wrap="square" lIns="0" tIns="0" rIns="0" bIns="0" rtlCol="0" anchor="t"/>
          <a:lstStyle/>
          <a:p>
            <a:pPr indent="0" marL="0">
              <a:buNone/>
            </a:pPr>
            <a:r>
              <a:rPr lang="en-US" sz="1200" i="1" dirty="0">
                <a:solidFill>
                  <a:srgbClr val="5E6E73"/>
                </a:solidFill>
              </a:rPr>
              <a:t>ContextSummary: summary, conflicts, unsupported statements</a:t>
            </a:r>
            <a:endParaRPr lang="en-US" sz="1200" dirty="0"/>
          </a:p>
        </p:txBody>
      </p:sp>
      <p:sp>
        <p:nvSpPr>
          <p:cNvPr id="27" name="agent card 5"/>
          <p:cNvSpPr/>
          <p:nvPr/>
        </p:nvSpPr>
        <p:spPr>
          <a:xfrm>
            <a:off x="4338218" y="3840480"/>
            <a:ext cx="3515258" cy="2194560"/>
          </a:xfrm>
          <a:prstGeom prst="roundRect">
            <a:avLst>
              <a:gd name="adj" fmla="val 5000"/>
            </a:avLst>
          </a:prstGeom>
          <a:solidFill>
            <a:schemeClr val="bg1"/>
          </a:solidFill>
          <a:ln w="9525">
            <a:solidFill>
              <a:srgbClr val="D5E3E4"/>
            </a:solidFill>
            <a:prstDash val="solid"/>
          </a:ln>
          <a:effectLst>
            <a:outerShdw sx="100000" sy="100000" kx="0" ky="0" algn="bl" rotWithShape="0" blurRad="76200" dist="25400" dir="5400000">
              <a:srgbClr val="000000">
                <a:alpha val="12000"/>
              </a:srgbClr>
            </a:outerShdw>
          </a:effectLst>
        </p:spPr>
      </p:sp>
      <p:sp>
        <p:nvSpPr>
          <p:cNvPr id="28" name="agent 5 circle"/>
          <p:cNvSpPr/>
          <p:nvPr/>
        </p:nvSpPr>
        <p:spPr>
          <a:xfrm>
            <a:off x="4566818" y="4069080"/>
            <a:ext cx="658368" cy="658368"/>
          </a:xfrm>
          <a:prstGeom prst="ellipse">
            <a:avLst/>
          </a:prstGeom>
          <a:solidFill>
            <a:schemeClr val="accent4"/>
          </a:solidFill>
          <a:ln/>
        </p:spPr>
      </p:sp>
      <p:pic>
        <p:nvPicPr>
          <p:cNvPr id="29" name="agent 5 icon" descr="preencoded.png">    </p:cNvPr>
          <p:cNvPicPr>
            <a:picLocks noChangeAspect="1"/>
          </p:cNvPicPr>
          <p:nvPr/>
        </p:nvPicPr>
        <p:blipFill>
          <a:blip r:embed="rId5"/>
          <a:stretch>
            <a:fillRect/>
          </a:stretch>
        </p:blipFill>
        <p:spPr>
          <a:xfrm>
            <a:off x="4724827" y="4227088"/>
            <a:ext cx="342351" cy="342351"/>
          </a:xfrm>
          <a:prstGeom prst="rect">
            <a:avLst/>
          </a:prstGeom>
        </p:spPr>
      </p:pic>
      <p:sp>
        <p:nvSpPr>
          <p:cNvPr id="30" name="agent name 5"/>
          <p:cNvSpPr txBox="1"/>
          <p:nvPr/>
        </p:nvSpPr>
        <p:spPr>
          <a:xfrm>
            <a:off x="5408066" y="4069080"/>
            <a:ext cx="2216810" cy="658368"/>
          </a:xfrm>
          <a:prstGeom prst="rect">
            <a:avLst/>
          </a:prstGeom>
          <a:noFill/>
          <a:ln/>
        </p:spPr>
        <p:txBody>
          <a:bodyPr wrap="square" lIns="0" tIns="0" rIns="0" bIns="0" rtlCol="0" anchor="ctr"/>
          <a:lstStyle/>
          <a:p>
            <a:pPr indent="0" marL="0">
              <a:buNone/>
            </a:pPr>
            <a:r>
              <a:rPr lang="en-US" sz="1600" b="1" dirty="0">
                <a:solidFill>
                  <a:schemeClr val="tx2"/>
                </a:solidFill>
              </a:rPr>
              <a:t>Decision Fusion Engine</a:t>
            </a:r>
            <a:endParaRPr lang="en-US" sz="1600" dirty="0"/>
          </a:p>
        </p:txBody>
      </p:sp>
      <p:sp>
        <p:nvSpPr>
          <p:cNvPr id="31" name="agent role 5"/>
          <p:cNvSpPr txBox="1"/>
          <p:nvPr/>
        </p:nvSpPr>
        <p:spPr>
          <a:xfrm>
            <a:off x="4566818" y="4910328"/>
            <a:ext cx="3058058" cy="457200"/>
          </a:xfrm>
          <a:prstGeom prst="rect">
            <a:avLst/>
          </a:prstGeom>
          <a:noFill/>
          <a:ln/>
        </p:spPr>
        <p:txBody>
          <a:bodyPr wrap="square" lIns="0" tIns="0" rIns="0" bIns="0" rtlCol="0" anchor="t"/>
          <a:lstStyle/>
          <a:p>
            <a:pPr indent="0" marL="0">
              <a:buNone/>
            </a:pPr>
            <a:r>
              <a:rPr lang="en-US" sz="1400" dirty="0">
                <a:solidFill>
                  <a:schemeClr val="tx1"/>
                </a:solidFill>
              </a:rPr>
              <a:t>Combines all evidence with an explicit confidence function</a:t>
            </a:r>
            <a:endParaRPr lang="en-US" sz="1400" dirty="0"/>
          </a:p>
        </p:txBody>
      </p:sp>
      <p:sp>
        <p:nvSpPr>
          <p:cNvPr id="32" name="agent output 5"/>
          <p:cNvSpPr txBox="1"/>
          <p:nvPr/>
        </p:nvSpPr>
        <p:spPr>
          <a:xfrm>
            <a:off x="4566818" y="5440680"/>
            <a:ext cx="3058058" cy="411480"/>
          </a:xfrm>
          <a:prstGeom prst="rect">
            <a:avLst/>
          </a:prstGeom>
          <a:noFill/>
          <a:ln/>
        </p:spPr>
        <p:txBody>
          <a:bodyPr wrap="square" lIns="0" tIns="0" rIns="0" bIns="0" rtlCol="0" anchor="t"/>
          <a:lstStyle/>
          <a:p>
            <a:pPr indent="0" marL="0">
              <a:buNone/>
            </a:pPr>
            <a:r>
              <a:rPr lang="en-US" sz="1200" i="1" dirty="0">
                <a:solidFill>
                  <a:srgbClr val="5E6E73"/>
                </a:solidFill>
              </a:rPr>
              <a:t>FusionResult: decision, confidence C, disagreement D</a:t>
            </a:r>
            <a:endParaRPr lang="en-US" sz="1200" dirty="0"/>
          </a:p>
        </p:txBody>
      </p:sp>
      <p:sp>
        <p:nvSpPr>
          <p:cNvPr id="33" name="agent card 6"/>
          <p:cNvSpPr/>
          <p:nvPr/>
        </p:nvSpPr>
        <p:spPr>
          <a:xfrm>
            <a:off x="8127797" y="3840480"/>
            <a:ext cx="3515258" cy="2194560"/>
          </a:xfrm>
          <a:prstGeom prst="roundRect">
            <a:avLst>
              <a:gd name="adj" fmla="val 5000"/>
            </a:avLst>
          </a:prstGeom>
          <a:solidFill>
            <a:schemeClr val="bg1"/>
          </a:solidFill>
          <a:ln w="9525">
            <a:solidFill>
              <a:srgbClr val="D5E3E4"/>
            </a:solidFill>
            <a:prstDash val="solid"/>
          </a:ln>
          <a:effectLst>
            <a:outerShdw sx="100000" sy="100000" kx="0" ky="0" algn="bl" rotWithShape="0" blurRad="76200" dist="25400" dir="5400000">
              <a:srgbClr val="000000">
                <a:alpha val="12000"/>
              </a:srgbClr>
            </a:outerShdw>
          </a:effectLst>
        </p:spPr>
      </p:sp>
      <p:sp>
        <p:nvSpPr>
          <p:cNvPr id="34" name="agent 6 circle"/>
          <p:cNvSpPr/>
          <p:nvPr/>
        </p:nvSpPr>
        <p:spPr>
          <a:xfrm>
            <a:off x="8356397" y="4069080"/>
            <a:ext cx="658368" cy="658368"/>
          </a:xfrm>
          <a:prstGeom prst="ellipse">
            <a:avLst/>
          </a:prstGeom>
          <a:solidFill>
            <a:schemeClr val="tx2"/>
          </a:solidFill>
          <a:ln/>
        </p:spPr>
      </p:sp>
      <p:pic>
        <p:nvPicPr>
          <p:cNvPr id="35" name="agent 6 icon" descr="preencoded.png">    </p:cNvPr>
          <p:cNvPicPr>
            <a:picLocks noChangeAspect="1"/>
          </p:cNvPicPr>
          <p:nvPr/>
        </p:nvPicPr>
        <p:blipFill>
          <a:blip r:embed="rId6"/>
          <a:stretch>
            <a:fillRect/>
          </a:stretch>
        </p:blipFill>
        <p:spPr>
          <a:xfrm>
            <a:off x="8514405" y="4227088"/>
            <a:ext cx="342351" cy="342351"/>
          </a:xfrm>
          <a:prstGeom prst="rect">
            <a:avLst/>
          </a:prstGeom>
        </p:spPr>
      </p:pic>
      <p:sp>
        <p:nvSpPr>
          <p:cNvPr id="36" name="agent name 6"/>
          <p:cNvSpPr txBox="1"/>
          <p:nvPr/>
        </p:nvSpPr>
        <p:spPr>
          <a:xfrm>
            <a:off x="9197645" y="4069080"/>
            <a:ext cx="2216810" cy="658368"/>
          </a:xfrm>
          <a:prstGeom prst="rect">
            <a:avLst/>
          </a:prstGeom>
          <a:noFill/>
          <a:ln/>
        </p:spPr>
        <p:txBody>
          <a:bodyPr wrap="square" lIns="0" tIns="0" rIns="0" bIns="0" rtlCol="0" anchor="ctr"/>
          <a:lstStyle/>
          <a:p>
            <a:pPr indent="0" marL="0">
              <a:buNone/>
            </a:pPr>
            <a:r>
              <a:rPr lang="en-US" sz="1600" b="1" dirty="0">
                <a:solidFill>
                  <a:schemeClr val="tx2"/>
                </a:solidFill>
              </a:rPr>
              <a:t>Explanation &amp; Audit</a:t>
            </a:r>
            <a:endParaRPr lang="en-US" sz="1600" dirty="0"/>
          </a:p>
        </p:txBody>
      </p:sp>
      <p:sp>
        <p:nvSpPr>
          <p:cNvPr id="37" name="agent role 6"/>
          <p:cNvSpPr txBox="1"/>
          <p:nvPr/>
        </p:nvSpPr>
        <p:spPr>
          <a:xfrm>
            <a:off x="8356397" y="4910328"/>
            <a:ext cx="3058058" cy="457200"/>
          </a:xfrm>
          <a:prstGeom prst="rect">
            <a:avLst/>
          </a:prstGeom>
          <a:noFill/>
          <a:ln/>
        </p:spPr>
        <p:txBody>
          <a:bodyPr wrap="square" lIns="0" tIns="0" rIns="0" bIns="0" rtlCol="0" anchor="t"/>
          <a:lstStyle/>
          <a:p>
            <a:pPr indent="0" marL="0">
              <a:buNone/>
            </a:pPr>
            <a:r>
              <a:rPr lang="en-US" sz="1400" dirty="0">
                <a:solidFill>
                  <a:schemeClr val="tx1"/>
                </a:solidFill>
              </a:rPr>
              <a:t>Readable report for review plus an append-only audit trail</a:t>
            </a:r>
            <a:endParaRPr lang="en-US" sz="1400" dirty="0"/>
          </a:p>
        </p:txBody>
      </p:sp>
      <p:sp>
        <p:nvSpPr>
          <p:cNvPr id="38" name="agent output 6"/>
          <p:cNvSpPr txBox="1"/>
          <p:nvPr/>
        </p:nvSpPr>
        <p:spPr>
          <a:xfrm>
            <a:off x="8356397" y="5440680"/>
            <a:ext cx="3058058" cy="411480"/>
          </a:xfrm>
          <a:prstGeom prst="rect">
            <a:avLst/>
          </a:prstGeom>
          <a:noFill/>
          <a:ln/>
        </p:spPr>
        <p:txBody>
          <a:bodyPr wrap="square" lIns="0" tIns="0" rIns="0" bIns="0" rtlCol="0" anchor="t"/>
          <a:lstStyle/>
          <a:p>
            <a:pPr indent="0" marL="0">
              <a:buNone/>
            </a:pPr>
            <a:r>
              <a:rPr lang="en-US" sz="1200" i="1" dirty="0">
                <a:solidFill>
                  <a:srgbClr val="5E6E73"/>
                </a:solidFill>
              </a:rPr>
              <a:t>DecisionReport and AuditRecord with versions and timestamp</a:t>
            </a:r>
            <a:endParaRPr lang="en-US" sz="1200" dirty="0"/>
          </a:p>
        </p:txBody>
      </p:sp>
      <p:sp>
        <p:nvSpPr>
          <p:cNvPr id="39" name="Slide Number Placeholder 0"/>
          <p:cNvSpPr>
            <a:spLocks noGrp="1"/>
          </p:cNvSpPr>
          <p:nvPr>
            <p:ph type="sldNum" sz="quarter" idx="4294967295"/>
          </p:nvPr>
        </p:nvSpPr>
        <p:spPr>
          <a:xfrm>
            <a:off x="11201400" y="6382512"/>
            <a:ext cx="438912" cy="27432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E6E73"/>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94415" cy="777240"/>
          </a:xfrm>
          <a:prstGeom prst="rect">
            <a:avLst/>
          </a:prstGeom>
          <a:noFill/>
          <a:ln/>
        </p:spPr>
        <p:txBody>
          <a:bodyPr wrap="square" lIns="0" tIns="0" rIns="0" bIns="0" rtlCol="0" anchor="ctr"/>
          <a:lstStyle/>
          <a:p>
            <a:pPr algn="l" indent="0" marL="0">
              <a:buNone/>
            </a:pPr>
            <a:r>
              <a:rPr lang="en-US" sz="3400" b="1" dirty="0">
                <a:solidFill>
                  <a:schemeClr val="tx2"/>
                </a:solidFill>
                <a:latin typeface="+mj-lt" pitchFamily="34" charset="0"/>
                <a:ea typeface="+mj-lt" pitchFamily="34" charset="-122"/>
                <a:cs typeface="+mj-lt" pitchFamily="34" charset="-120"/>
              </a:rPr>
              <a:t>Decision Fusion &amp; Confidence Scoring</a:t>
            </a:r>
            <a:endParaRPr lang="en-US" sz="3400" dirty="0"/>
          </a:p>
        </p:txBody>
      </p:sp>
      <p:sp>
        <p:nvSpPr>
          <p:cNvPr id="3" name="equation card"/>
          <p:cNvSpPr/>
          <p:nvPr/>
        </p:nvSpPr>
        <p:spPr>
          <a:xfrm>
            <a:off x="1981048" y="1371600"/>
            <a:ext cx="8229600" cy="1051560"/>
          </a:xfrm>
          <a:prstGeom prst="roundRect">
            <a:avLst>
              <a:gd name="adj" fmla="val 10435"/>
            </a:avLst>
          </a:prstGeom>
          <a:solidFill>
            <a:schemeClr val="bg2"/>
          </a:solidFill>
          <a:ln/>
        </p:spPr>
      </p:sp>
      <p:sp>
        <p:nvSpPr>
          <p:cNvPr id="4" name="confidence equation"/>
          <p:cNvSpPr txBox="1"/>
          <p:nvPr/>
        </p:nvSpPr>
        <p:spPr>
          <a:xfrm>
            <a:off x="1981048" y="1371600"/>
            <a:ext cx="8229600" cy="1051560"/>
          </a:xfrm>
          <a:prstGeom prst="rect">
            <a:avLst/>
          </a:prstGeom>
          <a:noFill/>
          <a:ln/>
        </p:spPr>
        <p:txBody>
          <a:bodyPr wrap="square" lIns="0" tIns="0" rIns="0" bIns="0" rtlCol="0" anchor="ctr"/>
          <a:lstStyle/>
          <a:p>
            <a:pPr algn="ctr" indent="0" marL="0">
              <a:buNone/>
            </a:pPr>
            <a:r>
              <a:rPr lang="en-US" sz="4400" i="1" dirty="0">
                <a:solidFill>
                  <a:schemeClr val="tx2"/>
                </a:solidFill>
                <a:latin typeface="+mj-lt" pitchFamily="34" charset="0"/>
                <a:ea typeface="+mj-lt" pitchFamily="34" charset="-122"/>
                <a:cs typeface="+mj-lt" pitchFamily="34" charset="-120"/>
              </a:rPr>
              <a:t>C</a:t>
            </a:r>
            <a:pPr algn="ctr" indent="0" marL="0">
              <a:buNone/>
            </a:pPr>
            <a:r>
              <a:rPr lang="en-US" sz="4400" dirty="0">
                <a:solidFill>
                  <a:schemeClr val="tx2"/>
                </a:solidFill>
                <a:latin typeface="+mj-lt" pitchFamily="34" charset="0"/>
                <a:ea typeface="+mj-lt" pitchFamily="34" charset="-122"/>
                <a:cs typeface="+mj-lt" pitchFamily="34" charset="-120"/>
              </a:rPr>
              <a:t> = </a:t>
            </a:r>
            <a:pPr algn="ctr" indent="0" marL="0">
              <a:buNone/>
            </a:pPr>
            <a:r>
              <a:rPr lang="en-US" sz="4400" i="1" dirty="0">
                <a:solidFill>
                  <a:schemeClr val="tx2"/>
                </a:solidFill>
                <a:latin typeface="+mj-lt" pitchFamily="34" charset="0"/>
                <a:ea typeface="+mj-lt" pitchFamily="34" charset="-122"/>
                <a:cs typeface="+mj-lt" pitchFamily="34" charset="-120"/>
              </a:rPr>
              <a:t>α</a:t>
            </a:r>
            <a:pPr algn="ctr" indent="0" marL="0">
              <a:buNone/>
            </a:pPr>
            <a:r>
              <a:rPr lang="en-US" sz="4400" i="1" dirty="0">
                <a:solidFill>
                  <a:schemeClr val="tx2"/>
                </a:solidFill>
                <a:latin typeface="+mj-lt" pitchFamily="34" charset="0"/>
                <a:ea typeface="+mj-lt" pitchFamily="34" charset="-122"/>
                <a:cs typeface="+mj-lt" pitchFamily="34" charset="-120"/>
              </a:rPr>
              <a:t>M</a:t>
            </a:r>
            <a:pPr algn="ctr" indent="0" marL="0">
              <a:buNone/>
            </a:pPr>
            <a:r>
              <a:rPr lang="en-US" sz="4400" dirty="0">
                <a:solidFill>
                  <a:schemeClr val="tx2"/>
                </a:solidFill>
                <a:latin typeface="+mj-lt" pitchFamily="34" charset="0"/>
                <a:ea typeface="+mj-lt" pitchFamily="34" charset="-122"/>
                <a:cs typeface="+mj-lt" pitchFamily="34" charset="-120"/>
              </a:rPr>
              <a:t> + </a:t>
            </a:r>
            <a:pPr algn="ctr" indent="0" marL="0">
              <a:buNone/>
            </a:pPr>
            <a:r>
              <a:rPr lang="en-US" sz="4400" i="1" dirty="0">
                <a:solidFill>
                  <a:schemeClr val="tx2"/>
                </a:solidFill>
                <a:latin typeface="+mj-lt" pitchFamily="34" charset="0"/>
                <a:ea typeface="+mj-lt" pitchFamily="34" charset="-122"/>
                <a:cs typeface="+mj-lt" pitchFamily="34" charset="-120"/>
              </a:rPr>
              <a:t>β</a:t>
            </a:r>
            <a:pPr algn="ctr" indent="0" marL="0">
              <a:buNone/>
            </a:pPr>
            <a:r>
              <a:rPr lang="en-US" sz="4400" i="1" dirty="0">
                <a:solidFill>
                  <a:schemeClr val="tx2"/>
                </a:solidFill>
                <a:latin typeface="+mj-lt" pitchFamily="34" charset="0"/>
                <a:ea typeface="+mj-lt" pitchFamily="34" charset="-122"/>
                <a:cs typeface="+mj-lt" pitchFamily="34" charset="-120"/>
              </a:rPr>
              <a:t>R</a:t>
            </a:r>
            <a:pPr algn="ctr" indent="0" marL="0">
              <a:buNone/>
            </a:pPr>
            <a:r>
              <a:rPr lang="en-US" sz="4400" dirty="0">
                <a:solidFill>
                  <a:schemeClr val="tx2"/>
                </a:solidFill>
                <a:latin typeface="+mj-lt" pitchFamily="34" charset="0"/>
                <a:ea typeface="+mj-lt" pitchFamily="34" charset="-122"/>
                <a:cs typeface="+mj-lt" pitchFamily="34" charset="-120"/>
              </a:rPr>
              <a:t> + </a:t>
            </a:r>
            <a:pPr algn="ctr" indent="0" marL="0">
              <a:buNone/>
            </a:pPr>
            <a:r>
              <a:rPr lang="en-US" sz="4400" i="1" dirty="0">
                <a:solidFill>
                  <a:schemeClr val="tx2"/>
                </a:solidFill>
                <a:latin typeface="+mj-lt" pitchFamily="34" charset="0"/>
                <a:ea typeface="+mj-lt" pitchFamily="34" charset="-122"/>
                <a:cs typeface="+mj-lt" pitchFamily="34" charset="-120"/>
              </a:rPr>
              <a:t>γ</a:t>
            </a:r>
            <a:pPr algn="ctr" indent="0" marL="0">
              <a:buNone/>
            </a:pPr>
            <a:r>
              <a:rPr lang="en-US" sz="4400" i="1" dirty="0">
                <a:solidFill>
                  <a:schemeClr val="tx2"/>
                </a:solidFill>
                <a:latin typeface="+mj-lt" pitchFamily="34" charset="0"/>
                <a:ea typeface="+mj-lt" pitchFamily="34" charset="-122"/>
                <a:cs typeface="+mj-lt" pitchFamily="34" charset="-120"/>
              </a:rPr>
              <a:t>K</a:t>
            </a:r>
            <a:pPr algn="ctr" indent="0" marL="0">
              <a:buNone/>
            </a:pPr>
            <a:r>
              <a:rPr lang="en-US" sz="4400" dirty="0">
                <a:solidFill>
                  <a:schemeClr val="tx2"/>
                </a:solidFill>
                <a:latin typeface="+mj-lt" pitchFamily="34" charset="0"/>
                <a:ea typeface="+mj-lt" pitchFamily="34" charset="-122"/>
                <a:cs typeface="+mj-lt" pitchFamily="34" charset="-120"/>
              </a:rPr>
              <a:t> − </a:t>
            </a:r>
            <a:pPr algn="ctr" indent="0" marL="0">
              <a:buNone/>
            </a:pPr>
            <a:r>
              <a:rPr lang="en-US" sz="4400" i="1" dirty="0">
                <a:solidFill>
                  <a:schemeClr val="tx2"/>
                </a:solidFill>
                <a:latin typeface="+mj-lt" pitchFamily="34" charset="0"/>
                <a:ea typeface="+mj-lt" pitchFamily="34" charset="-122"/>
                <a:cs typeface="+mj-lt" pitchFamily="34" charset="-120"/>
              </a:rPr>
              <a:t>λ</a:t>
            </a:r>
            <a:pPr algn="ctr" indent="0" marL="0">
              <a:buNone/>
            </a:pPr>
            <a:r>
              <a:rPr lang="en-US" sz="4400" i="1" dirty="0">
                <a:solidFill>
                  <a:schemeClr val="tx2"/>
                </a:solidFill>
                <a:latin typeface="+mj-lt" pitchFamily="34" charset="0"/>
                <a:ea typeface="+mj-lt" pitchFamily="34" charset="-122"/>
                <a:cs typeface="+mj-lt" pitchFamily="34" charset="-120"/>
              </a:rPr>
              <a:t>D</a:t>
            </a:r>
            <a:endParaRPr lang="en-US" sz="4400" dirty="0"/>
          </a:p>
        </p:txBody>
      </p:sp>
      <p:sp>
        <p:nvSpPr>
          <p:cNvPr id="5" name="equation caption"/>
          <p:cNvSpPr txBox="1"/>
          <p:nvPr/>
        </p:nvSpPr>
        <p:spPr>
          <a:xfrm>
            <a:off x="1981048" y="2487168"/>
            <a:ext cx="8229600" cy="256032"/>
          </a:xfrm>
          <a:prstGeom prst="rect">
            <a:avLst/>
          </a:prstGeom>
          <a:noFill/>
          <a:ln/>
        </p:spPr>
        <p:txBody>
          <a:bodyPr wrap="square" lIns="0" tIns="0" rIns="0" bIns="0" rtlCol="0" anchor="ctr"/>
          <a:lstStyle/>
          <a:p>
            <a:pPr algn="ctr" indent="0" marL="0">
              <a:buNone/>
            </a:pPr>
            <a:r>
              <a:rPr lang="en-US" sz="1200" i="1" dirty="0">
                <a:solidFill>
                  <a:srgbClr val="5E6E73"/>
                </a:solidFill>
              </a:rPr>
              <a:t>Equation (4.2): confidence of the fused decision</a:t>
            </a:r>
            <a:endParaRPr lang="en-US" sz="1200" dirty="0"/>
          </a:p>
        </p:txBody>
      </p:sp>
      <p:sp>
        <p:nvSpPr>
          <p:cNvPr id="6" name="term card 1"/>
          <p:cNvSpPr/>
          <p:nvPr/>
        </p:nvSpPr>
        <p:spPr>
          <a:xfrm>
            <a:off x="548640" y="2971800"/>
            <a:ext cx="2567864" cy="2011680"/>
          </a:xfrm>
          <a:prstGeom prst="roundRect">
            <a:avLst>
              <a:gd name="adj" fmla="val 5455"/>
            </a:avLst>
          </a:prstGeom>
          <a:solidFill>
            <a:schemeClr val="bg1"/>
          </a:solidFill>
          <a:ln w="9525">
            <a:solidFill>
              <a:srgbClr val="D5E3E4"/>
            </a:solidFill>
            <a:prstDash val="solid"/>
          </a:ln>
          <a:effectLst>
            <a:outerShdw sx="100000" sy="100000" kx="0" ky="0" algn="bl" rotWithShape="0" blurRad="76200" dist="25400" dir="5400000">
              <a:srgbClr val="000000">
                <a:alpha val="12000"/>
              </a:srgbClr>
            </a:outerShdw>
          </a:effectLst>
        </p:spPr>
      </p:sp>
      <p:sp>
        <p:nvSpPr>
          <p:cNvPr id="7" name="term symbol 1"/>
          <p:cNvSpPr txBox="1"/>
          <p:nvPr/>
        </p:nvSpPr>
        <p:spPr>
          <a:xfrm>
            <a:off x="777240" y="3108960"/>
            <a:ext cx="685800" cy="685800"/>
          </a:xfrm>
          <a:prstGeom prst="rect">
            <a:avLst/>
          </a:prstGeom>
          <a:noFill/>
          <a:ln/>
        </p:spPr>
        <p:txBody>
          <a:bodyPr wrap="square" lIns="0" tIns="0" rIns="0" bIns="0" rtlCol="0" anchor="ctr"/>
          <a:lstStyle/>
          <a:p>
            <a:pPr indent="0" marL="0">
              <a:buNone/>
            </a:pPr>
            <a:r>
              <a:rPr lang="en-US" sz="4000" b="1" i="1" dirty="0">
                <a:solidFill>
                  <a:schemeClr val="accent5"/>
                </a:solidFill>
                <a:latin typeface="+mj-lt" pitchFamily="34" charset="0"/>
                <a:ea typeface="+mj-lt" pitchFamily="34" charset="-122"/>
                <a:cs typeface="+mj-lt" pitchFamily="34" charset="-120"/>
              </a:rPr>
              <a:t>M</a:t>
            </a:r>
            <a:endParaRPr lang="en-US" sz="4000" dirty="0"/>
          </a:p>
        </p:txBody>
      </p:sp>
      <p:sp>
        <p:nvSpPr>
          <p:cNvPr id="8" name="term name 1"/>
          <p:cNvSpPr txBox="1"/>
          <p:nvPr/>
        </p:nvSpPr>
        <p:spPr>
          <a:xfrm>
            <a:off x="1508760" y="3108960"/>
            <a:ext cx="1379144" cy="685800"/>
          </a:xfrm>
          <a:prstGeom prst="rect">
            <a:avLst/>
          </a:prstGeom>
          <a:noFill/>
          <a:ln/>
        </p:spPr>
        <p:txBody>
          <a:bodyPr wrap="square" lIns="0" tIns="0" rIns="0" bIns="0" rtlCol="0" anchor="ctr"/>
          <a:lstStyle/>
          <a:p>
            <a:pPr indent="0" marL="0">
              <a:buNone/>
            </a:pPr>
            <a:r>
              <a:rPr lang="en-US" sz="1600" b="1" dirty="0">
                <a:solidFill>
                  <a:schemeClr val="tx2"/>
                </a:solidFill>
              </a:rPr>
              <a:t>ML support</a:t>
            </a:r>
            <a:endParaRPr lang="en-US" sz="1600" dirty="0"/>
          </a:p>
        </p:txBody>
      </p:sp>
      <p:sp>
        <p:nvSpPr>
          <p:cNvPr id="9" name="term text 1"/>
          <p:cNvSpPr txBox="1"/>
          <p:nvPr/>
        </p:nvSpPr>
        <p:spPr>
          <a:xfrm>
            <a:off x="777240" y="3931920"/>
            <a:ext cx="2110664" cy="868680"/>
          </a:xfrm>
          <a:prstGeom prst="rect">
            <a:avLst/>
          </a:prstGeom>
          <a:noFill/>
          <a:ln/>
        </p:spPr>
        <p:txBody>
          <a:bodyPr wrap="square" lIns="0" tIns="0" rIns="0" bIns="0" rtlCol="0" anchor="t"/>
          <a:lstStyle/>
          <a:p>
            <a:pPr indent="0" marL="0">
              <a:buNone/>
            </a:pPr>
            <a:r>
              <a:rPr lang="en-US" sz="1400" dirty="0">
                <a:solidFill>
                  <a:schemeClr val="tx1"/>
                </a:solidFill>
              </a:rPr>
              <a:t>Probability of the class the model predicts</a:t>
            </a:r>
            <a:endParaRPr lang="en-US" sz="1400" dirty="0"/>
          </a:p>
        </p:txBody>
      </p:sp>
      <p:sp>
        <p:nvSpPr>
          <p:cNvPr id="10" name="term card 2"/>
          <p:cNvSpPr/>
          <p:nvPr/>
        </p:nvSpPr>
        <p:spPr>
          <a:xfrm>
            <a:off x="3390824" y="2971800"/>
            <a:ext cx="2567864" cy="2011680"/>
          </a:xfrm>
          <a:prstGeom prst="roundRect">
            <a:avLst>
              <a:gd name="adj" fmla="val 5455"/>
            </a:avLst>
          </a:prstGeom>
          <a:solidFill>
            <a:schemeClr val="bg1"/>
          </a:solidFill>
          <a:ln w="9525">
            <a:solidFill>
              <a:srgbClr val="D5E3E4"/>
            </a:solidFill>
            <a:prstDash val="solid"/>
          </a:ln>
          <a:effectLst>
            <a:outerShdw sx="100000" sy="100000" kx="0" ky="0" algn="bl" rotWithShape="0" blurRad="76200" dist="25400" dir="5400000">
              <a:srgbClr val="000000">
                <a:alpha val="12000"/>
              </a:srgbClr>
            </a:outerShdw>
          </a:effectLst>
        </p:spPr>
      </p:sp>
      <p:sp>
        <p:nvSpPr>
          <p:cNvPr id="11" name="term symbol 2"/>
          <p:cNvSpPr txBox="1"/>
          <p:nvPr/>
        </p:nvSpPr>
        <p:spPr>
          <a:xfrm>
            <a:off x="3619424" y="3108960"/>
            <a:ext cx="685800" cy="685800"/>
          </a:xfrm>
          <a:prstGeom prst="rect">
            <a:avLst/>
          </a:prstGeom>
          <a:noFill/>
          <a:ln/>
        </p:spPr>
        <p:txBody>
          <a:bodyPr wrap="square" lIns="0" tIns="0" rIns="0" bIns="0" rtlCol="0" anchor="ctr"/>
          <a:lstStyle/>
          <a:p>
            <a:pPr indent="0" marL="0">
              <a:buNone/>
            </a:pPr>
            <a:r>
              <a:rPr lang="en-US" sz="4000" b="1" i="1" dirty="0">
                <a:solidFill>
                  <a:schemeClr val="accent3"/>
                </a:solidFill>
                <a:latin typeface="+mj-lt" pitchFamily="34" charset="0"/>
                <a:ea typeface="+mj-lt" pitchFamily="34" charset="-122"/>
                <a:cs typeface="+mj-lt" pitchFamily="34" charset="-120"/>
              </a:rPr>
              <a:t>R</a:t>
            </a:r>
            <a:endParaRPr lang="en-US" sz="4000" dirty="0"/>
          </a:p>
        </p:txBody>
      </p:sp>
      <p:sp>
        <p:nvSpPr>
          <p:cNvPr id="12" name="term name 2"/>
          <p:cNvSpPr txBox="1"/>
          <p:nvPr/>
        </p:nvSpPr>
        <p:spPr>
          <a:xfrm>
            <a:off x="4350944" y="3108960"/>
            <a:ext cx="1379144" cy="685800"/>
          </a:xfrm>
          <a:prstGeom prst="rect">
            <a:avLst/>
          </a:prstGeom>
          <a:noFill/>
          <a:ln/>
        </p:spPr>
        <p:txBody>
          <a:bodyPr wrap="square" lIns="0" tIns="0" rIns="0" bIns="0" rtlCol="0" anchor="ctr"/>
          <a:lstStyle/>
          <a:p>
            <a:pPr indent="0" marL="0">
              <a:buNone/>
            </a:pPr>
            <a:r>
              <a:rPr lang="en-US" sz="1600" b="1" dirty="0">
                <a:solidFill>
                  <a:schemeClr val="tx2"/>
                </a:solidFill>
              </a:rPr>
              <a:t>Rule consistency</a:t>
            </a:r>
            <a:endParaRPr lang="en-US" sz="1600" dirty="0"/>
          </a:p>
        </p:txBody>
      </p:sp>
      <p:sp>
        <p:nvSpPr>
          <p:cNvPr id="13" name="term text 2"/>
          <p:cNvSpPr txBox="1"/>
          <p:nvPr/>
        </p:nvSpPr>
        <p:spPr>
          <a:xfrm>
            <a:off x="3619424" y="3931920"/>
            <a:ext cx="2110664" cy="868680"/>
          </a:xfrm>
          <a:prstGeom prst="rect">
            <a:avLst/>
          </a:prstGeom>
          <a:noFill/>
          <a:ln/>
        </p:spPr>
        <p:txBody>
          <a:bodyPr wrap="square" lIns="0" tIns="0" rIns="0" bIns="0" rtlCol="0" anchor="t"/>
          <a:lstStyle/>
          <a:p>
            <a:pPr indent="0" marL="0">
              <a:buNone/>
            </a:pPr>
            <a:r>
              <a:rPr lang="en-US" sz="1400" dirty="0">
                <a:solidFill>
                  <a:schemeClr val="tx1"/>
                </a:solidFill>
              </a:rPr>
              <a:t>1, or 0 when an elevating or suppressing rule contradicts the prediction</a:t>
            </a:r>
            <a:endParaRPr lang="en-US" sz="1400" dirty="0"/>
          </a:p>
        </p:txBody>
      </p:sp>
      <p:sp>
        <p:nvSpPr>
          <p:cNvPr id="14" name="term card 3"/>
          <p:cNvSpPr/>
          <p:nvPr/>
        </p:nvSpPr>
        <p:spPr>
          <a:xfrm>
            <a:off x="6233008" y="2971800"/>
            <a:ext cx="2567864" cy="2011680"/>
          </a:xfrm>
          <a:prstGeom prst="roundRect">
            <a:avLst>
              <a:gd name="adj" fmla="val 5455"/>
            </a:avLst>
          </a:prstGeom>
          <a:solidFill>
            <a:schemeClr val="bg1"/>
          </a:solidFill>
          <a:ln w="9525">
            <a:solidFill>
              <a:srgbClr val="D5E3E4"/>
            </a:solidFill>
            <a:prstDash val="solid"/>
          </a:ln>
          <a:effectLst>
            <a:outerShdw sx="100000" sy="100000" kx="0" ky="0" algn="bl" rotWithShape="0" blurRad="76200" dist="25400" dir="5400000">
              <a:srgbClr val="000000">
                <a:alpha val="12000"/>
              </a:srgbClr>
            </a:outerShdw>
          </a:effectLst>
        </p:spPr>
      </p:sp>
      <p:sp>
        <p:nvSpPr>
          <p:cNvPr id="15" name="term symbol 3"/>
          <p:cNvSpPr txBox="1"/>
          <p:nvPr/>
        </p:nvSpPr>
        <p:spPr>
          <a:xfrm>
            <a:off x="6461608" y="3108960"/>
            <a:ext cx="685800" cy="685800"/>
          </a:xfrm>
          <a:prstGeom prst="rect">
            <a:avLst/>
          </a:prstGeom>
          <a:noFill/>
          <a:ln/>
        </p:spPr>
        <p:txBody>
          <a:bodyPr wrap="square" lIns="0" tIns="0" rIns="0" bIns="0" rtlCol="0" anchor="ctr"/>
          <a:lstStyle/>
          <a:p>
            <a:pPr indent="0" marL="0">
              <a:buNone/>
            </a:pPr>
            <a:r>
              <a:rPr lang="en-US" sz="4000" b="1" i="1" dirty="0">
                <a:solidFill>
                  <a:schemeClr val="accent6"/>
                </a:solidFill>
                <a:latin typeface="+mj-lt" pitchFamily="34" charset="0"/>
                <a:ea typeface="+mj-lt" pitchFamily="34" charset="-122"/>
                <a:cs typeface="+mj-lt" pitchFamily="34" charset="-120"/>
              </a:rPr>
              <a:t>K</a:t>
            </a:r>
            <a:endParaRPr lang="en-US" sz="4000" dirty="0"/>
          </a:p>
        </p:txBody>
      </p:sp>
      <p:sp>
        <p:nvSpPr>
          <p:cNvPr id="16" name="term name 3"/>
          <p:cNvSpPr txBox="1"/>
          <p:nvPr/>
        </p:nvSpPr>
        <p:spPr>
          <a:xfrm>
            <a:off x="7193128" y="3108960"/>
            <a:ext cx="1379144" cy="685800"/>
          </a:xfrm>
          <a:prstGeom prst="rect">
            <a:avLst/>
          </a:prstGeom>
          <a:noFill/>
          <a:ln/>
        </p:spPr>
        <p:txBody>
          <a:bodyPr wrap="square" lIns="0" tIns="0" rIns="0" bIns="0" rtlCol="0" anchor="ctr"/>
          <a:lstStyle/>
          <a:p>
            <a:pPr indent="0" marL="0">
              <a:buNone/>
            </a:pPr>
            <a:r>
              <a:rPr lang="en-US" sz="1600" b="1" dirty="0">
                <a:solidFill>
                  <a:schemeClr val="tx2"/>
                </a:solidFill>
              </a:rPr>
              <a:t>Retrieval support</a:t>
            </a:r>
            <a:endParaRPr lang="en-US" sz="1600" dirty="0"/>
          </a:p>
        </p:txBody>
      </p:sp>
      <p:sp>
        <p:nvSpPr>
          <p:cNvPr id="17" name="term text 3"/>
          <p:cNvSpPr txBox="1"/>
          <p:nvPr/>
        </p:nvSpPr>
        <p:spPr>
          <a:xfrm>
            <a:off x="6461608" y="3931920"/>
            <a:ext cx="2110664" cy="868680"/>
          </a:xfrm>
          <a:prstGeom prst="rect">
            <a:avLst/>
          </a:prstGeom>
          <a:noFill/>
          <a:ln/>
        </p:spPr>
        <p:txBody>
          <a:bodyPr wrap="square" lIns="0" tIns="0" rIns="0" bIns="0" rtlCol="0" anchor="t"/>
          <a:lstStyle/>
          <a:p>
            <a:pPr indent="0" marL="0">
              <a:buNone/>
            </a:pPr>
            <a:r>
              <a:rPr lang="en-US" sz="1400" dirty="0">
                <a:solidFill>
                  <a:schemeClr val="tx1"/>
                </a:solidFill>
              </a:rPr>
              <a:t>Mean similarity of retrieved passages; 0 when none is relevant</a:t>
            </a:r>
            <a:endParaRPr lang="en-US" sz="1400" dirty="0"/>
          </a:p>
        </p:txBody>
      </p:sp>
      <p:sp>
        <p:nvSpPr>
          <p:cNvPr id="18" name="term card 4"/>
          <p:cNvSpPr/>
          <p:nvPr/>
        </p:nvSpPr>
        <p:spPr>
          <a:xfrm>
            <a:off x="9075191" y="2971800"/>
            <a:ext cx="2567864" cy="2011680"/>
          </a:xfrm>
          <a:prstGeom prst="roundRect">
            <a:avLst>
              <a:gd name="adj" fmla="val 5455"/>
            </a:avLst>
          </a:prstGeom>
          <a:solidFill>
            <a:schemeClr val="bg1"/>
          </a:solidFill>
          <a:ln w="9525">
            <a:solidFill>
              <a:srgbClr val="D5E3E4"/>
            </a:solidFill>
            <a:prstDash val="solid"/>
          </a:ln>
          <a:effectLst>
            <a:outerShdw sx="100000" sy="100000" kx="0" ky="0" algn="bl" rotWithShape="0" blurRad="76200" dist="25400" dir="5400000">
              <a:srgbClr val="000000">
                <a:alpha val="12000"/>
              </a:srgbClr>
            </a:outerShdw>
          </a:effectLst>
        </p:spPr>
      </p:sp>
      <p:sp>
        <p:nvSpPr>
          <p:cNvPr id="19" name="term symbol 4"/>
          <p:cNvSpPr txBox="1"/>
          <p:nvPr/>
        </p:nvSpPr>
        <p:spPr>
          <a:xfrm>
            <a:off x="9303791" y="3108960"/>
            <a:ext cx="685800" cy="685800"/>
          </a:xfrm>
          <a:prstGeom prst="rect">
            <a:avLst/>
          </a:prstGeom>
          <a:noFill/>
          <a:ln/>
        </p:spPr>
        <p:txBody>
          <a:bodyPr wrap="square" lIns="0" tIns="0" rIns="0" bIns="0" rtlCol="0" anchor="ctr"/>
          <a:lstStyle/>
          <a:p>
            <a:pPr indent="0" marL="0">
              <a:buNone/>
            </a:pPr>
            <a:r>
              <a:rPr lang="en-US" sz="4000" b="1" i="1" dirty="0">
                <a:solidFill>
                  <a:schemeClr val="accent1"/>
                </a:solidFill>
                <a:latin typeface="+mj-lt" pitchFamily="34" charset="0"/>
                <a:ea typeface="+mj-lt" pitchFamily="34" charset="-122"/>
                <a:cs typeface="+mj-lt" pitchFamily="34" charset="-120"/>
              </a:rPr>
              <a:t>D</a:t>
            </a:r>
            <a:endParaRPr lang="en-US" sz="4000" dirty="0"/>
          </a:p>
        </p:txBody>
      </p:sp>
      <p:sp>
        <p:nvSpPr>
          <p:cNvPr id="20" name="term name 4"/>
          <p:cNvSpPr txBox="1"/>
          <p:nvPr/>
        </p:nvSpPr>
        <p:spPr>
          <a:xfrm>
            <a:off x="10035311" y="3108960"/>
            <a:ext cx="1379144" cy="685800"/>
          </a:xfrm>
          <a:prstGeom prst="rect">
            <a:avLst/>
          </a:prstGeom>
          <a:noFill/>
          <a:ln/>
        </p:spPr>
        <p:txBody>
          <a:bodyPr wrap="square" lIns="0" tIns="0" rIns="0" bIns="0" rtlCol="0" anchor="ctr"/>
          <a:lstStyle/>
          <a:p>
            <a:pPr indent="0" marL="0">
              <a:buNone/>
            </a:pPr>
            <a:r>
              <a:rPr lang="en-US" sz="1600" b="1" dirty="0">
                <a:solidFill>
                  <a:schemeClr val="tx2"/>
                </a:solidFill>
              </a:rPr>
              <a:t>Disagreement</a:t>
            </a:r>
            <a:endParaRPr lang="en-US" sz="1600" dirty="0"/>
          </a:p>
        </p:txBody>
      </p:sp>
      <p:sp>
        <p:nvSpPr>
          <p:cNvPr id="21" name="term text 4"/>
          <p:cNvSpPr txBox="1"/>
          <p:nvPr/>
        </p:nvSpPr>
        <p:spPr>
          <a:xfrm>
            <a:off x="9303791" y="3931920"/>
            <a:ext cx="2110664" cy="868680"/>
          </a:xfrm>
          <a:prstGeom prst="rect">
            <a:avLst/>
          </a:prstGeom>
          <a:noFill/>
          <a:ln/>
        </p:spPr>
        <p:txBody>
          <a:bodyPr wrap="square" lIns="0" tIns="0" rIns="0" bIns="0" rtlCol="0" anchor="t"/>
          <a:lstStyle/>
          <a:p>
            <a:pPr indent="0" marL="0">
              <a:buNone/>
            </a:pPr>
            <a:r>
              <a:rPr lang="en-US" sz="1400" dirty="0">
                <a:solidFill>
                  <a:schemeClr val="tx1"/>
                </a:solidFill>
              </a:rPr>
              <a:t>Conflicts reported by the Clinical Context Agent, divided by 3 and capped at 1</a:t>
            </a:r>
            <a:endParaRPr lang="en-US" sz="1400" dirty="0"/>
          </a:p>
        </p:txBody>
      </p:sp>
      <p:sp>
        <p:nvSpPr>
          <p:cNvPr id="22" name="fusion rule 1"/>
          <p:cNvSpPr/>
          <p:nvPr/>
        </p:nvSpPr>
        <p:spPr>
          <a:xfrm>
            <a:off x="548640" y="5257800"/>
            <a:ext cx="3515258" cy="777240"/>
          </a:xfrm>
          <a:prstGeom prst="roundRect">
            <a:avLst>
              <a:gd name="adj" fmla="val 14118"/>
            </a:avLst>
          </a:prstGeom>
          <a:solidFill>
            <a:schemeClr val="bg2"/>
          </a:solidFill>
          <a:ln/>
        </p:spPr>
      </p:sp>
      <p:sp>
        <p:nvSpPr>
          <p:cNvPr id="23" name="fusion rule 1 circle"/>
          <p:cNvSpPr/>
          <p:nvPr/>
        </p:nvSpPr>
        <p:spPr>
          <a:xfrm>
            <a:off x="749808" y="5417820"/>
            <a:ext cx="457200" cy="457200"/>
          </a:xfrm>
          <a:prstGeom prst="ellipse">
            <a:avLst/>
          </a:prstGeom>
          <a:solidFill>
            <a:schemeClr val="tx2"/>
          </a:solidFill>
          <a:ln/>
        </p:spPr>
      </p:sp>
      <p:pic>
        <p:nvPicPr>
          <p:cNvPr id="24" name="fusion rule 1 icon" descr="preencoded.png">    </p:cNvPr>
          <p:cNvPicPr>
            <a:picLocks noChangeAspect="1"/>
          </p:cNvPicPr>
          <p:nvPr/>
        </p:nvPicPr>
        <p:blipFill>
          <a:blip r:embed="rId1"/>
          <a:stretch>
            <a:fillRect/>
          </a:stretch>
        </p:blipFill>
        <p:spPr>
          <a:xfrm>
            <a:off x="859536" y="5527548"/>
            <a:ext cx="237744" cy="237744"/>
          </a:xfrm>
          <a:prstGeom prst="rect">
            <a:avLst/>
          </a:prstGeom>
        </p:spPr>
      </p:pic>
      <p:sp>
        <p:nvSpPr>
          <p:cNvPr id="25" name="fusion rule text 1"/>
          <p:cNvSpPr txBox="1"/>
          <p:nvPr/>
        </p:nvSpPr>
        <p:spPr>
          <a:xfrm>
            <a:off x="1389888" y="5257800"/>
            <a:ext cx="2491130" cy="777240"/>
          </a:xfrm>
          <a:prstGeom prst="rect">
            <a:avLst/>
          </a:prstGeom>
          <a:noFill/>
          <a:ln/>
        </p:spPr>
        <p:txBody>
          <a:bodyPr wrap="square" lIns="0" tIns="0" rIns="0" bIns="0" rtlCol="0" anchor="ctr"/>
          <a:lstStyle/>
          <a:p>
            <a:pPr indent="0" marL="0">
              <a:buNone/>
            </a:pPr>
            <a:r>
              <a:rPr lang="en-US" sz="1400" dirty="0">
                <a:solidFill>
                  <a:schemeClr val="tx2"/>
                </a:solidFill>
              </a:rPr>
              <a:t>Weights α, β, γ, λ tuned only on a validation split</a:t>
            </a:r>
            <a:endParaRPr lang="en-US" sz="1400" dirty="0"/>
          </a:p>
        </p:txBody>
      </p:sp>
      <p:sp>
        <p:nvSpPr>
          <p:cNvPr id="26" name="fusion rule 2"/>
          <p:cNvSpPr/>
          <p:nvPr/>
        </p:nvSpPr>
        <p:spPr>
          <a:xfrm>
            <a:off x="4338218" y="5257800"/>
            <a:ext cx="3515258" cy="777240"/>
          </a:xfrm>
          <a:prstGeom prst="roundRect">
            <a:avLst>
              <a:gd name="adj" fmla="val 14118"/>
            </a:avLst>
          </a:prstGeom>
          <a:solidFill>
            <a:schemeClr val="bg2"/>
          </a:solidFill>
          <a:ln/>
        </p:spPr>
      </p:sp>
      <p:sp>
        <p:nvSpPr>
          <p:cNvPr id="27" name="fusion rule 2 circle"/>
          <p:cNvSpPr/>
          <p:nvPr/>
        </p:nvSpPr>
        <p:spPr>
          <a:xfrm>
            <a:off x="4539386" y="5417820"/>
            <a:ext cx="457200" cy="457200"/>
          </a:xfrm>
          <a:prstGeom prst="ellipse">
            <a:avLst/>
          </a:prstGeom>
          <a:solidFill>
            <a:schemeClr val="tx2"/>
          </a:solidFill>
          <a:ln/>
        </p:spPr>
      </p:sp>
      <p:pic>
        <p:nvPicPr>
          <p:cNvPr id="28" name="fusion rule 2 icon" descr="preencoded.png">    </p:cNvPr>
          <p:cNvPicPr>
            <a:picLocks noChangeAspect="1"/>
          </p:cNvPicPr>
          <p:nvPr/>
        </p:nvPicPr>
        <p:blipFill>
          <a:blip r:embed="rId2"/>
          <a:stretch>
            <a:fillRect/>
          </a:stretch>
        </p:blipFill>
        <p:spPr>
          <a:xfrm>
            <a:off x="4649114" y="5527548"/>
            <a:ext cx="237744" cy="237744"/>
          </a:xfrm>
          <a:prstGeom prst="rect">
            <a:avLst/>
          </a:prstGeom>
        </p:spPr>
      </p:pic>
      <p:sp>
        <p:nvSpPr>
          <p:cNvPr id="29" name="fusion rule text 2"/>
          <p:cNvSpPr txBox="1"/>
          <p:nvPr/>
        </p:nvSpPr>
        <p:spPr>
          <a:xfrm>
            <a:off x="5179466" y="5257800"/>
            <a:ext cx="2491130" cy="777240"/>
          </a:xfrm>
          <a:prstGeom prst="rect">
            <a:avLst/>
          </a:prstGeom>
          <a:noFill/>
          <a:ln/>
        </p:spPr>
        <p:txBody>
          <a:bodyPr wrap="square" lIns="0" tIns="0" rIns="0" bIns="0" rtlCol="0" anchor="ctr"/>
          <a:lstStyle/>
          <a:p>
            <a:pPr indent="0" marL="0">
              <a:buNone/>
            </a:pPr>
            <a:r>
              <a:rPr lang="en-US" sz="1400" dirty="0">
                <a:solidFill>
                  <a:schemeClr val="tx2"/>
                </a:solidFill>
              </a:rPr>
              <a:t>A triggered rule always takes precedence</a:t>
            </a:r>
            <a:endParaRPr lang="en-US" sz="1400" dirty="0"/>
          </a:p>
        </p:txBody>
      </p:sp>
      <p:sp>
        <p:nvSpPr>
          <p:cNvPr id="30" name="fusion rule 3"/>
          <p:cNvSpPr/>
          <p:nvPr/>
        </p:nvSpPr>
        <p:spPr>
          <a:xfrm>
            <a:off x="8127797" y="5257800"/>
            <a:ext cx="3515258" cy="777240"/>
          </a:xfrm>
          <a:prstGeom prst="roundRect">
            <a:avLst>
              <a:gd name="adj" fmla="val 14118"/>
            </a:avLst>
          </a:prstGeom>
          <a:solidFill>
            <a:schemeClr val="bg2"/>
          </a:solidFill>
          <a:ln/>
        </p:spPr>
      </p:sp>
      <p:sp>
        <p:nvSpPr>
          <p:cNvPr id="31" name="fusion rule 3 circle"/>
          <p:cNvSpPr/>
          <p:nvPr/>
        </p:nvSpPr>
        <p:spPr>
          <a:xfrm>
            <a:off x="8328965" y="5417820"/>
            <a:ext cx="457200" cy="457200"/>
          </a:xfrm>
          <a:prstGeom prst="ellipse">
            <a:avLst/>
          </a:prstGeom>
          <a:solidFill>
            <a:schemeClr val="tx2"/>
          </a:solidFill>
          <a:ln/>
        </p:spPr>
      </p:sp>
      <p:pic>
        <p:nvPicPr>
          <p:cNvPr id="32" name="fusion rule 3 icon" descr="preencoded.png">    </p:cNvPr>
          <p:cNvPicPr>
            <a:picLocks noChangeAspect="1"/>
          </p:cNvPicPr>
          <p:nvPr/>
        </p:nvPicPr>
        <p:blipFill>
          <a:blip r:embed="rId3"/>
          <a:stretch>
            <a:fillRect/>
          </a:stretch>
        </p:blipFill>
        <p:spPr>
          <a:xfrm>
            <a:off x="8438693" y="5527548"/>
            <a:ext cx="237744" cy="237744"/>
          </a:xfrm>
          <a:prstGeom prst="rect">
            <a:avLst/>
          </a:prstGeom>
        </p:spPr>
      </p:pic>
      <p:sp>
        <p:nvSpPr>
          <p:cNvPr id="33" name="fusion rule text 3"/>
          <p:cNvSpPr txBox="1"/>
          <p:nvPr/>
        </p:nvSpPr>
        <p:spPr>
          <a:xfrm>
            <a:off x="8969045" y="5257800"/>
            <a:ext cx="2491130" cy="777240"/>
          </a:xfrm>
          <a:prstGeom prst="rect">
            <a:avLst/>
          </a:prstGeom>
          <a:noFill/>
          <a:ln/>
        </p:spPr>
        <p:txBody>
          <a:bodyPr wrap="square" lIns="0" tIns="0" rIns="0" bIns="0" rtlCol="0" anchor="ctr"/>
          <a:lstStyle/>
          <a:p>
            <a:pPr indent="0" marL="0">
              <a:buNone/>
            </a:pPr>
            <a:r>
              <a:rPr lang="en-US" sz="1400" dirty="0">
                <a:solidFill>
                  <a:schemeClr val="tx2"/>
                </a:solidFill>
              </a:rPr>
              <a:t>C below the threshold: reported as uncertain</a:t>
            </a:r>
            <a:endParaRPr lang="en-US" sz="1400" dirty="0"/>
          </a:p>
        </p:txBody>
      </p:sp>
      <p:sp>
        <p:nvSpPr>
          <p:cNvPr id="34" name="Slide Number Placeholder 0"/>
          <p:cNvSpPr>
            <a:spLocks noGrp="1"/>
          </p:cNvSpPr>
          <p:nvPr>
            <p:ph type="sldNum" sz="quarter" idx="4294967295"/>
          </p:nvPr>
        </p:nvSpPr>
        <p:spPr>
          <a:xfrm>
            <a:off x="11201400" y="6382512"/>
            <a:ext cx="438912" cy="27432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E6E73"/>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94415" cy="777240"/>
          </a:xfrm>
          <a:prstGeom prst="rect">
            <a:avLst/>
          </a:prstGeom>
          <a:noFill/>
          <a:ln/>
        </p:spPr>
        <p:txBody>
          <a:bodyPr wrap="square" lIns="0" tIns="0" rIns="0" bIns="0" rtlCol="0" anchor="ctr"/>
          <a:lstStyle/>
          <a:p>
            <a:pPr algn="l" indent="0" marL="0">
              <a:buNone/>
            </a:pPr>
            <a:r>
              <a:rPr lang="en-US" sz="3400" b="1" dirty="0">
                <a:solidFill>
                  <a:schemeClr val="tx2"/>
                </a:solidFill>
                <a:latin typeface="+mj-lt" pitchFamily="34" charset="0"/>
                <a:ea typeface="+mj-lt" pitchFamily="34" charset="-122"/>
                <a:cs typeface="+mj-lt" pitchFamily="34" charset="-120"/>
              </a:rPr>
              <a:t>Parallel Execution &amp; Governed Updates</a:t>
            </a:r>
            <a:endParaRPr lang="en-US" sz="3400" dirty="0"/>
          </a:p>
        </p:txBody>
      </p:sp>
      <p:pic>
        <p:nvPicPr>
          <p:cNvPr id="3" name="parallel processing figure" descr="parallel processing figure">    </p:cNvPr>
          <p:cNvPicPr>
            <a:picLocks noChangeAspect="1"/>
          </p:cNvPicPr>
          <p:nvPr/>
        </p:nvPicPr>
        <p:blipFill>
          <a:blip r:embed="rId1"/>
          <a:stretch>
            <a:fillRect/>
          </a:stretch>
        </p:blipFill>
        <p:spPr>
          <a:xfrm>
            <a:off x="548640" y="2055536"/>
            <a:ext cx="6675120" cy="2948096"/>
          </a:xfrm>
          <a:prstGeom prst="rect">
            <a:avLst/>
          </a:prstGeom>
        </p:spPr>
      </p:pic>
      <p:sp>
        <p:nvSpPr>
          <p:cNvPr id="4" name="parallel caption"/>
          <p:cNvSpPr txBox="1"/>
          <p:nvPr/>
        </p:nvSpPr>
        <p:spPr>
          <a:xfrm>
            <a:off x="548640" y="5095072"/>
            <a:ext cx="6675120" cy="256032"/>
          </a:xfrm>
          <a:prstGeom prst="rect">
            <a:avLst/>
          </a:prstGeom>
          <a:noFill/>
          <a:ln/>
        </p:spPr>
        <p:txBody>
          <a:bodyPr wrap="square" lIns="0" tIns="0" rIns="0" bIns="0" rtlCol="0" anchor="ctr"/>
          <a:lstStyle/>
          <a:p>
            <a:pPr algn="ctr" indent="0" marL="0">
              <a:buNone/>
            </a:pPr>
            <a:r>
              <a:rPr lang="en-US" sz="1200" i="1" dirty="0">
                <a:solidFill>
                  <a:srgbClr val="5E6E73"/>
                </a:solidFill>
              </a:rPr>
              <a:t>One lane per patient; validated outcomes re-enter the knowledge store only after approval.</a:t>
            </a:r>
            <a:endParaRPr lang="en-US" sz="1200" dirty="0"/>
          </a:p>
        </p:txBody>
      </p:sp>
      <p:sp>
        <p:nvSpPr>
          <p:cNvPr id="5" name="parallel 1 circle"/>
          <p:cNvSpPr/>
          <p:nvPr/>
        </p:nvSpPr>
        <p:spPr>
          <a:xfrm>
            <a:off x="7635240" y="1371600"/>
            <a:ext cx="548640" cy="548640"/>
          </a:xfrm>
          <a:prstGeom prst="ellipse">
            <a:avLst/>
          </a:prstGeom>
          <a:solidFill>
            <a:schemeClr val="accent1"/>
          </a:solidFill>
          <a:ln/>
        </p:spPr>
      </p:sp>
      <p:pic>
        <p:nvPicPr>
          <p:cNvPr id="6" name="parallel 1 icon" descr="preencoded.png">    </p:cNvPr>
          <p:cNvPicPr>
            <a:picLocks noChangeAspect="1"/>
          </p:cNvPicPr>
          <p:nvPr/>
        </p:nvPicPr>
        <p:blipFill>
          <a:blip r:embed="rId2"/>
          <a:stretch>
            <a:fillRect/>
          </a:stretch>
        </p:blipFill>
        <p:spPr>
          <a:xfrm>
            <a:off x="7766914" y="1503274"/>
            <a:ext cx="285293" cy="285293"/>
          </a:xfrm>
          <a:prstGeom prst="rect">
            <a:avLst/>
          </a:prstGeom>
        </p:spPr>
      </p:pic>
      <p:sp>
        <p:nvSpPr>
          <p:cNvPr id="7" name="parallel text 1"/>
          <p:cNvSpPr txBox="1"/>
          <p:nvPr/>
        </p:nvSpPr>
        <p:spPr>
          <a:xfrm>
            <a:off x="8385048" y="1389888"/>
            <a:ext cx="3258007" cy="1371600"/>
          </a:xfrm>
          <a:prstGeom prst="rect">
            <a:avLst/>
          </a:prstGeom>
          <a:noFill/>
          <a:ln/>
        </p:spPr>
        <p:txBody>
          <a:bodyPr wrap="square" lIns="0" tIns="0" rIns="0" bIns="0" rtlCol="0" anchor="t"/>
          <a:lstStyle/>
          <a:p>
            <a:pPr indent="0" marL="0">
              <a:spcAft>
                <a:spcPts val="300"/>
              </a:spcAft>
              <a:buNone/>
            </a:pPr>
            <a:r>
              <a:rPr lang="en-US" sz="1600" b="1" dirty="0">
                <a:solidFill>
                  <a:schemeClr val="tx2"/>
                </a:solidFill>
              </a:rPr>
              <a:t>Isolated contexts</a:t>
            </a:r>
            <a:endParaRPr lang="en-US" sz="1400" dirty="0"/>
          </a:p>
          <a:p>
            <a:pPr indent="0" marL="0">
              <a:spcAft>
                <a:spcPts val="300"/>
              </a:spcAft>
              <a:buNone/>
            </a:pPr>
            <a:r>
              <a:rPr lang="en-US" sz="1400" dirty="0">
                <a:solidFill>
                  <a:schemeClr val="tx1"/>
                </a:solidFill>
              </a:rPr>
              <a:t>No data or evidence from one patient reaches another patient’s report (NFR2).</a:t>
            </a:r>
            <a:endParaRPr lang="en-US" sz="1400" dirty="0"/>
          </a:p>
        </p:txBody>
      </p:sp>
      <p:sp>
        <p:nvSpPr>
          <p:cNvPr id="8" name="parallel 2 circle"/>
          <p:cNvSpPr/>
          <p:nvPr/>
        </p:nvSpPr>
        <p:spPr>
          <a:xfrm>
            <a:off x="7635240" y="2926080"/>
            <a:ext cx="548640" cy="548640"/>
          </a:xfrm>
          <a:prstGeom prst="ellipse">
            <a:avLst/>
          </a:prstGeom>
          <a:solidFill>
            <a:schemeClr val="accent1"/>
          </a:solidFill>
          <a:ln/>
        </p:spPr>
      </p:sp>
      <p:pic>
        <p:nvPicPr>
          <p:cNvPr id="9" name="parallel 2 icon" descr="preencoded.png">    </p:cNvPr>
          <p:cNvPicPr>
            <a:picLocks noChangeAspect="1"/>
          </p:cNvPicPr>
          <p:nvPr/>
        </p:nvPicPr>
        <p:blipFill>
          <a:blip r:embed="rId3"/>
          <a:stretch>
            <a:fillRect/>
          </a:stretch>
        </p:blipFill>
        <p:spPr>
          <a:xfrm>
            <a:off x="7766914" y="3057754"/>
            <a:ext cx="285293" cy="285293"/>
          </a:xfrm>
          <a:prstGeom prst="rect">
            <a:avLst/>
          </a:prstGeom>
        </p:spPr>
      </p:pic>
      <p:sp>
        <p:nvSpPr>
          <p:cNvPr id="10" name="parallel text 2"/>
          <p:cNvSpPr txBox="1"/>
          <p:nvPr/>
        </p:nvSpPr>
        <p:spPr>
          <a:xfrm>
            <a:off x="8385048" y="2944368"/>
            <a:ext cx="3258007" cy="1371600"/>
          </a:xfrm>
          <a:prstGeom prst="rect">
            <a:avLst/>
          </a:prstGeom>
          <a:noFill/>
          <a:ln/>
        </p:spPr>
        <p:txBody>
          <a:bodyPr wrap="square" lIns="0" tIns="0" rIns="0" bIns="0" rtlCol="0" anchor="t"/>
          <a:lstStyle/>
          <a:p>
            <a:pPr indent="0" marL="0">
              <a:spcAft>
                <a:spcPts val="300"/>
              </a:spcAft>
              <a:buNone/>
            </a:pPr>
            <a:r>
              <a:rPr lang="en-US" sz="1600" b="1" dirty="0">
                <a:solidFill>
                  <a:schemeClr val="tx2"/>
                </a:solidFill>
              </a:rPr>
              <a:t>Concurrent agents</a:t>
            </a:r>
            <a:endParaRPr lang="en-US" sz="1400" dirty="0"/>
          </a:p>
          <a:p>
            <a:pPr indent="0" marL="0">
              <a:spcAft>
                <a:spcPts val="300"/>
              </a:spcAft>
              <a:buNone/>
            </a:pPr>
            <a:r>
              <a:rPr lang="en-US" sz="1400" dirty="0">
                <a:solidFill>
                  <a:schemeClr val="tx1"/>
                </a:solidFill>
              </a:rPr>
              <a:t>ML, rules and retrieval run together; synthesis waits for all of a case’s evidence.</a:t>
            </a:r>
            <a:endParaRPr lang="en-US" sz="1400" dirty="0"/>
          </a:p>
        </p:txBody>
      </p:sp>
      <p:sp>
        <p:nvSpPr>
          <p:cNvPr id="11" name="parallel 3 circle"/>
          <p:cNvSpPr/>
          <p:nvPr/>
        </p:nvSpPr>
        <p:spPr>
          <a:xfrm>
            <a:off x="7635240" y="4480560"/>
            <a:ext cx="548640" cy="548640"/>
          </a:xfrm>
          <a:prstGeom prst="ellipse">
            <a:avLst/>
          </a:prstGeom>
          <a:solidFill>
            <a:schemeClr val="accent1"/>
          </a:solidFill>
          <a:ln/>
        </p:spPr>
      </p:sp>
      <p:pic>
        <p:nvPicPr>
          <p:cNvPr id="12" name="parallel 3 icon" descr="preencoded.png">    </p:cNvPr>
          <p:cNvPicPr>
            <a:picLocks noChangeAspect="1"/>
          </p:cNvPicPr>
          <p:nvPr/>
        </p:nvPicPr>
        <p:blipFill>
          <a:blip r:embed="rId4"/>
          <a:stretch>
            <a:fillRect/>
          </a:stretch>
        </p:blipFill>
        <p:spPr>
          <a:xfrm>
            <a:off x="7766914" y="4612234"/>
            <a:ext cx="285293" cy="285293"/>
          </a:xfrm>
          <a:prstGeom prst="rect">
            <a:avLst/>
          </a:prstGeom>
        </p:spPr>
      </p:pic>
      <p:sp>
        <p:nvSpPr>
          <p:cNvPr id="13" name="parallel text 3"/>
          <p:cNvSpPr txBox="1"/>
          <p:nvPr/>
        </p:nvSpPr>
        <p:spPr>
          <a:xfrm>
            <a:off x="8385048" y="4498848"/>
            <a:ext cx="3258007" cy="1371600"/>
          </a:xfrm>
          <a:prstGeom prst="rect">
            <a:avLst/>
          </a:prstGeom>
          <a:noFill/>
          <a:ln/>
        </p:spPr>
        <p:txBody>
          <a:bodyPr wrap="square" lIns="0" tIns="0" rIns="0" bIns="0" rtlCol="0" anchor="t"/>
          <a:lstStyle/>
          <a:p>
            <a:pPr indent="0" marL="0">
              <a:spcAft>
                <a:spcPts val="300"/>
              </a:spcAft>
              <a:buNone/>
            </a:pPr>
            <a:r>
              <a:rPr lang="en-US" sz="1600" b="1" dirty="0">
                <a:solidFill>
                  <a:schemeClr val="tx2"/>
                </a:solidFill>
              </a:rPr>
              <a:t>Governed knowledge</a:t>
            </a:r>
            <a:endParaRPr lang="en-US" sz="1400" dirty="0"/>
          </a:p>
          <a:p>
            <a:pPr indent="0" marL="0">
              <a:spcAft>
                <a:spcPts val="300"/>
              </a:spcAft>
              <a:buNone/>
            </a:pPr>
            <a:r>
              <a:rPr lang="en-US" sz="1400" dirty="0">
                <a:solidFill>
                  <a:schemeClr val="tx1"/>
                </a:solidFill>
              </a:rPr>
              <a:t>Only outcomes validated by a clinician and approved by the curator enter the index, with a new version.</a:t>
            </a:r>
            <a:endParaRPr lang="en-US" sz="1400" dirty="0"/>
          </a:p>
        </p:txBody>
      </p:sp>
      <p:sp>
        <p:nvSpPr>
          <p:cNvPr id="25" name="Slide Number Placeholder 0"/>
          <p:cNvSpPr>
            <a:spLocks noGrp="1"/>
          </p:cNvSpPr>
          <p:nvPr>
            <p:ph type="sldNum" sz="quarter" idx="4294967295"/>
          </p:nvPr>
        </p:nvSpPr>
        <p:spPr>
          <a:xfrm>
            <a:off x="11201400" y="6382512"/>
            <a:ext cx="438912" cy="27432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E6E73"/>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94415" cy="777240"/>
          </a:xfrm>
          <a:prstGeom prst="rect">
            <a:avLst/>
          </a:prstGeom>
          <a:noFill/>
          <a:ln/>
        </p:spPr>
        <p:txBody>
          <a:bodyPr wrap="square" lIns="0" tIns="0" rIns="0" bIns="0" rtlCol="0" anchor="ctr"/>
          <a:lstStyle/>
          <a:p>
            <a:pPr algn="l" indent="0" marL="0">
              <a:buNone/>
            </a:pPr>
            <a:r>
              <a:rPr lang="en-US" sz="3400" b="1" dirty="0">
                <a:solidFill>
                  <a:schemeClr val="tx2"/>
                </a:solidFill>
                <a:latin typeface="+mj-lt" pitchFamily="34" charset="0"/>
                <a:ea typeface="+mj-lt" pitchFamily="34" charset="-122"/>
                <a:cs typeface="+mj-lt" pitchFamily="34" charset="-120"/>
              </a:rPr>
              <a:t>System Design: DFD &amp; UML</a:t>
            </a:r>
            <a:endParaRPr lang="en-US" sz="3400" dirty="0"/>
          </a:p>
        </p:txBody>
      </p:sp>
      <p:pic>
        <p:nvPicPr>
          <p:cNvPr id="3" name="use case diagram" descr="use case diagram">    </p:cNvPr>
          <p:cNvPicPr>
            <a:picLocks noChangeAspect="1"/>
          </p:cNvPicPr>
          <p:nvPr/>
        </p:nvPicPr>
        <p:blipFill>
          <a:blip r:embed="rId1"/>
          <a:stretch>
            <a:fillRect/>
          </a:stretch>
        </p:blipFill>
        <p:spPr>
          <a:xfrm>
            <a:off x="6844597" y="1371600"/>
            <a:ext cx="4798458" cy="4251960"/>
          </a:xfrm>
          <a:prstGeom prst="rect">
            <a:avLst/>
          </a:prstGeom>
        </p:spPr>
      </p:pic>
      <p:pic>
        <p:nvPicPr>
          <p:cNvPr id="4" name="level 0 data flow diagram" descr="level 0 data flow diagram">    </p:cNvPr>
          <p:cNvPicPr>
            <a:picLocks noChangeAspect="1"/>
          </p:cNvPicPr>
          <p:nvPr/>
        </p:nvPicPr>
        <p:blipFill>
          <a:blip r:embed="rId2"/>
          <a:stretch>
            <a:fillRect/>
          </a:stretch>
        </p:blipFill>
        <p:spPr>
          <a:xfrm>
            <a:off x="548640" y="2046076"/>
            <a:ext cx="5884477" cy="2903009"/>
          </a:xfrm>
          <a:prstGeom prst="rect">
            <a:avLst/>
          </a:prstGeom>
        </p:spPr>
      </p:pic>
      <p:sp>
        <p:nvSpPr>
          <p:cNvPr id="5" name="dfd caption"/>
          <p:cNvSpPr txBox="1"/>
          <p:nvPr/>
        </p:nvSpPr>
        <p:spPr>
          <a:xfrm>
            <a:off x="548640" y="5715000"/>
            <a:ext cx="5884477" cy="256032"/>
          </a:xfrm>
          <a:prstGeom prst="rect">
            <a:avLst/>
          </a:prstGeom>
          <a:noFill/>
          <a:ln/>
        </p:spPr>
        <p:txBody>
          <a:bodyPr wrap="square" lIns="0" tIns="0" rIns="0" bIns="0" rtlCol="0" anchor="ctr"/>
          <a:lstStyle/>
          <a:p>
            <a:pPr algn="ctr" indent="0" marL="0">
              <a:buNone/>
            </a:pPr>
            <a:r>
              <a:rPr lang="en-US" sz="1200" i="1" dirty="0">
                <a:solidFill>
                  <a:srgbClr val="5E6E73"/>
                </a:solidFill>
              </a:rPr>
              <a:t>Level 0 data flow diagram: MedIntel and its five external entities</a:t>
            </a:r>
            <a:endParaRPr lang="en-US" sz="1200" dirty="0"/>
          </a:p>
        </p:txBody>
      </p:sp>
      <p:sp>
        <p:nvSpPr>
          <p:cNvPr id="6" name="use case caption"/>
          <p:cNvSpPr txBox="1"/>
          <p:nvPr/>
        </p:nvSpPr>
        <p:spPr>
          <a:xfrm>
            <a:off x="6844597" y="5715000"/>
            <a:ext cx="4798458" cy="256032"/>
          </a:xfrm>
          <a:prstGeom prst="rect">
            <a:avLst/>
          </a:prstGeom>
          <a:noFill/>
          <a:ln/>
        </p:spPr>
        <p:txBody>
          <a:bodyPr wrap="square" lIns="0" tIns="0" rIns="0" bIns="0" rtlCol="0" anchor="ctr"/>
          <a:lstStyle/>
          <a:p>
            <a:pPr algn="ctr" indent="0" marL="0">
              <a:buNone/>
            </a:pPr>
            <a:r>
              <a:rPr lang="en-US" sz="1200" i="1" dirty="0">
                <a:solidFill>
                  <a:srgbClr val="5E6E73"/>
                </a:solidFill>
              </a:rPr>
              <a:t>Use case diagram for the primary actors</a:t>
            </a:r>
            <a:endParaRPr lang="en-US" sz="1200" dirty="0"/>
          </a:p>
        </p:txBody>
      </p:sp>
      <p:sp>
        <p:nvSpPr>
          <p:cNvPr id="25" name="Slide Number Placeholder 0"/>
          <p:cNvSpPr>
            <a:spLocks noGrp="1"/>
          </p:cNvSpPr>
          <p:nvPr>
            <p:ph type="sldNum" sz="quarter" idx="4294967295"/>
          </p:nvPr>
        </p:nvSpPr>
        <p:spPr>
          <a:xfrm>
            <a:off x="11201400" y="6382512"/>
            <a:ext cx="438912" cy="27432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E6E73"/>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94415" cy="777240"/>
          </a:xfrm>
          <a:prstGeom prst="rect">
            <a:avLst/>
          </a:prstGeom>
          <a:noFill/>
          <a:ln/>
        </p:spPr>
        <p:txBody>
          <a:bodyPr wrap="square" lIns="0" tIns="0" rIns="0" bIns="0" rtlCol="0" anchor="ctr"/>
          <a:lstStyle/>
          <a:p>
            <a:pPr algn="l" indent="0" marL="0">
              <a:buNone/>
            </a:pPr>
            <a:r>
              <a:rPr lang="en-US" sz="3400" b="1" dirty="0">
                <a:solidFill>
                  <a:schemeClr val="tx2"/>
                </a:solidFill>
                <a:latin typeface="+mj-lt" pitchFamily="34" charset="0"/>
                <a:ea typeface="+mj-lt" pitchFamily="34" charset="-122"/>
                <a:cs typeface="+mj-lt" pitchFamily="34" charset="-120"/>
              </a:rPr>
              <a:t>Technology Stack &amp; Requirements</a:t>
            </a:r>
            <a:endParaRPr lang="en-US" sz="3400" dirty="0"/>
          </a:p>
        </p:txBody>
      </p:sp>
      <p:sp>
        <p:nvSpPr>
          <p:cNvPr id="3" name="stack layer 1"/>
          <p:cNvSpPr/>
          <p:nvPr/>
        </p:nvSpPr>
        <p:spPr>
          <a:xfrm>
            <a:off x="548640" y="1371600"/>
            <a:ext cx="7589520" cy="640080"/>
          </a:xfrm>
          <a:prstGeom prst="roundRect">
            <a:avLst>
              <a:gd name="adj" fmla="val 17143"/>
            </a:avLst>
          </a:prstGeom>
          <a:solidFill>
            <a:schemeClr val="bg2"/>
          </a:solidFill>
          <a:ln/>
        </p:spPr>
      </p:sp>
      <p:sp>
        <p:nvSpPr>
          <p:cNvPr id="4" name="stack 1 circle"/>
          <p:cNvSpPr/>
          <p:nvPr/>
        </p:nvSpPr>
        <p:spPr>
          <a:xfrm>
            <a:off x="749808" y="1463040"/>
            <a:ext cx="457200" cy="457200"/>
          </a:xfrm>
          <a:prstGeom prst="ellipse">
            <a:avLst/>
          </a:prstGeom>
          <a:solidFill>
            <a:schemeClr val="accent1"/>
          </a:solidFill>
          <a:ln/>
        </p:spPr>
      </p:sp>
      <p:pic>
        <p:nvPicPr>
          <p:cNvPr id="5" name="stack 1 icon" descr="preencoded.png">    </p:cNvPr>
          <p:cNvPicPr>
            <a:picLocks noChangeAspect="1"/>
          </p:cNvPicPr>
          <p:nvPr/>
        </p:nvPicPr>
        <p:blipFill>
          <a:blip r:embed="rId1"/>
          <a:stretch>
            <a:fillRect/>
          </a:stretch>
        </p:blipFill>
        <p:spPr>
          <a:xfrm>
            <a:off x="859536" y="1572768"/>
            <a:ext cx="237744" cy="237744"/>
          </a:xfrm>
          <a:prstGeom prst="rect">
            <a:avLst/>
          </a:prstGeom>
        </p:spPr>
      </p:pic>
      <p:sp>
        <p:nvSpPr>
          <p:cNvPr id="6" name="stack layer name 1"/>
          <p:cNvSpPr txBox="1"/>
          <p:nvPr/>
        </p:nvSpPr>
        <p:spPr>
          <a:xfrm>
            <a:off x="1389888" y="1371600"/>
            <a:ext cx="2103120" cy="640080"/>
          </a:xfrm>
          <a:prstGeom prst="rect">
            <a:avLst/>
          </a:prstGeom>
          <a:noFill/>
          <a:ln/>
        </p:spPr>
        <p:txBody>
          <a:bodyPr wrap="square" lIns="0" tIns="0" rIns="0" bIns="0" rtlCol="0" anchor="ctr"/>
          <a:lstStyle/>
          <a:p>
            <a:pPr indent="0" marL="0">
              <a:buNone/>
            </a:pPr>
            <a:r>
              <a:rPr lang="en-US" sz="1600" b="1" dirty="0">
                <a:solidFill>
                  <a:schemeClr val="tx2"/>
                </a:solidFill>
              </a:rPr>
              <a:t>Interface</a:t>
            </a:r>
            <a:endParaRPr lang="en-US" sz="1600" dirty="0"/>
          </a:p>
        </p:txBody>
      </p:sp>
      <p:sp>
        <p:nvSpPr>
          <p:cNvPr id="7" name="stack tools 1"/>
          <p:cNvSpPr txBox="1"/>
          <p:nvPr/>
        </p:nvSpPr>
        <p:spPr>
          <a:xfrm>
            <a:off x="3566160" y="1371600"/>
            <a:ext cx="4389120" cy="640080"/>
          </a:xfrm>
          <a:prstGeom prst="rect">
            <a:avLst/>
          </a:prstGeom>
          <a:noFill/>
          <a:ln/>
        </p:spPr>
        <p:txBody>
          <a:bodyPr wrap="square" lIns="0" tIns="0" rIns="0" bIns="0" rtlCol="0" anchor="ctr"/>
          <a:lstStyle/>
          <a:p>
            <a:pPr indent="0" marL="0">
              <a:buNone/>
            </a:pPr>
            <a:r>
              <a:rPr lang="en-US" sz="1400" dirty="0">
                <a:solidFill>
                  <a:schemeClr val="tx1"/>
                </a:solidFill>
              </a:rPr>
              <a:t>Streamlit dashboard  ·  FastAPI REST backend</a:t>
            </a:r>
            <a:endParaRPr lang="en-US" sz="1400" dirty="0"/>
          </a:p>
        </p:txBody>
      </p:sp>
      <p:sp>
        <p:nvSpPr>
          <p:cNvPr id="8" name="stack layer 2"/>
          <p:cNvSpPr/>
          <p:nvPr/>
        </p:nvSpPr>
        <p:spPr>
          <a:xfrm>
            <a:off x="548640" y="2176272"/>
            <a:ext cx="7589520" cy="640080"/>
          </a:xfrm>
          <a:prstGeom prst="roundRect">
            <a:avLst>
              <a:gd name="adj" fmla="val 17143"/>
            </a:avLst>
          </a:prstGeom>
          <a:solidFill>
            <a:schemeClr val="bg2"/>
          </a:solidFill>
          <a:ln/>
        </p:spPr>
      </p:sp>
      <p:sp>
        <p:nvSpPr>
          <p:cNvPr id="9" name="stack 2 circle"/>
          <p:cNvSpPr/>
          <p:nvPr/>
        </p:nvSpPr>
        <p:spPr>
          <a:xfrm>
            <a:off x="749808" y="2267712"/>
            <a:ext cx="457200" cy="457200"/>
          </a:xfrm>
          <a:prstGeom prst="ellipse">
            <a:avLst/>
          </a:prstGeom>
          <a:solidFill>
            <a:schemeClr val="accent1"/>
          </a:solidFill>
          <a:ln/>
        </p:spPr>
      </p:sp>
      <p:pic>
        <p:nvPicPr>
          <p:cNvPr id="10" name="stack 2 icon" descr="preencoded.png">    </p:cNvPr>
          <p:cNvPicPr>
            <a:picLocks noChangeAspect="1"/>
          </p:cNvPicPr>
          <p:nvPr/>
        </p:nvPicPr>
        <p:blipFill>
          <a:blip r:embed="rId2"/>
          <a:stretch>
            <a:fillRect/>
          </a:stretch>
        </p:blipFill>
        <p:spPr>
          <a:xfrm>
            <a:off x="859536" y="2377440"/>
            <a:ext cx="237744" cy="237744"/>
          </a:xfrm>
          <a:prstGeom prst="rect">
            <a:avLst/>
          </a:prstGeom>
        </p:spPr>
      </p:pic>
      <p:sp>
        <p:nvSpPr>
          <p:cNvPr id="11" name="stack layer name 2"/>
          <p:cNvSpPr txBox="1"/>
          <p:nvPr/>
        </p:nvSpPr>
        <p:spPr>
          <a:xfrm>
            <a:off x="1389888" y="2176272"/>
            <a:ext cx="2103120" cy="640080"/>
          </a:xfrm>
          <a:prstGeom prst="rect">
            <a:avLst/>
          </a:prstGeom>
          <a:noFill/>
          <a:ln/>
        </p:spPr>
        <p:txBody>
          <a:bodyPr wrap="square" lIns="0" tIns="0" rIns="0" bIns="0" rtlCol="0" anchor="ctr"/>
          <a:lstStyle/>
          <a:p>
            <a:pPr indent="0" marL="0">
              <a:buNone/>
            </a:pPr>
            <a:r>
              <a:rPr lang="en-US" sz="1600" b="1" dirty="0">
                <a:solidFill>
                  <a:schemeClr val="tx2"/>
                </a:solidFill>
              </a:rPr>
              <a:t>Language model</a:t>
            </a:r>
            <a:endParaRPr lang="en-US" sz="1600" dirty="0"/>
          </a:p>
        </p:txBody>
      </p:sp>
      <p:sp>
        <p:nvSpPr>
          <p:cNvPr id="12" name="stack tools 2"/>
          <p:cNvSpPr txBox="1"/>
          <p:nvPr/>
        </p:nvSpPr>
        <p:spPr>
          <a:xfrm>
            <a:off x="3566160" y="2176272"/>
            <a:ext cx="4389120" cy="640080"/>
          </a:xfrm>
          <a:prstGeom prst="rect">
            <a:avLst/>
          </a:prstGeom>
          <a:noFill/>
          <a:ln/>
        </p:spPr>
        <p:txBody>
          <a:bodyPr wrap="square" lIns="0" tIns="0" rIns="0" bIns="0" rtlCol="0" anchor="ctr"/>
          <a:lstStyle/>
          <a:p>
            <a:pPr indent="0" marL="0">
              <a:buNone/>
            </a:pPr>
            <a:r>
              <a:rPr lang="en-US" sz="1400" dirty="0">
                <a:solidFill>
                  <a:schemeClr val="tx1"/>
                </a:solidFill>
              </a:rPr>
              <a:t>Hosted API or a local model via Ollama</a:t>
            </a:r>
            <a:endParaRPr lang="en-US" sz="1400" dirty="0"/>
          </a:p>
        </p:txBody>
      </p:sp>
      <p:sp>
        <p:nvSpPr>
          <p:cNvPr id="13" name="stack layer 3"/>
          <p:cNvSpPr/>
          <p:nvPr/>
        </p:nvSpPr>
        <p:spPr>
          <a:xfrm>
            <a:off x="548640" y="2980944"/>
            <a:ext cx="7589520" cy="640080"/>
          </a:xfrm>
          <a:prstGeom prst="roundRect">
            <a:avLst>
              <a:gd name="adj" fmla="val 17143"/>
            </a:avLst>
          </a:prstGeom>
          <a:solidFill>
            <a:schemeClr val="bg2"/>
          </a:solidFill>
          <a:ln/>
        </p:spPr>
      </p:sp>
      <p:sp>
        <p:nvSpPr>
          <p:cNvPr id="14" name="stack 3 circle"/>
          <p:cNvSpPr/>
          <p:nvPr/>
        </p:nvSpPr>
        <p:spPr>
          <a:xfrm>
            <a:off x="749808" y="3072384"/>
            <a:ext cx="457200" cy="457200"/>
          </a:xfrm>
          <a:prstGeom prst="ellipse">
            <a:avLst/>
          </a:prstGeom>
          <a:solidFill>
            <a:schemeClr val="accent1"/>
          </a:solidFill>
          <a:ln/>
        </p:spPr>
      </p:sp>
      <p:pic>
        <p:nvPicPr>
          <p:cNvPr id="15" name="stack 3 icon" descr="preencoded.png">    </p:cNvPr>
          <p:cNvPicPr>
            <a:picLocks noChangeAspect="1"/>
          </p:cNvPicPr>
          <p:nvPr/>
        </p:nvPicPr>
        <p:blipFill>
          <a:blip r:embed="rId3"/>
          <a:stretch>
            <a:fillRect/>
          </a:stretch>
        </p:blipFill>
        <p:spPr>
          <a:xfrm>
            <a:off x="859536" y="3182112"/>
            <a:ext cx="237744" cy="237744"/>
          </a:xfrm>
          <a:prstGeom prst="rect">
            <a:avLst/>
          </a:prstGeom>
        </p:spPr>
      </p:pic>
      <p:sp>
        <p:nvSpPr>
          <p:cNvPr id="16" name="stack layer name 3"/>
          <p:cNvSpPr txBox="1"/>
          <p:nvPr/>
        </p:nvSpPr>
        <p:spPr>
          <a:xfrm>
            <a:off x="1389888" y="2980944"/>
            <a:ext cx="2103120" cy="640080"/>
          </a:xfrm>
          <a:prstGeom prst="rect">
            <a:avLst/>
          </a:prstGeom>
          <a:noFill/>
          <a:ln/>
        </p:spPr>
        <p:txBody>
          <a:bodyPr wrap="square" lIns="0" tIns="0" rIns="0" bIns="0" rtlCol="0" anchor="ctr"/>
          <a:lstStyle/>
          <a:p>
            <a:pPr indent="0" marL="0">
              <a:buNone/>
            </a:pPr>
            <a:r>
              <a:rPr lang="en-US" sz="1600" b="1" dirty="0">
                <a:solidFill>
                  <a:schemeClr val="tx2"/>
                </a:solidFill>
              </a:rPr>
              <a:t>Retrieval</a:t>
            </a:r>
            <a:endParaRPr lang="en-US" sz="1600" dirty="0"/>
          </a:p>
        </p:txBody>
      </p:sp>
      <p:sp>
        <p:nvSpPr>
          <p:cNvPr id="17" name="stack tools 3"/>
          <p:cNvSpPr txBox="1"/>
          <p:nvPr/>
        </p:nvSpPr>
        <p:spPr>
          <a:xfrm>
            <a:off x="3566160" y="2980944"/>
            <a:ext cx="4389120" cy="640080"/>
          </a:xfrm>
          <a:prstGeom prst="rect">
            <a:avLst/>
          </a:prstGeom>
          <a:noFill/>
          <a:ln/>
        </p:spPr>
        <p:txBody>
          <a:bodyPr wrap="square" lIns="0" tIns="0" rIns="0" bIns="0" rtlCol="0" anchor="ctr"/>
          <a:lstStyle/>
          <a:p>
            <a:pPr indent="0" marL="0">
              <a:buNone/>
            </a:pPr>
            <a:r>
              <a:rPr lang="en-US" sz="1400" dirty="0">
                <a:solidFill>
                  <a:schemeClr val="tx1"/>
                </a:solidFill>
              </a:rPr>
              <a:t>sentence-transformers  ·  FAISS vector index</a:t>
            </a:r>
            <a:endParaRPr lang="en-US" sz="1400" dirty="0"/>
          </a:p>
        </p:txBody>
      </p:sp>
      <p:sp>
        <p:nvSpPr>
          <p:cNvPr id="18" name="stack layer 4"/>
          <p:cNvSpPr/>
          <p:nvPr/>
        </p:nvSpPr>
        <p:spPr>
          <a:xfrm>
            <a:off x="548640" y="3785616"/>
            <a:ext cx="7589520" cy="640080"/>
          </a:xfrm>
          <a:prstGeom prst="roundRect">
            <a:avLst>
              <a:gd name="adj" fmla="val 17143"/>
            </a:avLst>
          </a:prstGeom>
          <a:solidFill>
            <a:schemeClr val="bg2"/>
          </a:solidFill>
          <a:ln/>
        </p:spPr>
      </p:sp>
      <p:sp>
        <p:nvSpPr>
          <p:cNvPr id="19" name="stack 4 circle"/>
          <p:cNvSpPr/>
          <p:nvPr/>
        </p:nvSpPr>
        <p:spPr>
          <a:xfrm>
            <a:off x="749808" y="3877056"/>
            <a:ext cx="457200" cy="457200"/>
          </a:xfrm>
          <a:prstGeom prst="ellipse">
            <a:avLst/>
          </a:prstGeom>
          <a:solidFill>
            <a:schemeClr val="accent1"/>
          </a:solidFill>
          <a:ln/>
        </p:spPr>
      </p:sp>
      <p:pic>
        <p:nvPicPr>
          <p:cNvPr id="20" name="stack 4 icon" descr="preencoded.png">    </p:cNvPr>
          <p:cNvPicPr>
            <a:picLocks noChangeAspect="1"/>
          </p:cNvPicPr>
          <p:nvPr/>
        </p:nvPicPr>
        <p:blipFill>
          <a:blip r:embed="rId4"/>
          <a:stretch>
            <a:fillRect/>
          </a:stretch>
        </p:blipFill>
        <p:spPr>
          <a:xfrm>
            <a:off x="859536" y="3986784"/>
            <a:ext cx="237744" cy="237744"/>
          </a:xfrm>
          <a:prstGeom prst="rect">
            <a:avLst/>
          </a:prstGeom>
        </p:spPr>
      </p:pic>
      <p:sp>
        <p:nvSpPr>
          <p:cNvPr id="21" name="stack layer name 4"/>
          <p:cNvSpPr txBox="1"/>
          <p:nvPr/>
        </p:nvSpPr>
        <p:spPr>
          <a:xfrm>
            <a:off x="1389888" y="3785616"/>
            <a:ext cx="2103120" cy="640080"/>
          </a:xfrm>
          <a:prstGeom prst="rect">
            <a:avLst/>
          </a:prstGeom>
          <a:noFill/>
          <a:ln/>
        </p:spPr>
        <p:txBody>
          <a:bodyPr wrap="square" lIns="0" tIns="0" rIns="0" bIns="0" rtlCol="0" anchor="ctr"/>
          <a:lstStyle/>
          <a:p>
            <a:pPr indent="0" marL="0">
              <a:buNone/>
            </a:pPr>
            <a:r>
              <a:rPr lang="en-US" sz="1600" b="1" dirty="0">
                <a:solidFill>
                  <a:schemeClr val="tx2"/>
                </a:solidFill>
              </a:rPr>
              <a:t>Machine learning</a:t>
            </a:r>
            <a:endParaRPr lang="en-US" sz="1600" dirty="0"/>
          </a:p>
        </p:txBody>
      </p:sp>
      <p:sp>
        <p:nvSpPr>
          <p:cNvPr id="22" name="stack tools 4"/>
          <p:cNvSpPr txBox="1"/>
          <p:nvPr/>
        </p:nvSpPr>
        <p:spPr>
          <a:xfrm>
            <a:off x="3566160" y="3785616"/>
            <a:ext cx="4389120" cy="640080"/>
          </a:xfrm>
          <a:prstGeom prst="rect">
            <a:avLst/>
          </a:prstGeom>
          <a:noFill/>
          <a:ln/>
        </p:spPr>
        <p:txBody>
          <a:bodyPr wrap="square" lIns="0" tIns="0" rIns="0" bIns="0" rtlCol="0" anchor="ctr"/>
          <a:lstStyle/>
          <a:p>
            <a:pPr indent="0" marL="0">
              <a:buNone/>
            </a:pPr>
            <a:r>
              <a:rPr lang="en-US" sz="1400" dirty="0">
                <a:solidFill>
                  <a:schemeClr val="tx1"/>
                </a:solidFill>
              </a:rPr>
              <a:t>scikit-learn  ·  XGBoost</a:t>
            </a:r>
            <a:endParaRPr lang="en-US" sz="1400" dirty="0"/>
          </a:p>
        </p:txBody>
      </p:sp>
      <p:sp>
        <p:nvSpPr>
          <p:cNvPr id="23" name="stack layer 5"/>
          <p:cNvSpPr/>
          <p:nvPr/>
        </p:nvSpPr>
        <p:spPr>
          <a:xfrm>
            <a:off x="548640" y="4590288"/>
            <a:ext cx="7589520" cy="640080"/>
          </a:xfrm>
          <a:prstGeom prst="roundRect">
            <a:avLst>
              <a:gd name="adj" fmla="val 17143"/>
            </a:avLst>
          </a:prstGeom>
          <a:solidFill>
            <a:schemeClr val="bg2"/>
          </a:solidFill>
          <a:ln/>
        </p:spPr>
      </p:sp>
      <p:sp>
        <p:nvSpPr>
          <p:cNvPr id="24" name="stack 5 circle"/>
          <p:cNvSpPr/>
          <p:nvPr/>
        </p:nvSpPr>
        <p:spPr>
          <a:xfrm>
            <a:off x="749808" y="4681728"/>
            <a:ext cx="457200" cy="457200"/>
          </a:xfrm>
          <a:prstGeom prst="ellipse">
            <a:avLst/>
          </a:prstGeom>
          <a:solidFill>
            <a:schemeClr val="accent1"/>
          </a:solidFill>
          <a:ln/>
        </p:spPr>
      </p:sp>
      <p:pic>
        <p:nvPicPr>
          <p:cNvPr id="25" name="stack 5 icon" descr="preencoded.png">    </p:cNvPr>
          <p:cNvPicPr>
            <a:picLocks noChangeAspect="1"/>
          </p:cNvPicPr>
          <p:nvPr/>
        </p:nvPicPr>
        <p:blipFill>
          <a:blip r:embed="rId5"/>
          <a:stretch>
            <a:fillRect/>
          </a:stretch>
        </p:blipFill>
        <p:spPr>
          <a:xfrm>
            <a:off x="859536" y="4791456"/>
            <a:ext cx="237744" cy="237744"/>
          </a:xfrm>
          <a:prstGeom prst="rect">
            <a:avLst/>
          </a:prstGeom>
        </p:spPr>
      </p:pic>
      <p:sp>
        <p:nvSpPr>
          <p:cNvPr id="26" name="stack layer name 5"/>
          <p:cNvSpPr txBox="1"/>
          <p:nvPr/>
        </p:nvSpPr>
        <p:spPr>
          <a:xfrm>
            <a:off x="1389888" y="4590288"/>
            <a:ext cx="2103120" cy="640080"/>
          </a:xfrm>
          <a:prstGeom prst="rect">
            <a:avLst/>
          </a:prstGeom>
          <a:noFill/>
          <a:ln/>
        </p:spPr>
        <p:txBody>
          <a:bodyPr wrap="square" lIns="0" tIns="0" rIns="0" bIns="0" rtlCol="0" anchor="ctr"/>
          <a:lstStyle/>
          <a:p>
            <a:pPr indent="0" marL="0">
              <a:buNone/>
            </a:pPr>
            <a:r>
              <a:rPr lang="en-US" sz="1600" b="1" dirty="0">
                <a:solidFill>
                  <a:schemeClr val="tx2"/>
                </a:solidFill>
              </a:rPr>
              <a:t>Data &amp; rules</a:t>
            </a:r>
            <a:endParaRPr lang="en-US" sz="1600" dirty="0"/>
          </a:p>
        </p:txBody>
      </p:sp>
      <p:sp>
        <p:nvSpPr>
          <p:cNvPr id="27" name="stack tools 5"/>
          <p:cNvSpPr txBox="1"/>
          <p:nvPr/>
        </p:nvSpPr>
        <p:spPr>
          <a:xfrm>
            <a:off x="3566160" y="4590288"/>
            <a:ext cx="4389120" cy="640080"/>
          </a:xfrm>
          <a:prstGeom prst="rect">
            <a:avLst/>
          </a:prstGeom>
          <a:noFill/>
          <a:ln/>
        </p:spPr>
        <p:txBody>
          <a:bodyPr wrap="square" lIns="0" tIns="0" rIns="0" bIns="0" rtlCol="0" anchor="ctr"/>
          <a:lstStyle/>
          <a:p>
            <a:pPr indent="0" marL="0">
              <a:buNone/>
            </a:pPr>
            <a:r>
              <a:rPr lang="en-US" sz="1400" dirty="0">
                <a:solidFill>
                  <a:schemeClr val="tx1"/>
                </a:solidFill>
              </a:rPr>
              <a:t>pandas  ·  pydantic validation  ·  JSON rulebase</a:t>
            </a:r>
            <a:endParaRPr lang="en-US" sz="1400" dirty="0"/>
          </a:p>
        </p:txBody>
      </p:sp>
      <p:sp>
        <p:nvSpPr>
          <p:cNvPr id="28" name="stack layer 6"/>
          <p:cNvSpPr/>
          <p:nvPr/>
        </p:nvSpPr>
        <p:spPr>
          <a:xfrm>
            <a:off x="548640" y="5394960"/>
            <a:ext cx="7589520" cy="640080"/>
          </a:xfrm>
          <a:prstGeom prst="roundRect">
            <a:avLst>
              <a:gd name="adj" fmla="val 17143"/>
            </a:avLst>
          </a:prstGeom>
          <a:solidFill>
            <a:schemeClr val="bg2"/>
          </a:solidFill>
          <a:ln/>
        </p:spPr>
      </p:sp>
      <p:sp>
        <p:nvSpPr>
          <p:cNvPr id="29" name="stack 6 circle"/>
          <p:cNvSpPr/>
          <p:nvPr/>
        </p:nvSpPr>
        <p:spPr>
          <a:xfrm>
            <a:off x="749808" y="5486400"/>
            <a:ext cx="457200" cy="457200"/>
          </a:xfrm>
          <a:prstGeom prst="ellipse">
            <a:avLst/>
          </a:prstGeom>
          <a:solidFill>
            <a:schemeClr val="accent1"/>
          </a:solidFill>
          <a:ln/>
        </p:spPr>
      </p:sp>
      <p:pic>
        <p:nvPicPr>
          <p:cNvPr id="30" name="stack 6 icon" descr="preencoded.png">    </p:cNvPr>
          <p:cNvPicPr>
            <a:picLocks noChangeAspect="1"/>
          </p:cNvPicPr>
          <p:nvPr/>
        </p:nvPicPr>
        <p:blipFill>
          <a:blip r:embed="rId6"/>
          <a:stretch>
            <a:fillRect/>
          </a:stretch>
        </p:blipFill>
        <p:spPr>
          <a:xfrm>
            <a:off x="859536" y="5596128"/>
            <a:ext cx="237744" cy="237744"/>
          </a:xfrm>
          <a:prstGeom prst="rect">
            <a:avLst/>
          </a:prstGeom>
        </p:spPr>
      </p:pic>
      <p:sp>
        <p:nvSpPr>
          <p:cNvPr id="31" name="stack layer name 6"/>
          <p:cNvSpPr txBox="1"/>
          <p:nvPr/>
        </p:nvSpPr>
        <p:spPr>
          <a:xfrm>
            <a:off x="1389888" y="5394960"/>
            <a:ext cx="2103120" cy="640080"/>
          </a:xfrm>
          <a:prstGeom prst="rect">
            <a:avLst/>
          </a:prstGeom>
          <a:noFill/>
          <a:ln/>
        </p:spPr>
        <p:txBody>
          <a:bodyPr wrap="square" lIns="0" tIns="0" rIns="0" bIns="0" rtlCol="0" anchor="ctr"/>
          <a:lstStyle/>
          <a:p>
            <a:pPr indent="0" marL="0">
              <a:buNone/>
            </a:pPr>
            <a:r>
              <a:rPr lang="en-US" sz="1600" b="1" dirty="0">
                <a:solidFill>
                  <a:schemeClr val="tx2"/>
                </a:solidFill>
              </a:rPr>
              <a:t>Storage &amp; testing</a:t>
            </a:r>
            <a:endParaRPr lang="en-US" sz="1600" dirty="0"/>
          </a:p>
        </p:txBody>
      </p:sp>
      <p:sp>
        <p:nvSpPr>
          <p:cNvPr id="32" name="stack tools 6"/>
          <p:cNvSpPr txBox="1"/>
          <p:nvPr/>
        </p:nvSpPr>
        <p:spPr>
          <a:xfrm>
            <a:off x="3566160" y="5394960"/>
            <a:ext cx="4389120" cy="640080"/>
          </a:xfrm>
          <a:prstGeom prst="rect">
            <a:avLst/>
          </a:prstGeom>
          <a:noFill/>
          <a:ln/>
        </p:spPr>
        <p:txBody>
          <a:bodyPr wrap="square" lIns="0" tIns="0" rIns="0" bIns="0" rtlCol="0" anchor="ctr"/>
          <a:lstStyle/>
          <a:p>
            <a:pPr indent="0" marL="0">
              <a:buNone/>
            </a:pPr>
            <a:r>
              <a:rPr lang="en-US" sz="1400" dirty="0">
                <a:solidFill>
                  <a:schemeClr val="tx1"/>
                </a:solidFill>
              </a:rPr>
              <a:t>SQLite / PostgreSQL audit log  ·  pytest  ·  Git</a:t>
            </a:r>
            <a:endParaRPr lang="en-US" sz="1400" dirty="0"/>
          </a:p>
        </p:txBody>
      </p:sp>
      <p:sp>
        <p:nvSpPr>
          <p:cNvPr id="33" name="requirements card"/>
          <p:cNvSpPr/>
          <p:nvPr/>
        </p:nvSpPr>
        <p:spPr>
          <a:xfrm>
            <a:off x="8412480" y="1371600"/>
            <a:ext cx="3230575" cy="4663440"/>
          </a:xfrm>
          <a:prstGeom prst="roundRect">
            <a:avLst>
              <a:gd name="adj" fmla="val 3397"/>
            </a:avLst>
          </a:prstGeom>
          <a:solidFill>
            <a:schemeClr val="tx2"/>
          </a:solidFill>
          <a:ln/>
        </p:spPr>
      </p:sp>
      <p:sp>
        <p:nvSpPr>
          <p:cNvPr id="34" name="requirements circle"/>
          <p:cNvSpPr/>
          <p:nvPr/>
        </p:nvSpPr>
        <p:spPr>
          <a:xfrm>
            <a:off x="8686800" y="1645920"/>
            <a:ext cx="585216" cy="585216"/>
          </a:xfrm>
          <a:prstGeom prst="ellipse">
            <a:avLst/>
          </a:prstGeom>
          <a:solidFill>
            <a:schemeClr val="accent1"/>
          </a:solidFill>
          <a:ln/>
        </p:spPr>
      </p:sp>
      <p:pic>
        <p:nvPicPr>
          <p:cNvPr id="35" name="requirements icon" descr="preencoded.png">    </p:cNvPr>
          <p:cNvPicPr>
            <a:picLocks noChangeAspect="1"/>
          </p:cNvPicPr>
          <p:nvPr/>
        </p:nvPicPr>
        <p:blipFill>
          <a:blip r:embed="rId7"/>
          <a:stretch>
            <a:fillRect/>
          </a:stretch>
        </p:blipFill>
        <p:spPr>
          <a:xfrm>
            <a:off x="8827252" y="1786372"/>
            <a:ext cx="304312" cy="304312"/>
          </a:xfrm>
          <a:prstGeom prst="rect">
            <a:avLst/>
          </a:prstGeom>
        </p:spPr>
      </p:pic>
      <p:sp>
        <p:nvSpPr>
          <p:cNvPr id="36" name="requirements heading"/>
          <p:cNvSpPr txBox="1"/>
          <p:nvPr/>
        </p:nvSpPr>
        <p:spPr>
          <a:xfrm>
            <a:off x="9454896" y="1645920"/>
            <a:ext cx="4206240" cy="585216"/>
          </a:xfrm>
          <a:prstGeom prst="rect">
            <a:avLst/>
          </a:prstGeom>
          <a:noFill/>
          <a:ln/>
        </p:spPr>
        <p:txBody>
          <a:bodyPr wrap="square" lIns="0" tIns="0" rIns="0" bIns="0" rtlCol="0" anchor="ctr"/>
          <a:lstStyle/>
          <a:p>
            <a:pPr indent="0" marL="0">
              <a:buNone/>
            </a:pPr>
            <a:r>
              <a:rPr lang="en-US" sz="2000" b="1" dirty="0">
                <a:solidFill>
                  <a:schemeClr val="bg1"/>
                </a:solidFill>
                <a:latin typeface="+mj-lt" pitchFamily="34" charset="0"/>
                <a:ea typeface="+mj-lt" pitchFamily="34" charset="-122"/>
                <a:cs typeface="+mj-lt" pitchFamily="34" charset="-120"/>
              </a:rPr>
              <a:t>Requirements</a:t>
            </a:r>
            <a:endParaRPr lang="en-US" sz="2000" dirty="0"/>
          </a:p>
        </p:txBody>
      </p:sp>
      <p:sp>
        <p:nvSpPr>
          <p:cNvPr id="37" name="requirements list"/>
          <p:cNvSpPr txBox="1"/>
          <p:nvPr/>
        </p:nvSpPr>
        <p:spPr>
          <a:xfrm>
            <a:off x="8686800" y="2468880"/>
            <a:ext cx="2681935" cy="3291840"/>
          </a:xfrm>
          <a:prstGeom prst="rect">
            <a:avLst/>
          </a:prstGeom>
          <a:noFill/>
          <a:ln/>
        </p:spPr>
        <p:txBody>
          <a:bodyPr wrap="square" lIns="0" tIns="0" rIns="0" bIns="0" rtlCol="0" anchor="t"/>
          <a:lstStyle/>
          <a:p>
            <a:pPr indent="0" marL="0">
              <a:spcAft>
                <a:spcPts val="600"/>
              </a:spcAft>
              <a:buNone/>
            </a:pPr>
            <a:r>
              <a:rPr lang="en-US" sz="1200" b="1" dirty="0">
                <a:solidFill>
                  <a:srgbClr val="A9D8D9"/>
                </a:solidFill>
              </a:rPr>
              <a:t>Language</a:t>
            </a:r>
            <a:endParaRPr lang="en-US" sz="1400" dirty="0"/>
          </a:p>
          <a:p>
            <a:pPr indent="0" marL="0">
              <a:spcAft>
                <a:spcPts val="600"/>
              </a:spcAft>
              <a:buNone/>
            </a:pPr>
            <a:r>
              <a:rPr lang="en-US" sz="1400" dirty="0">
                <a:solidFill>
                  <a:schemeClr val="bg1"/>
                </a:solidFill>
              </a:rPr>
              <a:t>Python 3.11</a:t>
            </a:r>
            <a:endParaRPr lang="en-US" sz="1400" dirty="0"/>
          </a:p>
          <a:p>
            <a:pPr indent="0" marL="0">
              <a:spcAft>
                <a:spcPts val="600"/>
              </a:spcAft>
              <a:buNone/>
            </a:pPr>
            <a:r>
              <a:rPr lang="en-US" sz="1200" b="1" dirty="0">
                <a:solidFill>
                  <a:srgbClr val="A9D8D9"/>
                </a:solidFill>
              </a:rPr>
              <a:t>RAM</a:t>
            </a:r>
            <a:endParaRPr lang="en-US" sz="1400" dirty="0"/>
          </a:p>
          <a:p>
            <a:pPr indent="0" marL="0">
              <a:spcAft>
                <a:spcPts val="600"/>
              </a:spcAft>
              <a:buNone/>
            </a:pPr>
            <a:r>
              <a:rPr lang="en-US" sz="1400" dirty="0">
                <a:solidFill>
                  <a:schemeClr val="bg1"/>
                </a:solidFill>
              </a:rPr>
              <a:t>8 GB minimum, 16 GB recommended</a:t>
            </a:r>
            <a:endParaRPr lang="en-US" sz="1400" dirty="0"/>
          </a:p>
          <a:p>
            <a:pPr indent="0" marL="0">
              <a:spcAft>
                <a:spcPts val="600"/>
              </a:spcAft>
              <a:buNone/>
            </a:pPr>
            <a:r>
              <a:rPr lang="en-US" sz="1200" b="1" dirty="0">
                <a:solidFill>
                  <a:srgbClr val="A9D8D9"/>
                </a:solidFill>
              </a:rPr>
              <a:t>GPU</a:t>
            </a:r>
            <a:endParaRPr lang="en-US" sz="1400" dirty="0"/>
          </a:p>
          <a:p>
            <a:pPr indent="0" marL="0">
              <a:spcAft>
                <a:spcPts val="600"/>
              </a:spcAft>
              <a:buNone/>
            </a:pPr>
            <a:r>
              <a:rPr lang="en-US" sz="1400" dirty="0">
                <a:solidFill>
                  <a:schemeClr val="bg1"/>
                </a:solidFill>
              </a:rPr>
              <a:t>Optional, for a local LLM</a:t>
            </a:r>
            <a:endParaRPr lang="en-US" sz="1400" dirty="0"/>
          </a:p>
          <a:p>
            <a:pPr indent="0" marL="0">
              <a:spcAft>
                <a:spcPts val="600"/>
              </a:spcAft>
              <a:buNone/>
            </a:pPr>
            <a:r>
              <a:rPr lang="en-US" sz="1200" b="1" dirty="0">
                <a:solidFill>
                  <a:srgbClr val="A9D8D9"/>
                </a:solidFill>
              </a:rPr>
              <a:t>OS</a:t>
            </a:r>
            <a:endParaRPr lang="en-US" sz="1400" dirty="0"/>
          </a:p>
          <a:p>
            <a:pPr indent="0" marL="0">
              <a:spcAft>
                <a:spcPts val="600"/>
              </a:spcAft>
              <a:buNone/>
            </a:pPr>
            <a:r>
              <a:rPr lang="en-US" sz="1400" dirty="0">
                <a:solidFill>
                  <a:schemeClr val="bg1"/>
                </a:solidFill>
              </a:rPr>
              <a:t>Windows 10 or 11, Ubuntu 22.04, macOS 13</a:t>
            </a:r>
            <a:endParaRPr lang="en-US" sz="1400" dirty="0"/>
          </a:p>
          <a:p>
            <a:pPr indent="0" marL="0">
              <a:spcAft>
                <a:spcPts val="600"/>
              </a:spcAft>
              <a:buNone/>
            </a:pPr>
            <a:r>
              <a:rPr lang="en-US" sz="1200" b="1" dirty="0">
                <a:solidFill>
                  <a:srgbClr val="A9D8D9"/>
                </a:solidFill>
              </a:rPr>
              <a:t>Storage</a:t>
            </a:r>
            <a:endParaRPr lang="en-US" sz="1400" dirty="0"/>
          </a:p>
          <a:p>
            <a:pPr indent="0" marL="0">
              <a:spcAft>
                <a:spcPts val="600"/>
              </a:spcAft>
              <a:buNone/>
            </a:pPr>
            <a:r>
              <a:rPr lang="en-US" sz="1400" dirty="0">
                <a:solidFill>
                  <a:schemeClr val="bg1"/>
                </a:solidFill>
              </a:rPr>
              <a:t>20 to 50 GB free SSD</a:t>
            </a:r>
            <a:endParaRPr lang="en-US" sz="1400" dirty="0"/>
          </a:p>
        </p:txBody>
      </p:sp>
      <p:sp>
        <p:nvSpPr>
          <p:cNvPr id="38" name="Slide Number Placeholder 0"/>
          <p:cNvSpPr>
            <a:spLocks noGrp="1"/>
          </p:cNvSpPr>
          <p:nvPr>
            <p:ph type="sldNum" sz="quarter" idx="4294967295"/>
          </p:nvPr>
        </p:nvSpPr>
        <p:spPr>
          <a:xfrm>
            <a:off x="11201400" y="6382512"/>
            <a:ext cx="438912" cy="27432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E6E73"/>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94415" cy="777240"/>
          </a:xfrm>
          <a:prstGeom prst="rect">
            <a:avLst/>
          </a:prstGeom>
          <a:noFill/>
          <a:ln/>
        </p:spPr>
        <p:txBody>
          <a:bodyPr wrap="square" lIns="0" tIns="0" rIns="0" bIns="0" rtlCol="0" anchor="ctr"/>
          <a:lstStyle/>
          <a:p>
            <a:pPr algn="l" indent="0" marL="0">
              <a:buNone/>
            </a:pPr>
            <a:r>
              <a:rPr lang="en-US" sz="3400" b="1" dirty="0">
                <a:solidFill>
                  <a:schemeClr val="tx2"/>
                </a:solidFill>
                <a:latin typeface="+mj-lt" pitchFamily="34" charset="0"/>
                <a:ea typeface="+mj-lt" pitchFamily="34" charset="-122"/>
                <a:cs typeface="+mj-lt" pitchFamily="34" charset="-120"/>
              </a:rPr>
              <a:t>Testing &amp; Evaluation Plan</a:t>
            </a:r>
            <a:endParaRPr lang="en-US" sz="3400" dirty="0"/>
          </a:p>
        </p:txBody>
      </p:sp>
      <p:sp>
        <p:nvSpPr>
          <p:cNvPr id="3" name="evaluation step 1"/>
          <p:cNvSpPr/>
          <p:nvPr/>
        </p:nvSpPr>
        <p:spPr>
          <a:xfrm>
            <a:off x="548640" y="1371600"/>
            <a:ext cx="2917622" cy="822960"/>
          </a:xfrm>
          <a:prstGeom prst="chevron">
            <a:avLst/>
          </a:prstGeom>
          <a:solidFill>
            <a:schemeClr val="accent1">
              <a:alpha val="70000"/>
            </a:schemeClr>
          </a:solidFill>
          <a:ln/>
        </p:spPr>
      </p:sp>
      <p:sp>
        <p:nvSpPr>
          <p:cNvPr id="4" name="evaluation step text 1"/>
          <p:cNvSpPr txBox="1"/>
          <p:nvPr/>
        </p:nvSpPr>
        <p:spPr>
          <a:xfrm>
            <a:off x="1051560" y="1371600"/>
            <a:ext cx="2140382" cy="822960"/>
          </a:xfrm>
          <a:prstGeom prst="rect">
            <a:avLst/>
          </a:prstGeom>
          <a:noFill/>
          <a:ln/>
        </p:spPr>
        <p:txBody>
          <a:bodyPr wrap="square" lIns="0" tIns="0" rIns="0" bIns="0" rtlCol="0" anchor="ctr"/>
          <a:lstStyle/>
          <a:p>
            <a:pPr indent="0" marL="0">
              <a:buNone/>
            </a:pPr>
            <a:r>
              <a:rPr lang="en-US" sz="1600" b="1" dirty="0">
                <a:solidFill>
                  <a:schemeClr val="bg1"/>
                </a:solidFill>
              </a:rPr>
              <a:t>1   ML only</a:t>
            </a:r>
            <a:endParaRPr lang="en-US" sz="1600" dirty="0"/>
          </a:p>
        </p:txBody>
      </p:sp>
      <p:sp>
        <p:nvSpPr>
          <p:cNvPr id="5" name="evaluation step 2"/>
          <p:cNvSpPr/>
          <p:nvPr/>
        </p:nvSpPr>
        <p:spPr>
          <a:xfrm>
            <a:off x="3274238" y="1371600"/>
            <a:ext cx="2917622" cy="822960"/>
          </a:xfrm>
          <a:prstGeom prst="chevron">
            <a:avLst/>
          </a:prstGeom>
          <a:solidFill>
            <a:schemeClr val="accent1">
              <a:alpha val="85000"/>
            </a:schemeClr>
          </a:solidFill>
          <a:ln/>
        </p:spPr>
      </p:sp>
      <p:sp>
        <p:nvSpPr>
          <p:cNvPr id="6" name="evaluation step text 2"/>
          <p:cNvSpPr txBox="1"/>
          <p:nvPr/>
        </p:nvSpPr>
        <p:spPr>
          <a:xfrm>
            <a:off x="3777158" y="1371600"/>
            <a:ext cx="2140382" cy="822960"/>
          </a:xfrm>
          <a:prstGeom prst="rect">
            <a:avLst/>
          </a:prstGeom>
          <a:noFill/>
          <a:ln/>
        </p:spPr>
        <p:txBody>
          <a:bodyPr wrap="square" lIns="0" tIns="0" rIns="0" bIns="0" rtlCol="0" anchor="ctr"/>
          <a:lstStyle/>
          <a:p>
            <a:pPr indent="0" marL="0">
              <a:buNone/>
            </a:pPr>
            <a:r>
              <a:rPr lang="en-US" sz="1600" b="1" dirty="0">
                <a:solidFill>
                  <a:schemeClr val="bg1"/>
                </a:solidFill>
              </a:rPr>
              <a:t>2   + Rules</a:t>
            </a:r>
            <a:endParaRPr lang="en-US" sz="1600" dirty="0"/>
          </a:p>
        </p:txBody>
      </p:sp>
      <p:sp>
        <p:nvSpPr>
          <p:cNvPr id="7" name="evaluation step 3"/>
          <p:cNvSpPr/>
          <p:nvPr/>
        </p:nvSpPr>
        <p:spPr>
          <a:xfrm>
            <a:off x="5999836" y="1371600"/>
            <a:ext cx="2917622" cy="822960"/>
          </a:xfrm>
          <a:prstGeom prst="chevron">
            <a:avLst/>
          </a:prstGeom>
          <a:solidFill>
            <a:schemeClr val="accent1"/>
          </a:solidFill>
          <a:ln/>
        </p:spPr>
      </p:sp>
      <p:sp>
        <p:nvSpPr>
          <p:cNvPr id="8" name="evaluation step text 3"/>
          <p:cNvSpPr txBox="1"/>
          <p:nvPr/>
        </p:nvSpPr>
        <p:spPr>
          <a:xfrm>
            <a:off x="6502756" y="1371600"/>
            <a:ext cx="2140382" cy="822960"/>
          </a:xfrm>
          <a:prstGeom prst="rect">
            <a:avLst/>
          </a:prstGeom>
          <a:noFill/>
          <a:ln/>
        </p:spPr>
        <p:txBody>
          <a:bodyPr wrap="square" lIns="0" tIns="0" rIns="0" bIns="0" rtlCol="0" anchor="ctr"/>
          <a:lstStyle/>
          <a:p>
            <a:pPr indent="0" marL="0">
              <a:buNone/>
            </a:pPr>
            <a:r>
              <a:rPr lang="en-US" sz="1600" b="1" dirty="0">
                <a:solidFill>
                  <a:schemeClr val="bg1"/>
                </a:solidFill>
              </a:rPr>
              <a:t>3   + Retrieval</a:t>
            </a:r>
            <a:endParaRPr lang="en-US" sz="1600" dirty="0"/>
          </a:p>
        </p:txBody>
      </p:sp>
      <p:sp>
        <p:nvSpPr>
          <p:cNvPr id="9" name="evaluation step 4"/>
          <p:cNvSpPr/>
          <p:nvPr/>
        </p:nvSpPr>
        <p:spPr>
          <a:xfrm>
            <a:off x="8725433" y="1371600"/>
            <a:ext cx="2917622" cy="822960"/>
          </a:xfrm>
          <a:prstGeom prst="chevron">
            <a:avLst/>
          </a:prstGeom>
          <a:solidFill>
            <a:schemeClr val="tx2"/>
          </a:solidFill>
          <a:ln/>
        </p:spPr>
      </p:sp>
      <p:sp>
        <p:nvSpPr>
          <p:cNvPr id="10" name="evaluation step text 4"/>
          <p:cNvSpPr txBox="1"/>
          <p:nvPr/>
        </p:nvSpPr>
        <p:spPr>
          <a:xfrm>
            <a:off x="9228353" y="1371600"/>
            <a:ext cx="2140382" cy="822960"/>
          </a:xfrm>
          <a:prstGeom prst="rect">
            <a:avLst/>
          </a:prstGeom>
          <a:noFill/>
          <a:ln/>
        </p:spPr>
        <p:txBody>
          <a:bodyPr wrap="square" lIns="0" tIns="0" rIns="0" bIns="0" rtlCol="0" anchor="ctr"/>
          <a:lstStyle/>
          <a:p>
            <a:pPr indent="0" marL="0">
              <a:buNone/>
            </a:pPr>
            <a:r>
              <a:rPr lang="en-US" sz="1600" b="1" dirty="0">
                <a:solidFill>
                  <a:schemeClr val="bg1"/>
                </a:solidFill>
              </a:rPr>
              <a:t>4   Full fusion pipeline</a:t>
            </a:r>
            <a:endParaRPr lang="en-US" sz="1600" dirty="0"/>
          </a:p>
        </p:txBody>
      </p:sp>
      <p:sp>
        <p:nvSpPr>
          <p:cNvPr id="11" name="evaluation explanation"/>
          <p:cNvSpPr txBox="1"/>
          <p:nvPr/>
        </p:nvSpPr>
        <p:spPr>
          <a:xfrm>
            <a:off x="548640" y="2331720"/>
            <a:ext cx="11094415" cy="292608"/>
          </a:xfrm>
          <a:prstGeom prst="rect">
            <a:avLst/>
          </a:prstGeom>
          <a:noFill/>
          <a:ln/>
        </p:spPr>
        <p:txBody>
          <a:bodyPr wrap="square" lIns="0" tIns="0" rIns="0" bIns="0" rtlCol="0" anchor="ctr"/>
          <a:lstStyle/>
          <a:p>
            <a:pPr indent="0" marL="0">
              <a:buNone/>
            </a:pPr>
            <a:r>
              <a:rPr lang="en-US" sz="1400" dirty="0">
                <a:solidFill>
                  <a:schemeClr val="tx2"/>
                </a:solidFill>
              </a:rPr>
              <a:t>Every condition uses the same data split; an ablation study then removes one component at a time.</a:t>
            </a:r>
            <a:endParaRPr lang="en-US" sz="1400" dirty="0"/>
          </a:p>
        </p:txBody>
      </p:sp>
      <p:sp>
        <p:nvSpPr>
          <p:cNvPr id="12" name="metrics card"/>
          <p:cNvSpPr/>
          <p:nvPr/>
        </p:nvSpPr>
        <p:spPr>
          <a:xfrm>
            <a:off x="548640" y="2788920"/>
            <a:ext cx="11094415" cy="777240"/>
          </a:xfrm>
          <a:prstGeom prst="roundRect">
            <a:avLst>
              <a:gd name="adj" fmla="val 14118"/>
            </a:avLst>
          </a:prstGeom>
          <a:solidFill>
            <a:schemeClr val="bg2"/>
          </a:solidFill>
          <a:ln/>
        </p:spPr>
      </p:sp>
      <p:sp>
        <p:nvSpPr>
          <p:cNvPr id="13" name="metrics list"/>
          <p:cNvSpPr txBox="1"/>
          <p:nvPr/>
        </p:nvSpPr>
        <p:spPr>
          <a:xfrm>
            <a:off x="822960" y="2788920"/>
            <a:ext cx="10545775" cy="777240"/>
          </a:xfrm>
          <a:prstGeom prst="rect">
            <a:avLst/>
          </a:prstGeom>
          <a:noFill/>
          <a:ln/>
        </p:spPr>
        <p:txBody>
          <a:bodyPr wrap="square" lIns="0" tIns="0" rIns="0" bIns="0" rtlCol="0" anchor="ctr"/>
          <a:lstStyle/>
          <a:p>
            <a:pPr indent="0" marL="0">
              <a:spcAft>
                <a:spcPts val="200"/>
              </a:spcAft>
              <a:buNone/>
            </a:pPr>
            <a:r>
              <a:rPr lang="en-US" sz="1400" b="1" dirty="0">
                <a:solidFill>
                  <a:schemeClr val="tx2"/>
                </a:solidFill>
              </a:rPr>
              <a:t>Metrics:  </a:t>
            </a:r>
            <a:pPr indent="0" marL="0">
              <a:spcAft>
                <a:spcPts val="200"/>
              </a:spcAft>
              <a:buNone/>
            </a:pPr>
            <a:r>
              <a:rPr lang="en-US" sz="1400" dirty="0">
                <a:solidFill>
                  <a:schemeClr val="tx1"/>
                </a:solidFill>
              </a:rPr>
              <a:t>accuracy · precision · recall · F1 · ROC-AUC · calibration error</a:t>
            </a:r>
            <a:endParaRPr lang="en-US" sz="1400" dirty="0"/>
          </a:p>
          <a:p>
            <a:pPr indent="0" marL="0">
              <a:spcAft>
                <a:spcPts val="200"/>
              </a:spcAft>
              <a:buNone/>
            </a:pPr>
            <a:r>
              <a:rPr lang="en-US" sz="1400" b="1" dirty="0">
                <a:solidFill>
                  <a:schemeClr val="tx2"/>
                </a:solidFill>
              </a:rPr>
              <a:t>Also:  </a:t>
            </a:r>
            <a:pPr indent="0" marL="0">
              <a:spcAft>
                <a:spcPts val="200"/>
              </a:spcAft>
              <a:buNone/>
            </a:pPr>
            <a:r>
              <a:rPr lang="en-US" sz="1400" dirty="0">
                <a:solidFill>
                  <a:schemeClr val="tx1"/>
                </a:solidFill>
              </a:rPr>
              <a:t>evidence precision at 5 · disagreement rate · latency · cost per case</a:t>
            </a:r>
            <a:endParaRPr lang="en-US" sz="1400" dirty="0"/>
          </a:p>
        </p:txBody>
      </p:sp>
      <p:sp>
        <p:nvSpPr>
          <p:cNvPr id="14" name="targets label"/>
          <p:cNvSpPr txBox="1"/>
          <p:nvPr/>
        </p:nvSpPr>
        <p:spPr>
          <a:xfrm>
            <a:off x="548640" y="3703320"/>
            <a:ext cx="11094415" cy="256032"/>
          </a:xfrm>
          <a:prstGeom prst="rect">
            <a:avLst/>
          </a:prstGeom>
          <a:noFill/>
          <a:ln/>
        </p:spPr>
        <p:txBody>
          <a:bodyPr wrap="square" lIns="0" tIns="0" rIns="0" bIns="0" rtlCol="0" anchor="ctr"/>
          <a:lstStyle/>
          <a:p>
            <a:pPr algn="l" indent="0" marL="0">
              <a:buNone/>
            </a:pPr>
            <a:r>
              <a:rPr lang="en-US" sz="1200" i="1" dirty="0">
                <a:solidFill>
                  <a:srgbClr val="5E6E73"/>
                </a:solidFill>
              </a:rPr>
              <a:t>Stage II design targets, set in Stage I and not yet measured</a:t>
            </a:r>
            <a:endParaRPr lang="en-US" sz="1200" dirty="0"/>
          </a:p>
        </p:txBody>
      </p:sp>
      <p:sp>
        <p:nvSpPr>
          <p:cNvPr id="15" name="target card 1"/>
          <p:cNvSpPr/>
          <p:nvPr/>
        </p:nvSpPr>
        <p:spPr>
          <a:xfrm>
            <a:off x="548640" y="4069080"/>
            <a:ext cx="2567864" cy="1965960"/>
          </a:xfrm>
          <a:prstGeom prst="roundRect">
            <a:avLst>
              <a:gd name="adj" fmla="val 5581"/>
            </a:avLst>
          </a:prstGeom>
          <a:solidFill>
            <a:schemeClr val="bg1"/>
          </a:solidFill>
          <a:ln w="9525">
            <a:solidFill>
              <a:srgbClr val="D5E3E4"/>
            </a:solidFill>
            <a:prstDash val="solid"/>
          </a:ln>
          <a:effectLst>
            <a:outerShdw sx="100000" sy="100000" kx="0" ky="0" algn="bl" rotWithShape="0" blurRad="76200" dist="25400" dir="5400000">
              <a:srgbClr val="000000">
                <a:alpha val="12000"/>
              </a:srgbClr>
            </a:outerShdw>
          </a:effectLst>
        </p:spPr>
      </p:sp>
      <p:sp>
        <p:nvSpPr>
          <p:cNvPr id="16" name="target value 1"/>
          <p:cNvSpPr txBox="1"/>
          <p:nvPr/>
        </p:nvSpPr>
        <p:spPr>
          <a:xfrm>
            <a:off x="731520" y="4251960"/>
            <a:ext cx="2202104" cy="822960"/>
          </a:xfrm>
          <a:prstGeom prst="rect">
            <a:avLst/>
          </a:prstGeom>
          <a:noFill/>
          <a:ln/>
        </p:spPr>
        <p:txBody>
          <a:bodyPr wrap="square" lIns="0" tIns="0" rIns="0" bIns="0" rtlCol="0" anchor="ctr"/>
          <a:lstStyle/>
          <a:p>
            <a:pPr algn="ctr" indent="0" marL="0">
              <a:buNone/>
            </a:pPr>
            <a:r>
              <a:rPr lang="en-US" sz="4000" b="1" dirty="0">
                <a:solidFill>
                  <a:schemeClr val="tx2"/>
                </a:solidFill>
                <a:latin typeface="+mj-lt" pitchFamily="34" charset="0"/>
                <a:ea typeface="+mj-lt" pitchFamily="34" charset="-122"/>
                <a:cs typeface="+mj-lt" pitchFamily="34" charset="-120"/>
              </a:rPr>
              <a:t>≤ 30 s</a:t>
            </a:r>
            <a:endParaRPr lang="en-US" sz="4000" dirty="0"/>
          </a:p>
        </p:txBody>
      </p:sp>
      <p:sp>
        <p:nvSpPr>
          <p:cNvPr id="17" name="target label 1"/>
          <p:cNvSpPr txBox="1"/>
          <p:nvPr/>
        </p:nvSpPr>
        <p:spPr>
          <a:xfrm>
            <a:off x="777240" y="5166360"/>
            <a:ext cx="2110664" cy="685800"/>
          </a:xfrm>
          <a:prstGeom prst="rect">
            <a:avLst/>
          </a:prstGeom>
          <a:noFill/>
          <a:ln/>
        </p:spPr>
        <p:txBody>
          <a:bodyPr wrap="square" lIns="0" tIns="0" rIns="0" bIns="0" rtlCol="0" anchor="t"/>
          <a:lstStyle/>
          <a:p>
            <a:pPr algn="ctr" indent="0" marL="0">
              <a:buNone/>
            </a:pPr>
            <a:r>
              <a:rPr lang="en-US" sz="1400" dirty="0">
                <a:solidFill>
                  <a:schemeClr val="tx1"/>
                </a:solidFill>
              </a:rPr>
              <a:t>one case, end to end (NFR4)</a:t>
            </a:r>
            <a:endParaRPr lang="en-US" sz="1400" dirty="0"/>
          </a:p>
        </p:txBody>
      </p:sp>
      <p:sp>
        <p:nvSpPr>
          <p:cNvPr id="18" name="target card 2"/>
          <p:cNvSpPr/>
          <p:nvPr/>
        </p:nvSpPr>
        <p:spPr>
          <a:xfrm>
            <a:off x="3390824" y="4069080"/>
            <a:ext cx="2567864" cy="1965960"/>
          </a:xfrm>
          <a:prstGeom prst="roundRect">
            <a:avLst>
              <a:gd name="adj" fmla="val 5581"/>
            </a:avLst>
          </a:prstGeom>
          <a:solidFill>
            <a:schemeClr val="bg1"/>
          </a:solidFill>
          <a:ln w="9525">
            <a:solidFill>
              <a:srgbClr val="D5E3E4"/>
            </a:solidFill>
            <a:prstDash val="solid"/>
          </a:ln>
          <a:effectLst>
            <a:outerShdw sx="100000" sy="100000" kx="0" ky="0" algn="bl" rotWithShape="0" blurRad="76200" dist="25400" dir="5400000">
              <a:srgbClr val="000000">
                <a:alpha val="12000"/>
              </a:srgbClr>
            </a:outerShdw>
          </a:effectLst>
        </p:spPr>
      </p:sp>
      <p:sp>
        <p:nvSpPr>
          <p:cNvPr id="19" name="target value 2"/>
          <p:cNvSpPr txBox="1"/>
          <p:nvPr/>
        </p:nvSpPr>
        <p:spPr>
          <a:xfrm>
            <a:off x="3573704" y="4251960"/>
            <a:ext cx="2202104" cy="822960"/>
          </a:xfrm>
          <a:prstGeom prst="rect">
            <a:avLst/>
          </a:prstGeom>
          <a:noFill/>
          <a:ln/>
        </p:spPr>
        <p:txBody>
          <a:bodyPr wrap="square" lIns="0" tIns="0" rIns="0" bIns="0" rtlCol="0" anchor="ctr"/>
          <a:lstStyle/>
          <a:p>
            <a:pPr algn="ctr" indent="0" marL="0">
              <a:buNone/>
            </a:pPr>
            <a:r>
              <a:rPr lang="en-US" sz="4000" b="1" dirty="0">
                <a:solidFill>
                  <a:schemeClr val="tx2"/>
                </a:solidFill>
                <a:latin typeface="+mj-lt" pitchFamily="34" charset="0"/>
                <a:ea typeface="+mj-lt" pitchFamily="34" charset="-122"/>
                <a:cs typeface="+mj-lt" pitchFamily="34" charset="-120"/>
              </a:rPr>
              <a:t>&lt; 1 s</a:t>
            </a:r>
            <a:endParaRPr lang="en-US" sz="4000" dirty="0"/>
          </a:p>
        </p:txBody>
      </p:sp>
      <p:sp>
        <p:nvSpPr>
          <p:cNvPr id="20" name="target label 2"/>
          <p:cNvSpPr txBox="1"/>
          <p:nvPr/>
        </p:nvSpPr>
        <p:spPr>
          <a:xfrm>
            <a:off x="3619424" y="5166360"/>
            <a:ext cx="2110664" cy="685800"/>
          </a:xfrm>
          <a:prstGeom prst="rect">
            <a:avLst/>
          </a:prstGeom>
          <a:noFill/>
          <a:ln/>
        </p:spPr>
        <p:txBody>
          <a:bodyPr wrap="square" lIns="0" tIns="0" rIns="0" bIns="0" rtlCol="0" anchor="t"/>
          <a:lstStyle/>
          <a:p>
            <a:pPr algn="ctr" indent="0" marL="0">
              <a:buNone/>
            </a:pPr>
            <a:r>
              <a:rPr lang="en-US" sz="1400" dirty="0">
                <a:solidFill>
                  <a:schemeClr val="tx1"/>
                </a:solidFill>
              </a:rPr>
              <a:t>each of the ML and rule stages</a:t>
            </a:r>
            <a:endParaRPr lang="en-US" sz="1400" dirty="0"/>
          </a:p>
        </p:txBody>
      </p:sp>
      <p:sp>
        <p:nvSpPr>
          <p:cNvPr id="21" name="target card 3"/>
          <p:cNvSpPr/>
          <p:nvPr/>
        </p:nvSpPr>
        <p:spPr>
          <a:xfrm>
            <a:off x="6233008" y="4069080"/>
            <a:ext cx="2567864" cy="1965960"/>
          </a:xfrm>
          <a:prstGeom prst="roundRect">
            <a:avLst>
              <a:gd name="adj" fmla="val 5581"/>
            </a:avLst>
          </a:prstGeom>
          <a:solidFill>
            <a:schemeClr val="bg1"/>
          </a:solidFill>
          <a:ln w="9525">
            <a:solidFill>
              <a:srgbClr val="D5E3E4"/>
            </a:solidFill>
            <a:prstDash val="solid"/>
          </a:ln>
          <a:effectLst>
            <a:outerShdw sx="100000" sy="100000" kx="0" ky="0" algn="bl" rotWithShape="0" blurRad="76200" dist="25400" dir="5400000">
              <a:srgbClr val="000000">
                <a:alpha val="12000"/>
              </a:srgbClr>
            </a:outerShdw>
          </a:effectLst>
        </p:spPr>
      </p:sp>
      <p:sp>
        <p:nvSpPr>
          <p:cNvPr id="22" name="target value 3"/>
          <p:cNvSpPr txBox="1"/>
          <p:nvPr/>
        </p:nvSpPr>
        <p:spPr>
          <a:xfrm>
            <a:off x="6415888" y="4251960"/>
            <a:ext cx="2202104" cy="822960"/>
          </a:xfrm>
          <a:prstGeom prst="rect">
            <a:avLst/>
          </a:prstGeom>
          <a:noFill/>
          <a:ln/>
        </p:spPr>
        <p:txBody>
          <a:bodyPr wrap="square" lIns="0" tIns="0" rIns="0" bIns="0" rtlCol="0" anchor="ctr"/>
          <a:lstStyle/>
          <a:p>
            <a:pPr algn="ctr" indent="0" marL="0">
              <a:buNone/>
            </a:pPr>
            <a:r>
              <a:rPr lang="en-US" sz="4000" b="1" dirty="0">
                <a:solidFill>
                  <a:schemeClr val="tx2"/>
                </a:solidFill>
                <a:latin typeface="+mj-lt" pitchFamily="34" charset="0"/>
                <a:ea typeface="+mj-lt" pitchFamily="34" charset="-122"/>
                <a:cs typeface="+mj-lt" pitchFamily="34" charset="-120"/>
              </a:rPr>
              <a:t>100%</a:t>
            </a:r>
            <a:endParaRPr lang="en-US" sz="4000" dirty="0"/>
          </a:p>
        </p:txBody>
      </p:sp>
      <p:sp>
        <p:nvSpPr>
          <p:cNvPr id="23" name="target label 3"/>
          <p:cNvSpPr txBox="1"/>
          <p:nvPr/>
        </p:nvSpPr>
        <p:spPr>
          <a:xfrm>
            <a:off x="6461608" y="5166360"/>
            <a:ext cx="2110664" cy="685800"/>
          </a:xfrm>
          <a:prstGeom prst="rect">
            <a:avLst/>
          </a:prstGeom>
          <a:noFill/>
          <a:ln/>
        </p:spPr>
        <p:txBody>
          <a:bodyPr wrap="square" lIns="0" tIns="0" rIns="0" bIns="0" rtlCol="0" anchor="t"/>
          <a:lstStyle/>
          <a:p>
            <a:pPr algn="ctr" indent="0" marL="0">
              <a:buNone/>
            </a:pPr>
            <a:r>
              <a:rPr lang="en-US" sz="1400" dirty="0">
                <a:solidFill>
                  <a:schemeClr val="tx1"/>
                </a:solidFill>
              </a:rPr>
              <a:t>reports with every mandatory field</a:t>
            </a:r>
            <a:endParaRPr lang="en-US" sz="1400" dirty="0"/>
          </a:p>
        </p:txBody>
      </p:sp>
      <p:sp>
        <p:nvSpPr>
          <p:cNvPr id="24" name="target card 4"/>
          <p:cNvSpPr/>
          <p:nvPr/>
        </p:nvSpPr>
        <p:spPr>
          <a:xfrm>
            <a:off x="9075191" y="4069080"/>
            <a:ext cx="2567864" cy="1965960"/>
          </a:xfrm>
          <a:prstGeom prst="roundRect">
            <a:avLst>
              <a:gd name="adj" fmla="val 5581"/>
            </a:avLst>
          </a:prstGeom>
          <a:solidFill>
            <a:schemeClr val="bg1"/>
          </a:solidFill>
          <a:ln w="9525">
            <a:solidFill>
              <a:srgbClr val="D5E3E4"/>
            </a:solidFill>
            <a:prstDash val="solid"/>
          </a:ln>
          <a:effectLst>
            <a:outerShdw sx="100000" sy="100000" kx="0" ky="0" algn="bl" rotWithShape="0" blurRad="76200" dist="25400" dir="5400000">
              <a:srgbClr val="000000">
                <a:alpha val="12000"/>
              </a:srgbClr>
            </a:outerShdw>
          </a:effectLst>
        </p:spPr>
      </p:sp>
      <p:sp>
        <p:nvSpPr>
          <p:cNvPr id="25" name="target value 4"/>
          <p:cNvSpPr txBox="1"/>
          <p:nvPr/>
        </p:nvSpPr>
        <p:spPr>
          <a:xfrm>
            <a:off x="9258071" y="4251960"/>
            <a:ext cx="2202104" cy="822960"/>
          </a:xfrm>
          <a:prstGeom prst="rect">
            <a:avLst/>
          </a:prstGeom>
          <a:noFill/>
          <a:ln/>
        </p:spPr>
        <p:txBody>
          <a:bodyPr wrap="square" lIns="0" tIns="0" rIns="0" bIns="0" rtlCol="0" anchor="ctr"/>
          <a:lstStyle/>
          <a:p>
            <a:pPr algn="ctr" indent="0" marL="0">
              <a:buNone/>
            </a:pPr>
            <a:r>
              <a:rPr lang="en-US" sz="4000" b="1" dirty="0">
                <a:solidFill>
                  <a:schemeClr val="tx2"/>
                </a:solidFill>
                <a:latin typeface="+mj-lt" pitchFamily="34" charset="0"/>
                <a:ea typeface="+mj-lt" pitchFamily="34" charset="-122"/>
                <a:cs typeface="+mj-lt" pitchFamily="34" charset="-120"/>
              </a:rPr>
              <a:t>12</a:t>
            </a:r>
            <a:endParaRPr lang="en-US" sz="4000" dirty="0"/>
          </a:p>
        </p:txBody>
      </p:sp>
      <p:sp>
        <p:nvSpPr>
          <p:cNvPr id="26" name="target label 4"/>
          <p:cNvSpPr txBox="1"/>
          <p:nvPr/>
        </p:nvSpPr>
        <p:spPr>
          <a:xfrm>
            <a:off x="9303791" y="5166360"/>
            <a:ext cx="2110664" cy="685800"/>
          </a:xfrm>
          <a:prstGeom prst="rect">
            <a:avLst/>
          </a:prstGeom>
          <a:noFill/>
          <a:ln/>
        </p:spPr>
        <p:txBody>
          <a:bodyPr wrap="square" lIns="0" tIns="0" rIns="0" bIns="0" rtlCol="0" anchor="t"/>
          <a:lstStyle/>
          <a:p>
            <a:pPr algn="ctr" indent="0" marL="0">
              <a:buNone/>
            </a:pPr>
            <a:r>
              <a:rPr lang="en-US" sz="1400" dirty="0">
                <a:solidFill>
                  <a:schemeClr val="tx1"/>
                </a:solidFill>
              </a:rPr>
              <a:t>planned test cases, TC-01 to TC-12</a:t>
            </a:r>
            <a:endParaRPr lang="en-US" sz="1400" dirty="0"/>
          </a:p>
        </p:txBody>
      </p:sp>
      <p:sp>
        <p:nvSpPr>
          <p:cNvPr id="27" name="Slide Number Placeholder 0"/>
          <p:cNvSpPr>
            <a:spLocks noGrp="1"/>
          </p:cNvSpPr>
          <p:nvPr>
            <p:ph type="sldNum" sz="quarter" idx="4294967295"/>
          </p:nvPr>
        </p:nvSpPr>
        <p:spPr>
          <a:xfrm>
            <a:off x="11201400" y="6382512"/>
            <a:ext cx="438912" cy="27432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E6E73"/>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94415" cy="777240"/>
          </a:xfrm>
          <a:prstGeom prst="rect">
            <a:avLst/>
          </a:prstGeom>
          <a:noFill/>
          <a:ln/>
        </p:spPr>
        <p:txBody>
          <a:bodyPr wrap="square" lIns="0" tIns="0" rIns="0" bIns="0" rtlCol="0" anchor="ctr"/>
          <a:lstStyle/>
          <a:p>
            <a:pPr algn="l" indent="0" marL="0">
              <a:buNone/>
            </a:pPr>
            <a:r>
              <a:rPr lang="en-US" sz="3400" b="1" dirty="0">
                <a:solidFill>
                  <a:schemeClr val="tx2"/>
                </a:solidFill>
                <a:latin typeface="+mj-lt" pitchFamily="34" charset="0"/>
                <a:ea typeface="+mj-lt" pitchFamily="34" charset="-122"/>
                <a:cs typeface="+mj-lt" pitchFamily="34" charset="-120"/>
              </a:rPr>
              <a:t>Conclusion &amp; Future Scope</a:t>
            </a:r>
            <a:endParaRPr lang="en-US" sz="3400" dirty="0"/>
          </a:p>
        </p:txBody>
      </p:sp>
      <p:sp>
        <p:nvSpPr>
          <p:cNvPr id="3" name="Stage I Outcomes card"/>
          <p:cNvSpPr/>
          <p:nvPr/>
        </p:nvSpPr>
        <p:spPr>
          <a:xfrm>
            <a:off x="548640" y="1371600"/>
            <a:ext cx="5410048" cy="3867912"/>
          </a:xfrm>
          <a:prstGeom prst="roundRect">
            <a:avLst>
              <a:gd name="adj" fmla="val 2837"/>
            </a:avLst>
          </a:prstGeom>
          <a:solidFill>
            <a:schemeClr val="bg2"/>
          </a:solidFill>
          <a:ln/>
        </p:spPr>
      </p:sp>
      <p:sp>
        <p:nvSpPr>
          <p:cNvPr id="4" name="Stage I Outcomes circle"/>
          <p:cNvSpPr/>
          <p:nvPr/>
        </p:nvSpPr>
        <p:spPr>
          <a:xfrm>
            <a:off x="822960" y="1645920"/>
            <a:ext cx="585216" cy="585216"/>
          </a:xfrm>
          <a:prstGeom prst="ellipse">
            <a:avLst/>
          </a:prstGeom>
          <a:solidFill>
            <a:schemeClr val="accent1"/>
          </a:solidFill>
          <a:ln/>
        </p:spPr>
      </p:sp>
      <p:pic>
        <p:nvPicPr>
          <p:cNvPr id="5" name="Stage I Outcomes icon" descr="preencoded.png">    </p:cNvPr>
          <p:cNvPicPr>
            <a:picLocks noChangeAspect="1"/>
          </p:cNvPicPr>
          <p:nvPr/>
        </p:nvPicPr>
        <p:blipFill>
          <a:blip r:embed="rId1"/>
          <a:stretch>
            <a:fillRect/>
          </a:stretch>
        </p:blipFill>
        <p:spPr>
          <a:xfrm>
            <a:off x="963412" y="1786372"/>
            <a:ext cx="304312" cy="304312"/>
          </a:xfrm>
          <a:prstGeom prst="rect">
            <a:avLst/>
          </a:prstGeom>
        </p:spPr>
      </p:pic>
      <p:sp>
        <p:nvSpPr>
          <p:cNvPr id="6" name="Stage I Outcomes heading"/>
          <p:cNvSpPr txBox="1"/>
          <p:nvPr/>
        </p:nvSpPr>
        <p:spPr>
          <a:xfrm>
            <a:off x="1591056" y="1645920"/>
            <a:ext cx="4206240" cy="585216"/>
          </a:xfrm>
          <a:prstGeom prst="rect">
            <a:avLst/>
          </a:prstGeom>
          <a:noFill/>
          <a:ln/>
        </p:spPr>
        <p:txBody>
          <a:bodyPr wrap="square" lIns="0" tIns="0" rIns="0" bIns="0" rtlCol="0" anchor="ctr"/>
          <a:lstStyle/>
          <a:p>
            <a:pPr indent="0" marL="0">
              <a:buNone/>
            </a:pPr>
            <a:r>
              <a:rPr lang="en-US" sz="2000" b="1" dirty="0">
                <a:solidFill>
                  <a:schemeClr val="tx2"/>
                </a:solidFill>
                <a:latin typeface="+mj-lt" pitchFamily="34" charset="0"/>
                <a:ea typeface="+mj-lt" pitchFamily="34" charset="-122"/>
                <a:cs typeface="+mj-lt" pitchFamily="34" charset="-120"/>
              </a:rPr>
              <a:t>Stage I Outcomes</a:t>
            </a:r>
            <a:endParaRPr lang="en-US" sz="2000" dirty="0"/>
          </a:p>
        </p:txBody>
      </p:sp>
      <p:sp>
        <p:nvSpPr>
          <p:cNvPr id="7" name="Stage I Outcomes item 1 circle"/>
          <p:cNvSpPr/>
          <p:nvPr/>
        </p:nvSpPr>
        <p:spPr>
          <a:xfrm>
            <a:off x="932688" y="2499055"/>
            <a:ext cx="365760" cy="365760"/>
          </a:xfrm>
          <a:prstGeom prst="ellipse">
            <a:avLst/>
          </a:prstGeom>
          <a:solidFill>
            <a:schemeClr val="accent1"/>
          </a:solidFill>
          <a:ln/>
        </p:spPr>
      </p:sp>
      <p:pic>
        <p:nvPicPr>
          <p:cNvPr id="8" name="Stage I Outcomes item 1 icon" descr="preencoded.png">    </p:cNvPr>
          <p:cNvPicPr>
            <a:picLocks noChangeAspect="1"/>
          </p:cNvPicPr>
          <p:nvPr/>
        </p:nvPicPr>
        <p:blipFill>
          <a:blip r:embed="rId2"/>
          <a:stretch>
            <a:fillRect/>
          </a:stretch>
        </p:blipFill>
        <p:spPr>
          <a:xfrm>
            <a:off x="1020470" y="2586838"/>
            <a:ext cx="190195" cy="190195"/>
          </a:xfrm>
          <a:prstGeom prst="rect">
            <a:avLst/>
          </a:prstGeom>
        </p:spPr>
      </p:pic>
      <p:sp>
        <p:nvSpPr>
          <p:cNvPr id="9" name="Stage I Outcomes text 1"/>
          <p:cNvSpPr txBox="1"/>
          <p:nvPr/>
        </p:nvSpPr>
        <p:spPr>
          <a:xfrm>
            <a:off x="1591056" y="2468880"/>
            <a:ext cx="4093312" cy="426110"/>
          </a:xfrm>
          <a:prstGeom prst="rect">
            <a:avLst/>
          </a:prstGeom>
          <a:noFill/>
          <a:ln/>
        </p:spPr>
        <p:txBody>
          <a:bodyPr wrap="square" lIns="0" tIns="0" rIns="0" bIns="0" rtlCol="0" anchor="ctr"/>
          <a:lstStyle/>
          <a:p>
            <a:pPr indent="0" marL="0">
              <a:buNone/>
            </a:pPr>
            <a:r>
              <a:rPr lang="en-US" sz="1400" dirty="0">
                <a:solidFill>
                  <a:schemeClr val="tx1"/>
                </a:solidFill>
              </a:rPr>
              <a:t>Requirements: 9 functional, 7 non-functional</a:t>
            </a:r>
            <a:endParaRPr lang="en-US" sz="1400" dirty="0"/>
          </a:p>
        </p:txBody>
      </p:sp>
      <p:sp>
        <p:nvSpPr>
          <p:cNvPr id="10" name="Stage I Outcomes item 2 circle"/>
          <p:cNvSpPr/>
          <p:nvPr/>
        </p:nvSpPr>
        <p:spPr>
          <a:xfrm>
            <a:off x="932688" y="3016606"/>
            <a:ext cx="365760" cy="365760"/>
          </a:xfrm>
          <a:prstGeom prst="ellipse">
            <a:avLst/>
          </a:prstGeom>
          <a:solidFill>
            <a:schemeClr val="accent1"/>
          </a:solidFill>
          <a:ln/>
        </p:spPr>
      </p:sp>
      <p:pic>
        <p:nvPicPr>
          <p:cNvPr id="11" name="Stage I Outcomes item 2 icon" descr="preencoded.png">    </p:cNvPr>
          <p:cNvPicPr>
            <a:picLocks noChangeAspect="1"/>
          </p:cNvPicPr>
          <p:nvPr/>
        </p:nvPicPr>
        <p:blipFill>
          <a:blip r:embed="rId3"/>
          <a:stretch>
            <a:fillRect/>
          </a:stretch>
        </p:blipFill>
        <p:spPr>
          <a:xfrm>
            <a:off x="1020470" y="3104388"/>
            <a:ext cx="190195" cy="190195"/>
          </a:xfrm>
          <a:prstGeom prst="rect">
            <a:avLst/>
          </a:prstGeom>
        </p:spPr>
      </p:pic>
      <p:sp>
        <p:nvSpPr>
          <p:cNvPr id="12" name="Stage I Outcomes text 2"/>
          <p:cNvSpPr txBox="1"/>
          <p:nvPr/>
        </p:nvSpPr>
        <p:spPr>
          <a:xfrm>
            <a:off x="1591056" y="2986430"/>
            <a:ext cx="4093312" cy="426110"/>
          </a:xfrm>
          <a:prstGeom prst="rect">
            <a:avLst/>
          </a:prstGeom>
          <a:noFill/>
          <a:ln/>
        </p:spPr>
        <p:txBody>
          <a:bodyPr wrap="square" lIns="0" tIns="0" rIns="0" bIns="0" rtlCol="0" anchor="ctr"/>
          <a:lstStyle/>
          <a:p>
            <a:pPr indent="0" marL="0">
              <a:buNone/>
            </a:pPr>
            <a:r>
              <a:rPr lang="en-US" sz="1400" dirty="0">
                <a:solidFill>
                  <a:schemeClr val="tx1"/>
                </a:solidFill>
              </a:rPr>
              <a:t>Architecture with explicit agent output contracts</a:t>
            </a:r>
            <a:endParaRPr lang="en-US" sz="1400" dirty="0"/>
          </a:p>
        </p:txBody>
      </p:sp>
      <p:sp>
        <p:nvSpPr>
          <p:cNvPr id="13" name="Stage I Outcomes item 3 circle"/>
          <p:cNvSpPr/>
          <p:nvPr/>
        </p:nvSpPr>
        <p:spPr>
          <a:xfrm>
            <a:off x="932688" y="3534156"/>
            <a:ext cx="365760" cy="365760"/>
          </a:xfrm>
          <a:prstGeom prst="ellipse">
            <a:avLst/>
          </a:prstGeom>
          <a:solidFill>
            <a:schemeClr val="accent1"/>
          </a:solidFill>
          <a:ln/>
        </p:spPr>
      </p:sp>
      <p:pic>
        <p:nvPicPr>
          <p:cNvPr id="14" name="Stage I Outcomes item 3 icon" descr="preencoded.png">    </p:cNvPr>
          <p:cNvPicPr>
            <a:picLocks noChangeAspect="1"/>
          </p:cNvPicPr>
          <p:nvPr/>
        </p:nvPicPr>
        <p:blipFill>
          <a:blip r:embed="rId4"/>
          <a:stretch>
            <a:fillRect/>
          </a:stretch>
        </p:blipFill>
        <p:spPr>
          <a:xfrm>
            <a:off x="1020470" y="3621938"/>
            <a:ext cx="190195" cy="190195"/>
          </a:xfrm>
          <a:prstGeom prst="rect">
            <a:avLst/>
          </a:prstGeom>
        </p:spPr>
      </p:pic>
      <p:sp>
        <p:nvSpPr>
          <p:cNvPr id="15" name="Stage I Outcomes text 3"/>
          <p:cNvSpPr txBox="1"/>
          <p:nvPr/>
        </p:nvSpPr>
        <p:spPr>
          <a:xfrm>
            <a:off x="1591056" y="3503981"/>
            <a:ext cx="4093312" cy="426110"/>
          </a:xfrm>
          <a:prstGeom prst="rect">
            <a:avLst/>
          </a:prstGeom>
          <a:noFill/>
          <a:ln/>
        </p:spPr>
        <p:txBody>
          <a:bodyPr wrap="square" lIns="0" tIns="0" rIns="0" bIns="0" rtlCol="0" anchor="ctr"/>
          <a:lstStyle/>
          <a:p>
            <a:pPr indent="0" marL="0">
              <a:buNone/>
            </a:pPr>
            <a:r>
              <a:rPr lang="en-US" sz="1400" dirty="0">
                <a:solidFill>
                  <a:schemeClr val="tx1"/>
                </a:solidFill>
              </a:rPr>
              <a:t>Level 0 and 1 DFDs and three UML diagrams</a:t>
            </a:r>
            <a:endParaRPr lang="en-US" sz="1400" dirty="0"/>
          </a:p>
        </p:txBody>
      </p:sp>
      <p:sp>
        <p:nvSpPr>
          <p:cNvPr id="16" name="Stage I Outcomes item 4 circle"/>
          <p:cNvSpPr/>
          <p:nvPr/>
        </p:nvSpPr>
        <p:spPr>
          <a:xfrm>
            <a:off x="932688" y="4051706"/>
            <a:ext cx="365760" cy="365760"/>
          </a:xfrm>
          <a:prstGeom prst="ellipse">
            <a:avLst/>
          </a:prstGeom>
          <a:solidFill>
            <a:schemeClr val="accent1"/>
          </a:solidFill>
          <a:ln/>
        </p:spPr>
      </p:sp>
      <p:pic>
        <p:nvPicPr>
          <p:cNvPr id="17" name="Stage I Outcomes item 4 icon" descr="preencoded.png">    </p:cNvPr>
          <p:cNvPicPr>
            <a:picLocks noChangeAspect="1"/>
          </p:cNvPicPr>
          <p:nvPr/>
        </p:nvPicPr>
        <p:blipFill>
          <a:blip r:embed="rId5"/>
          <a:stretch>
            <a:fillRect/>
          </a:stretch>
        </p:blipFill>
        <p:spPr>
          <a:xfrm>
            <a:off x="1020470" y="4139489"/>
            <a:ext cx="190195" cy="190195"/>
          </a:xfrm>
          <a:prstGeom prst="rect">
            <a:avLst/>
          </a:prstGeom>
        </p:spPr>
      </p:pic>
      <p:sp>
        <p:nvSpPr>
          <p:cNvPr id="18" name="Stage I Outcomes text 4"/>
          <p:cNvSpPr txBox="1"/>
          <p:nvPr/>
        </p:nvSpPr>
        <p:spPr>
          <a:xfrm>
            <a:off x="1591056" y="4021531"/>
            <a:ext cx="4093312" cy="426110"/>
          </a:xfrm>
          <a:prstGeom prst="rect">
            <a:avLst/>
          </a:prstGeom>
          <a:noFill/>
          <a:ln/>
        </p:spPr>
        <p:txBody>
          <a:bodyPr wrap="square" lIns="0" tIns="0" rIns="0" bIns="0" rtlCol="0" anchor="ctr"/>
          <a:lstStyle/>
          <a:p>
            <a:pPr indent="0" marL="0">
              <a:buNone/>
            </a:pPr>
            <a:r>
              <a:rPr lang="en-US" sz="1400" dirty="0">
                <a:solidFill>
                  <a:schemeClr val="tx1"/>
                </a:solidFill>
              </a:rPr>
              <a:t>Reference module logic and a 12-case test plan</a:t>
            </a:r>
            <a:endParaRPr lang="en-US" sz="1400" dirty="0"/>
          </a:p>
        </p:txBody>
      </p:sp>
      <p:sp>
        <p:nvSpPr>
          <p:cNvPr id="19" name="Stage I Outcomes item 5 circle"/>
          <p:cNvSpPr/>
          <p:nvPr/>
        </p:nvSpPr>
        <p:spPr>
          <a:xfrm>
            <a:off x="932688" y="4569257"/>
            <a:ext cx="365760" cy="365760"/>
          </a:xfrm>
          <a:prstGeom prst="ellipse">
            <a:avLst/>
          </a:prstGeom>
          <a:solidFill>
            <a:schemeClr val="accent1"/>
          </a:solidFill>
          <a:ln/>
        </p:spPr>
      </p:sp>
      <p:pic>
        <p:nvPicPr>
          <p:cNvPr id="20" name="Stage I Outcomes item 5 icon" descr="preencoded.png">    </p:cNvPr>
          <p:cNvPicPr>
            <a:picLocks noChangeAspect="1"/>
          </p:cNvPicPr>
          <p:nvPr/>
        </p:nvPicPr>
        <p:blipFill>
          <a:blip r:embed="rId6"/>
          <a:stretch>
            <a:fillRect/>
          </a:stretch>
        </p:blipFill>
        <p:spPr>
          <a:xfrm>
            <a:off x="1020470" y="4657039"/>
            <a:ext cx="190195" cy="190195"/>
          </a:xfrm>
          <a:prstGeom prst="rect">
            <a:avLst/>
          </a:prstGeom>
        </p:spPr>
      </p:pic>
      <p:sp>
        <p:nvSpPr>
          <p:cNvPr id="21" name="Stage I Outcomes text 5"/>
          <p:cNvSpPr txBox="1"/>
          <p:nvPr/>
        </p:nvSpPr>
        <p:spPr>
          <a:xfrm>
            <a:off x="1591056" y="4539082"/>
            <a:ext cx="4093312" cy="426110"/>
          </a:xfrm>
          <a:prstGeom prst="rect">
            <a:avLst/>
          </a:prstGeom>
          <a:noFill/>
          <a:ln/>
        </p:spPr>
        <p:txBody>
          <a:bodyPr wrap="square" lIns="0" tIns="0" rIns="0" bIns="0" rtlCol="0" anchor="ctr"/>
          <a:lstStyle/>
          <a:p>
            <a:pPr indent="0" marL="0">
              <a:buNone/>
            </a:pPr>
            <a:r>
              <a:rPr lang="en-US" sz="1400" dirty="0">
                <a:solidFill>
                  <a:schemeClr val="tx1"/>
                </a:solidFill>
              </a:rPr>
              <a:t>Paper submitted to IJAICMES in October 2026</a:t>
            </a:r>
            <a:endParaRPr lang="en-US" sz="1400" dirty="0"/>
          </a:p>
        </p:txBody>
      </p:sp>
      <p:sp>
        <p:nvSpPr>
          <p:cNvPr id="22" name="Future Scope card"/>
          <p:cNvSpPr/>
          <p:nvPr/>
        </p:nvSpPr>
        <p:spPr>
          <a:xfrm>
            <a:off x="6233008" y="1371600"/>
            <a:ext cx="5410048" cy="3867912"/>
          </a:xfrm>
          <a:prstGeom prst="roundRect">
            <a:avLst>
              <a:gd name="adj" fmla="val 2837"/>
            </a:avLst>
          </a:prstGeom>
          <a:solidFill>
            <a:schemeClr val="bg2"/>
          </a:solidFill>
          <a:ln/>
        </p:spPr>
      </p:sp>
      <p:sp>
        <p:nvSpPr>
          <p:cNvPr id="23" name="Future Scope circle"/>
          <p:cNvSpPr/>
          <p:nvPr/>
        </p:nvSpPr>
        <p:spPr>
          <a:xfrm>
            <a:off x="6507328" y="1645920"/>
            <a:ext cx="585216" cy="585216"/>
          </a:xfrm>
          <a:prstGeom prst="ellipse">
            <a:avLst/>
          </a:prstGeom>
          <a:solidFill>
            <a:schemeClr val="accent4"/>
          </a:solidFill>
          <a:ln/>
        </p:spPr>
      </p:sp>
      <p:pic>
        <p:nvPicPr>
          <p:cNvPr id="24" name="Future Scope icon" descr="preencoded.png">    </p:cNvPr>
          <p:cNvPicPr>
            <a:picLocks noChangeAspect="1"/>
          </p:cNvPicPr>
          <p:nvPr/>
        </p:nvPicPr>
        <p:blipFill>
          <a:blip r:embed="rId7"/>
          <a:stretch>
            <a:fillRect/>
          </a:stretch>
        </p:blipFill>
        <p:spPr>
          <a:xfrm>
            <a:off x="6647779" y="1786372"/>
            <a:ext cx="304312" cy="304312"/>
          </a:xfrm>
          <a:prstGeom prst="rect">
            <a:avLst/>
          </a:prstGeom>
        </p:spPr>
      </p:pic>
      <p:sp>
        <p:nvSpPr>
          <p:cNvPr id="25" name="Future Scope heading"/>
          <p:cNvSpPr txBox="1"/>
          <p:nvPr/>
        </p:nvSpPr>
        <p:spPr>
          <a:xfrm>
            <a:off x="7275424" y="1645920"/>
            <a:ext cx="4206240" cy="585216"/>
          </a:xfrm>
          <a:prstGeom prst="rect">
            <a:avLst/>
          </a:prstGeom>
          <a:noFill/>
          <a:ln/>
        </p:spPr>
        <p:txBody>
          <a:bodyPr wrap="square" lIns="0" tIns="0" rIns="0" bIns="0" rtlCol="0" anchor="ctr"/>
          <a:lstStyle/>
          <a:p>
            <a:pPr indent="0" marL="0">
              <a:buNone/>
            </a:pPr>
            <a:r>
              <a:rPr lang="en-US" sz="2000" b="1" dirty="0">
                <a:solidFill>
                  <a:schemeClr val="tx2"/>
                </a:solidFill>
                <a:latin typeface="+mj-lt" pitchFamily="34" charset="0"/>
                <a:ea typeface="+mj-lt" pitchFamily="34" charset="-122"/>
                <a:cs typeface="+mj-lt" pitchFamily="34" charset="-120"/>
              </a:rPr>
              <a:t>Future Scope</a:t>
            </a:r>
            <a:endParaRPr lang="en-US" sz="2000" dirty="0"/>
          </a:p>
        </p:txBody>
      </p:sp>
      <p:sp>
        <p:nvSpPr>
          <p:cNvPr id="26" name="Future Scope item 1 circle"/>
          <p:cNvSpPr/>
          <p:nvPr/>
        </p:nvSpPr>
        <p:spPr>
          <a:xfrm>
            <a:off x="6617056" y="2499055"/>
            <a:ext cx="365760" cy="365760"/>
          </a:xfrm>
          <a:prstGeom prst="ellipse">
            <a:avLst/>
          </a:prstGeom>
          <a:solidFill>
            <a:schemeClr val="accent4"/>
          </a:solidFill>
          <a:ln/>
        </p:spPr>
      </p:sp>
      <p:pic>
        <p:nvPicPr>
          <p:cNvPr id="27" name="Future Scope item 1 icon" descr="preencoded.png">    </p:cNvPr>
          <p:cNvPicPr>
            <a:picLocks noChangeAspect="1"/>
          </p:cNvPicPr>
          <p:nvPr/>
        </p:nvPicPr>
        <p:blipFill>
          <a:blip r:embed="rId8"/>
          <a:stretch>
            <a:fillRect/>
          </a:stretch>
        </p:blipFill>
        <p:spPr>
          <a:xfrm>
            <a:off x="6704838" y="2586838"/>
            <a:ext cx="190195" cy="190195"/>
          </a:xfrm>
          <a:prstGeom prst="rect">
            <a:avLst/>
          </a:prstGeom>
        </p:spPr>
      </p:pic>
      <p:sp>
        <p:nvSpPr>
          <p:cNvPr id="28" name="Future Scope text 1"/>
          <p:cNvSpPr txBox="1"/>
          <p:nvPr/>
        </p:nvSpPr>
        <p:spPr>
          <a:xfrm>
            <a:off x="7275424" y="2468880"/>
            <a:ext cx="4093312" cy="426110"/>
          </a:xfrm>
          <a:prstGeom prst="rect">
            <a:avLst/>
          </a:prstGeom>
          <a:noFill/>
          <a:ln/>
        </p:spPr>
        <p:txBody>
          <a:bodyPr wrap="square" lIns="0" tIns="0" rIns="0" bIns="0" rtlCol="0" anchor="ctr"/>
          <a:lstStyle/>
          <a:p>
            <a:pPr indent="0" marL="0">
              <a:buNone/>
            </a:pPr>
            <a:r>
              <a:rPr lang="en-US" sz="1400" dirty="0">
                <a:solidFill>
                  <a:schemeClr val="tx1"/>
                </a:solidFill>
              </a:rPr>
              <a:t>Stage II: build and evaluate the prototype</a:t>
            </a:r>
            <a:endParaRPr lang="en-US" sz="1400" dirty="0"/>
          </a:p>
        </p:txBody>
      </p:sp>
      <p:sp>
        <p:nvSpPr>
          <p:cNvPr id="29" name="Future Scope item 2 circle"/>
          <p:cNvSpPr/>
          <p:nvPr/>
        </p:nvSpPr>
        <p:spPr>
          <a:xfrm>
            <a:off x="6617056" y="3016606"/>
            <a:ext cx="365760" cy="365760"/>
          </a:xfrm>
          <a:prstGeom prst="ellipse">
            <a:avLst/>
          </a:prstGeom>
          <a:solidFill>
            <a:schemeClr val="accent4"/>
          </a:solidFill>
          <a:ln/>
        </p:spPr>
      </p:sp>
      <p:pic>
        <p:nvPicPr>
          <p:cNvPr id="30" name="Future Scope item 2 icon" descr="preencoded.png">    </p:cNvPr>
          <p:cNvPicPr>
            <a:picLocks noChangeAspect="1"/>
          </p:cNvPicPr>
          <p:nvPr/>
        </p:nvPicPr>
        <p:blipFill>
          <a:blip r:embed="rId9"/>
          <a:stretch>
            <a:fillRect/>
          </a:stretch>
        </p:blipFill>
        <p:spPr>
          <a:xfrm>
            <a:off x="6704838" y="3104388"/>
            <a:ext cx="190195" cy="190195"/>
          </a:xfrm>
          <a:prstGeom prst="rect">
            <a:avLst/>
          </a:prstGeom>
        </p:spPr>
      </p:pic>
      <p:sp>
        <p:nvSpPr>
          <p:cNvPr id="31" name="Future Scope text 2"/>
          <p:cNvSpPr txBox="1"/>
          <p:nvPr/>
        </p:nvSpPr>
        <p:spPr>
          <a:xfrm>
            <a:off x="7275424" y="2986430"/>
            <a:ext cx="4093312" cy="426110"/>
          </a:xfrm>
          <a:prstGeom prst="rect">
            <a:avLst/>
          </a:prstGeom>
          <a:noFill/>
          <a:ln/>
        </p:spPr>
        <p:txBody>
          <a:bodyPr wrap="square" lIns="0" tIns="0" rIns="0" bIns="0" rtlCol="0" anchor="ctr"/>
          <a:lstStyle/>
          <a:p>
            <a:pPr indent="0" marL="0">
              <a:buNone/>
            </a:pPr>
            <a:r>
              <a:rPr lang="en-US" sz="1400" dirty="0">
                <a:solidFill>
                  <a:schemeClr val="tx1"/>
                </a:solidFill>
              </a:rPr>
              <a:t>Hospital integration: EHR exports, HL7 FHIR, access control</a:t>
            </a:r>
            <a:endParaRPr lang="en-US" sz="1400" dirty="0"/>
          </a:p>
        </p:txBody>
      </p:sp>
      <p:sp>
        <p:nvSpPr>
          <p:cNvPr id="32" name="Future Scope item 3 circle"/>
          <p:cNvSpPr/>
          <p:nvPr/>
        </p:nvSpPr>
        <p:spPr>
          <a:xfrm>
            <a:off x="6617056" y="3534156"/>
            <a:ext cx="365760" cy="365760"/>
          </a:xfrm>
          <a:prstGeom prst="ellipse">
            <a:avLst/>
          </a:prstGeom>
          <a:solidFill>
            <a:schemeClr val="accent4"/>
          </a:solidFill>
          <a:ln/>
        </p:spPr>
      </p:sp>
      <p:pic>
        <p:nvPicPr>
          <p:cNvPr id="33" name="Future Scope item 3 icon" descr="preencoded.png">    </p:cNvPr>
          <p:cNvPicPr>
            <a:picLocks noChangeAspect="1"/>
          </p:cNvPicPr>
          <p:nvPr/>
        </p:nvPicPr>
        <p:blipFill>
          <a:blip r:embed="rId10"/>
          <a:stretch>
            <a:fillRect/>
          </a:stretch>
        </p:blipFill>
        <p:spPr>
          <a:xfrm>
            <a:off x="6704838" y="3621938"/>
            <a:ext cx="190195" cy="190195"/>
          </a:xfrm>
          <a:prstGeom prst="rect">
            <a:avLst/>
          </a:prstGeom>
        </p:spPr>
      </p:pic>
      <p:sp>
        <p:nvSpPr>
          <p:cNvPr id="34" name="Future Scope text 3"/>
          <p:cNvSpPr txBox="1"/>
          <p:nvPr/>
        </p:nvSpPr>
        <p:spPr>
          <a:xfrm>
            <a:off x="7275424" y="3503981"/>
            <a:ext cx="4093312" cy="426110"/>
          </a:xfrm>
          <a:prstGeom prst="rect">
            <a:avLst/>
          </a:prstGeom>
          <a:noFill/>
          <a:ln/>
        </p:spPr>
        <p:txBody>
          <a:bodyPr wrap="square" lIns="0" tIns="0" rIns="0" bIns="0" rtlCol="0" anchor="ctr"/>
          <a:lstStyle/>
          <a:p>
            <a:pPr indent="0" marL="0">
              <a:buNone/>
            </a:pPr>
            <a:r>
              <a:rPr lang="en-US" sz="1400" dirty="0">
                <a:solidFill>
                  <a:schemeClr val="tx1"/>
                </a:solidFill>
              </a:rPr>
              <a:t>Ontologies, knowledge graphs and specialized medical models</a:t>
            </a:r>
            <a:endParaRPr lang="en-US" sz="1400" dirty="0"/>
          </a:p>
        </p:txBody>
      </p:sp>
      <p:sp>
        <p:nvSpPr>
          <p:cNvPr id="35" name="Future Scope item 4 circle"/>
          <p:cNvSpPr/>
          <p:nvPr/>
        </p:nvSpPr>
        <p:spPr>
          <a:xfrm>
            <a:off x="6617056" y="4051706"/>
            <a:ext cx="365760" cy="365760"/>
          </a:xfrm>
          <a:prstGeom prst="ellipse">
            <a:avLst/>
          </a:prstGeom>
          <a:solidFill>
            <a:schemeClr val="accent4"/>
          </a:solidFill>
          <a:ln/>
        </p:spPr>
      </p:sp>
      <p:pic>
        <p:nvPicPr>
          <p:cNvPr id="36" name="Future Scope item 4 icon" descr="preencoded.png">    </p:cNvPr>
          <p:cNvPicPr>
            <a:picLocks noChangeAspect="1"/>
          </p:cNvPicPr>
          <p:nvPr/>
        </p:nvPicPr>
        <p:blipFill>
          <a:blip r:embed="rId11"/>
          <a:stretch>
            <a:fillRect/>
          </a:stretch>
        </p:blipFill>
        <p:spPr>
          <a:xfrm>
            <a:off x="6704838" y="4139489"/>
            <a:ext cx="190195" cy="190195"/>
          </a:xfrm>
          <a:prstGeom prst="rect">
            <a:avLst/>
          </a:prstGeom>
        </p:spPr>
      </p:pic>
      <p:sp>
        <p:nvSpPr>
          <p:cNvPr id="37" name="Future Scope text 4"/>
          <p:cNvSpPr txBox="1"/>
          <p:nvPr/>
        </p:nvSpPr>
        <p:spPr>
          <a:xfrm>
            <a:off x="7275424" y="4021531"/>
            <a:ext cx="4093312" cy="426110"/>
          </a:xfrm>
          <a:prstGeom prst="rect">
            <a:avLst/>
          </a:prstGeom>
          <a:noFill/>
          <a:ln/>
        </p:spPr>
        <p:txBody>
          <a:bodyPr wrap="square" lIns="0" tIns="0" rIns="0" bIns="0" rtlCol="0" anchor="ctr"/>
          <a:lstStyle/>
          <a:p>
            <a:pPr indent="0" marL="0">
              <a:buNone/>
            </a:pPr>
            <a:r>
              <a:rPr lang="en-US" sz="1400" dirty="0">
                <a:solidFill>
                  <a:schemeClr val="tx1"/>
                </a:solidFill>
              </a:rPr>
              <a:t>Longitudinal data from repeated patient visits</a:t>
            </a:r>
            <a:endParaRPr lang="en-US" sz="1400" dirty="0"/>
          </a:p>
        </p:txBody>
      </p:sp>
      <p:sp>
        <p:nvSpPr>
          <p:cNvPr id="38" name="Future Scope item 5 circle"/>
          <p:cNvSpPr/>
          <p:nvPr/>
        </p:nvSpPr>
        <p:spPr>
          <a:xfrm>
            <a:off x="6617056" y="4569257"/>
            <a:ext cx="365760" cy="365760"/>
          </a:xfrm>
          <a:prstGeom prst="ellipse">
            <a:avLst/>
          </a:prstGeom>
          <a:solidFill>
            <a:schemeClr val="accent4"/>
          </a:solidFill>
          <a:ln/>
        </p:spPr>
      </p:sp>
      <p:pic>
        <p:nvPicPr>
          <p:cNvPr id="39" name="Future Scope item 5 icon" descr="preencoded.png">    </p:cNvPr>
          <p:cNvPicPr>
            <a:picLocks noChangeAspect="1"/>
          </p:cNvPicPr>
          <p:nvPr/>
        </p:nvPicPr>
        <p:blipFill>
          <a:blip r:embed="rId12"/>
          <a:stretch>
            <a:fillRect/>
          </a:stretch>
        </p:blipFill>
        <p:spPr>
          <a:xfrm>
            <a:off x="6704838" y="4657039"/>
            <a:ext cx="190195" cy="190195"/>
          </a:xfrm>
          <a:prstGeom prst="rect">
            <a:avLst/>
          </a:prstGeom>
        </p:spPr>
      </p:pic>
      <p:sp>
        <p:nvSpPr>
          <p:cNvPr id="40" name="Future Scope text 5"/>
          <p:cNvSpPr txBox="1"/>
          <p:nvPr/>
        </p:nvSpPr>
        <p:spPr>
          <a:xfrm>
            <a:off x="7275424" y="4539082"/>
            <a:ext cx="4093312" cy="426110"/>
          </a:xfrm>
          <a:prstGeom prst="rect">
            <a:avLst/>
          </a:prstGeom>
          <a:noFill/>
          <a:ln/>
        </p:spPr>
        <p:txBody>
          <a:bodyPr wrap="square" lIns="0" tIns="0" rIns="0" bIns="0" rtlCol="0" anchor="ctr"/>
          <a:lstStyle/>
          <a:p>
            <a:pPr indent="0" marL="0">
              <a:buNone/>
            </a:pPr>
            <a:r>
              <a:rPr lang="en-US" sz="1400" dirty="0">
                <a:solidFill>
                  <a:schemeClr val="tx1"/>
                </a:solidFill>
              </a:rPr>
              <a:t>External validation across institutions</a:t>
            </a:r>
            <a:endParaRPr lang="en-US" sz="1400" dirty="0"/>
          </a:p>
        </p:txBody>
      </p:sp>
      <p:sp>
        <p:nvSpPr>
          <p:cNvPr id="41" name="closing statement card"/>
          <p:cNvSpPr/>
          <p:nvPr/>
        </p:nvSpPr>
        <p:spPr>
          <a:xfrm>
            <a:off x="548640" y="5468112"/>
            <a:ext cx="11094415" cy="566928"/>
          </a:xfrm>
          <a:prstGeom prst="roundRect">
            <a:avLst>
              <a:gd name="adj" fmla="val 19355"/>
            </a:avLst>
          </a:prstGeom>
          <a:solidFill>
            <a:schemeClr val="accent1"/>
          </a:solidFill>
          <a:ln/>
        </p:spPr>
      </p:sp>
      <p:sp>
        <p:nvSpPr>
          <p:cNvPr id="42" name="closing statement"/>
          <p:cNvSpPr txBox="1"/>
          <p:nvPr/>
        </p:nvSpPr>
        <p:spPr>
          <a:xfrm>
            <a:off x="822960" y="5468112"/>
            <a:ext cx="10545775" cy="566928"/>
          </a:xfrm>
          <a:prstGeom prst="rect">
            <a:avLst/>
          </a:prstGeom>
          <a:noFill/>
          <a:ln/>
        </p:spPr>
        <p:txBody>
          <a:bodyPr wrap="square" lIns="0" tIns="0" rIns="0" bIns="0" rtlCol="0" anchor="ctr"/>
          <a:lstStyle/>
          <a:p>
            <a:pPr algn="ctr" indent="0" marL="0">
              <a:buNone/>
            </a:pPr>
            <a:r>
              <a:rPr lang="en-US" sz="1700" i="1" dirty="0">
                <a:solidFill>
                  <a:schemeClr val="bg1"/>
                </a:solidFill>
              </a:rPr>
              <a:t>Every recommendation traceable to its evidence, and the final decision always with the clinician.</a:t>
            </a:r>
            <a:endParaRPr lang="en-US" sz="1700" dirty="0"/>
          </a:p>
        </p:txBody>
      </p:sp>
      <p:sp>
        <p:nvSpPr>
          <p:cNvPr id="43" name="Slide Number Placeholder 0"/>
          <p:cNvSpPr>
            <a:spLocks noGrp="1"/>
          </p:cNvSpPr>
          <p:nvPr>
            <p:ph type="sldNum" sz="quarter" idx="4294967295"/>
          </p:nvPr>
        </p:nvSpPr>
        <p:spPr>
          <a:xfrm>
            <a:off x="11201400" y="6382512"/>
            <a:ext cx="438912" cy="27432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E6E73"/>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94415" cy="777240"/>
          </a:xfrm>
          <a:prstGeom prst="rect">
            <a:avLst/>
          </a:prstGeom>
          <a:noFill/>
          <a:ln/>
        </p:spPr>
        <p:txBody>
          <a:bodyPr wrap="square" lIns="0" tIns="0" rIns="0" bIns="0" rtlCol="0" anchor="ctr"/>
          <a:lstStyle/>
          <a:p>
            <a:pPr algn="l" indent="0" marL="0">
              <a:buNone/>
            </a:pPr>
            <a:r>
              <a:rPr lang="en-US" sz="3400" b="1" dirty="0">
                <a:solidFill>
                  <a:schemeClr val="tx2"/>
                </a:solidFill>
                <a:latin typeface="+mj-lt" pitchFamily="34" charset="0"/>
                <a:ea typeface="+mj-lt" pitchFamily="34" charset="-122"/>
                <a:cs typeface="+mj-lt" pitchFamily="34" charset="-120"/>
              </a:rPr>
              <a:t>References</a:t>
            </a:r>
            <a:endParaRPr lang="en-US" sz="3400" dirty="0"/>
          </a:p>
        </p:txBody>
      </p:sp>
      <p:sp>
        <p:nvSpPr>
          <p:cNvPr id="3" name="references column 1"/>
          <p:cNvSpPr txBox="1"/>
          <p:nvPr/>
        </p:nvSpPr>
        <p:spPr>
          <a:xfrm>
            <a:off x="548640" y="1371600"/>
            <a:ext cx="5410048" cy="4663440"/>
          </a:xfrm>
          <a:prstGeom prst="rect">
            <a:avLst/>
          </a:prstGeom>
          <a:noFill/>
          <a:ln/>
        </p:spPr>
        <p:txBody>
          <a:bodyPr wrap="square" lIns="0" tIns="0" rIns="0" bIns="0" rtlCol="0" anchor="t"/>
          <a:lstStyle/>
          <a:p>
            <a:pPr indent="0" marL="0">
              <a:spcAft>
                <a:spcPts val="900"/>
              </a:spcAft>
              <a:buNone/>
            </a:pPr>
            <a:r>
              <a:rPr lang="en-US" sz="1300" b="1" dirty="0">
                <a:solidFill>
                  <a:schemeClr val="accent1"/>
                </a:solidFill>
              </a:rPr>
              <a:t>[1] </a:t>
            </a:r>
            <a:pPr indent="0" marL="0">
              <a:spcAft>
                <a:spcPts val="900"/>
              </a:spcAft>
              <a:buNone/>
            </a:pPr>
            <a:r>
              <a:rPr lang="en-US" sz="1300" dirty="0">
                <a:solidFill>
                  <a:schemeClr val="tx1"/>
                </a:solidFill>
              </a:rPr>
              <a:t>Ç. U. Öğdü, K. Arslanoğlu and M. Karaköse, “An Adaptive Multi-Agent LLM-Based Clinical Decision Support System Integrating Biomedical RAG and Web Intelligence,” IEEE Access, vol. 13, 2025.</a:t>
            </a:r>
            <a:endParaRPr lang="en-US" sz="1300" dirty="0"/>
          </a:p>
          <a:p>
            <a:pPr indent="0" marL="0">
              <a:spcAft>
                <a:spcPts val="900"/>
              </a:spcAft>
              <a:buNone/>
            </a:pPr>
            <a:r>
              <a:rPr lang="en-US" sz="1300" b="1" dirty="0">
                <a:solidFill>
                  <a:schemeClr val="accent1"/>
                </a:solidFill>
              </a:rPr>
              <a:t>[2] </a:t>
            </a:r>
            <a:pPr indent="0" marL="0">
              <a:spcAft>
                <a:spcPts val="900"/>
              </a:spcAft>
              <a:buNone/>
            </a:pPr>
            <a:r>
              <a:rPr lang="en-US" sz="1300" dirty="0">
                <a:solidFill>
                  <a:schemeClr val="tx1"/>
                </a:solidFill>
              </a:rPr>
              <a:t>X. Tang et al., “MedAgents: Large Language Models as Collaborators for Zero-shot Medical Reasoning,” Findings of ACL 2024, 2024.</a:t>
            </a:r>
            <a:endParaRPr lang="en-US" sz="1300" dirty="0"/>
          </a:p>
          <a:p>
            <a:pPr indent="0" marL="0">
              <a:spcAft>
                <a:spcPts val="900"/>
              </a:spcAft>
              <a:buNone/>
            </a:pPr>
            <a:r>
              <a:rPr lang="en-US" sz="1300" b="1" dirty="0">
                <a:solidFill>
                  <a:schemeClr val="accent1"/>
                </a:solidFill>
              </a:rPr>
              <a:t>[3] </a:t>
            </a:r>
            <a:pPr indent="0" marL="0">
              <a:spcAft>
                <a:spcPts val="900"/>
              </a:spcAft>
              <a:buNone/>
            </a:pPr>
            <a:r>
              <a:rPr lang="en-US" sz="1300" dirty="0">
                <a:solidFill>
                  <a:schemeClr val="tx1"/>
                </a:solidFill>
              </a:rPr>
              <a:t>Y. Lu, X. Zhao and J. Wang, “ClinicalRAG: Enhancing Clinical Decision Support through Heterogeneous Knowledge Retrieval,” KnowLLM Workshop, 2024.</a:t>
            </a:r>
            <a:endParaRPr lang="en-US" sz="1300" dirty="0"/>
          </a:p>
          <a:p>
            <a:pPr indent="0" marL="0">
              <a:spcAft>
                <a:spcPts val="900"/>
              </a:spcAft>
              <a:buNone/>
            </a:pPr>
            <a:r>
              <a:rPr lang="en-US" sz="1300" b="1" dirty="0">
                <a:solidFill>
                  <a:schemeClr val="accent1"/>
                </a:solidFill>
              </a:rPr>
              <a:t>[4] </a:t>
            </a:r>
            <a:pPr indent="0" marL="0">
              <a:spcAft>
                <a:spcPts val="900"/>
              </a:spcAft>
              <a:buNone/>
            </a:pPr>
            <a:r>
              <a:rPr lang="en-US" sz="1300" dirty="0">
                <a:solidFill>
                  <a:schemeClr val="tx1"/>
                </a:solidFill>
              </a:rPr>
              <a:t>K. Zuo, Y. Jiang, F. Mo and P. Lio, “KG4Diagnosis: A Hierarchical Multi-Agent LLM Framework with Knowledge Graph Enhancement for Medical Diagnosis,” PMLR, vol. 281, 2025.</a:t>
            </a:r>
            <a:endParaRPr lang="en-US" sz="1300" dirty="0"/>
          </a:p>
          <a:p>
            <a:pPr indent="0" marL="0">
              <a:spcAft>
                <a:spcPts val="900"/>
              </a:spcAft>
              <a:buNone/>
            </a:pPr>
            <a:r>
              <a:rPr lang="en-US" sz="1300" b="1" dirty="0">
                <a:solidFill>
                  <a:schemeClr val="accent1"/>
                </a:solidFill>
              </a:rPr>
              <a:t>[5] </a:t>
            </a:r>
            <a:pPr indent="0" marL="0">
              <a:spcAft>
                <a:spcPts val="900"/>
              </a:spcAft>
              <a:buNone/>
            </a:pPr>
            <a:r>
              <a:rPr lang="en-US" sz="1300" dirty="0">
                <a:solidFill>
                  <a:schemeClr val="tx1"/>
                </a:solidFill>
              </a:rPr>
              <a:t>T. Abdullahi, L. Mercurio, R. Singh and C. Eickhoff, “Retrieval-Based Diagnostic Decision Support: Mixed Methods Study,” JMIR Medical Informatics, vol. 12, 2024.</a:t>
            </a:r>
            <a:endParaRPr lang="en-US" sz="1300" dirty="0"/>
          </a:p>
          <a:p>
            <a:pPr indent="0" marL="0">
              <a:spcAft>
                <a:spcPts val="900"/>
              </a:spcAft>
              <a:buNone/>
            </a:pPr>
            <a:r>
              <a:rPr lang="en-US" sz="1300" b="1" dirty="0">
                <a:solidFill>
                  <a:schemeClr val="accent1"/>
                </a:solidFill>
              </a:rPr>
              <a:t>[6] </a:t>
            </a:r>
            <a:pPr indent="0" marL="0">
              <a:spcAft>
                <a:spcPts val="900"/>
              </a:spcAft>
              <a:buNone/>
            </a:pPr>
            <a:r>
              <a:rPr lang="en-US" sz="1300" dirty="0">
                <a:solidFill>
                  <a:schemeClr val="tx1"/>
                </a:solidFill>
              </a:rPr>
              <a:t>S. Liu, A. B. McCoy and A. Wright, “Improving large language model applications in biomedicine with retrieval-augmented generation: a systematic review,” JAMIA, vol. 32, 2025.</a:t>
            </a:r>
            <a:endParaRPr lang="en-US" sz="1300" dirty="0"/>
          </a:p>
        </p:txBody>
      </p:sp>
      <p:sp>
        <p:nvSpPr>
          <p:cNvPr id="4" name="references column 2"/>
          <p:cNvSpPr txBox="1"/>
          <p:nvPr/>
        </p:nvSpPr>
        <p:spPr>
          <a:xfrm>
            <a:off x="6233008" y="1371600"/>
            <a:ext cx="5410048" cy="4663440"/>
          </a:xfrm>
          <a:prstGeom prst="rect">
            <a:avLst/>
          </a:prstGeom>
          <a:noFill/>
          <a:ln/>
        </p:spPr>
        <p:txBody>
          <a:bodyPr wrap="square" lIns="0" tIns="0" rIns="0" bIns="0" rtlCol="0" anchor="t"/>
          <a:lstStyle/>
          <a:p>
            <a:pPr indent="0" marL="0">
              <a:spcAft>
                <a:spcPts val="900"/>
              </a:spcAft>
              <a:buNone/>
            </a:pPr>
            <a:r>
              <a:rPr lang="en-US" sz="1300" b="1" dirty="0">
                <a:solidFill>
                  <a:schemeClr val="accent1"/>
                </a:solidFill>
              </a:rPr>
              <a:t>[7] </a:t>
            </a:r>
            <a:pPr indent="0" marL="0">
              <a:spcAft>
                <a:spcPts val="900"/>
              </a:spcAft>
              <a:buNone/>
            </a:pPr>
            <a:r>
              <a:rPr lang="en-US" sz="1300" dirty="0">
                <a:solidFill>
                  <a:schemeClr val="tx1"/>
                </a:solidFill>
              </a:rPr>
              <a:t>S. Delourme, A. Redjdal, J. Bouaud and B. Seroussi, “Measured Performance and Healthcare Professional Perception of LLMs Used as Clinical Decision Support Systems: A Scoping Review,” Stud. Health Technol. Inform., 2024.</a:t>
            </a:r>
            <a:endParaRPr lang="en-US" sz="1300" dirty="0"/>
          </a:p>
          <a:p>
            <a:pPr indent="0" marL="0">
              <a:spcAft>
                <a:spcPts val="900"/>
              </a:spcAft>
              <a:buNone/>
            </a:pPr>
            <a:r>
              <a:rPr lang="en-US" sz="1300" b="1" dirty="0">
                <a:solidFill>
                  <a:schemeClr val="accent1"/>
                </a:solidFill>
              </a:rPr>
              <a:t>[8] </a:t>
            </a:r>
            <a:pPr indent="0" marL="0">
              <a:spcAft>
                <a:spcPts val="900"/>
              </a:spcAft>
              <a:buNone/>
            </a:pPr>
            <a:r>
              <a:rPr lang="en-US" sz="1300" dirty="0">
                <a:solidFill>
                  <a:schemeClr val="tx1"/>
                </a:solidFill>
              </a:rPr>
              <a:t>C. Wang et al., “Potential for GPT Technology to Optimize Future Clinical Decision-Making Using Retrieval-Augmented Generation,” Annals of Biomedical Engineering, 2024.</a:t>
            </a:r>
            <a:endParaRPr lang="en-US" sz="1300" dirty="0"/>
          </a:p>
          <a:p>
            <a:pPr indent="0" marL="0">
              <a:spcAft>
                <a:spcPts val="900"/>
              </a:spcAft>
              <a:buNone/>
            </a:pPr>
            <a:r>
              <a:rPr lang="en-US" sz="1300" b="1" dirty="0">
                <a:solidFill>
                  <a:schemeClr val="accent1"/>
                </a:solidFill>
              </a:rPr>
              <a:t>[9] </a:t>
            </a:r>
            <a:pPr indent="0" marL="0">
              <a:spcAft>
                <a:spcPts val="900"/>
              </a:spcAft>
              <a:buNone/>
            </a:pPr>
            <a:r>
              <a:rPr lang="en-US" sz="1300" dirty="0">
                <a:solidFill>
                  <a:schemeClr val="tx1"/>
                </a:solidFill>
              </a:rPr>
              <a:t>S. Kresevic et al., “Optimization of hepatological clinical guidelines interpretation by large language models: a retrieval augmented generation-based framework,” npj Digital Medicine, 2024.</a:t>
            </a:r>
            <a:endParaRPr lang="en-US" sz="1300" dirty="0"/>
          </a:p>
          <a:p>
            <a:pPr indent="0" marL="0">
              <a:spcAft>
                <a:spcPts val="900"/>
              </a:spcAft>
              <a:buNone/>
            </a:pPr>
            <a:r>
              <a:rPr lang="en-US" sz="1300" b="1" dirty="0">
                <a:solidFill>
                  <a:schemeClr val="accent1"/>
                </a:solidFill>
              </a:rPr>
              <a:t>[10] </a:t>
            </a:r>
            <a:pPr indent="0" marL="0">
              <a:spcAft>
                <a:spcPts val="900"/>
              </a:spcAft>
              <a:buNone/>
            </a:pPr>
            <a:r>
              <a:rPr lang="en-US" sz="1300" dirty="0">
                <a:solidFill>
                  <a:schemeClr val="tx1"/>
                </a:solidFill>
              </a:rPr>
              <a:t>W. Li et al., “MACD: Multi-Agent Clinical Diagnosis with Self-Learned Knowledge for LLM,” arXiv:2509.20067, 2025.</a:t>
            </a:r>
            <a:endParaRPr lang="en-US" sz="1300" dirty="0"/>
          </a:p>
          <a:p>
            <a:pPr indent="0" marL="0">
              <a:spcAft>
                <a:spcPts val="900"/>
              </a:spcAft>
              <a:buNone/>
            </a:pPr>
            <a:r>
              <a:rPr lang="en-US" sz="1300" b="1" dirty="0">
                <a:solidFill>
                  <a:schemeClr val="accent1"/>
                </a:solidFill>
              </a:rPr>
              <a:t>[11] </a:t>
            </a:r>
            <a:pPr indent="0" marL="0">
              <a:spcAft>
                <a:spcPts val="900"/>
              </a:spcAft>
              <a:buNone/>
            </a:pPr>
            <a:r>
              <a:rPr lang="en-US" sz="1300" dirty="0">
                <a:solidFill>
                  <a:schemeClr val="tx1"/>
                </a:solidFill>
              </a:rPr>
              <a:t>A. J. Thirunavukarasu et al., “Large language models in medicine,” Nature Medicine, vol. 29, 2023.</a:t>
            </a:r>
            <a:endParaRPr lang="en-US" sz="1300" dirty="0"/>
          </a:p>
          <a:p>
            <a:pPr indent="0" marL="0">
              <a:spcAft>
                <a:spcPts val="900"/>
              </a:spcAft>
              <a:buNone/>
            </a:pPr>
            <a:r>
              <a:rPr lang="en-US" sz="1300" b="1" dirty="0">
                <a:solidFill>
                  <a:schemeClr val="accent1"/>
                </a:solidFill>
              </a:rPr>
              <a:t>[12] </a:t>
            </a:r>
            <a:pPr indent="0" marL="0">
              <a:spcAft>
                <a:spcPts val="900"/>
              </a:spcAft>
              <a:buNone/>
            </a:pPr>
            <a:r>
              <a:rPr lang="en-US" sz="1300" dirty="0">
                <a:solidFill>
                  <a:schemeClr val="tx1"/>
                </a:solidFill>
              </a:rPr>
              <a:t>A. Patel et al., “Fine-Tuning, Retrieval-Augmented Generation, and Hybrid Adaptation of Language Models for Clinical Decision-Making in Health Care: Systematic Review,” J. Med. Internet Res., 2026.</a:t>
            </a:r>
            <a:endParaRPr lang="en-US" sz="1300" dirty="0"/>
          </a:p>
        </p:txBody>
      </p:sp>
      <p:sp>
        <p:nvSpPr>
          <p:cNvPr id="25" name="Slide Number Placeholder 0"/>
          <p:cNvSpPr>
            <a:spLocks noGrp="1"/>
          </p:cNvSpPr>
          <p:nvPr>
            <p:ph type="sldNum" sz="quarter" idx="4294967295"/>
          </p:nvPr>
        </p:nvSpPr>
        <p:spPr>
          <a:xfrm>
            <a:off x="11201400" y="6382512"/>
            <a:ext cx="438912" cy="27432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E6E73"/>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logo card"/>
          <p:cNvSpPr/>
          <p:nvPr/>
        </p:nvSpPr>
        <p:spPr>
          <a:xfrm>
            <a:off x="548640" y="457200"/>
            <a:ext cx="4572000" cy="896112"/>
          </a:xfrm>
          <a:prstGeom prst="roundRect">
            <a:avLst>
              <a:gd name="adj" fmla="val 10204"/>
            </a:avLst>
          </a:prstGeom>
          <a:solidFill>
            <a:schemeClr val="bg1"/>
          </a:solidFill>
          <a:ln/>
        </p:spPr>
      </p:sp>
      <p:pic>
        <p:nvPicPr>
          <p:cNvPr id="3" name="JIT logo" descr="JIT Nashik logo">    </p:cNvPr>
          <p:cNvPicPr>
            <a:picLocks noChangeAspect="1"/>
          </p:cNvPicPr>
          <p:nvPr/>
        </p:nvPicPr>
        <p:blipFill>
          <a:blip r:embed="rId1"/>
          <a:stretch>
            <a:fillRect/>
          </a:stretch>
        </p:blipFill>
        <p:spPr>
          <a:xfrm>
            <a:off x="704088" y="596326"/>
            <a:ext cx="4261104" cy="617860"/>
          </a:xfrm>
          <a:prstGeom prst="rect">
            <a:avLst/>
          </a:prstGeom>
        </p:spPr>
      </p:pic>
      <p:sp>
        <p:nvSpPr>
          <p:cNvPr id="4" name="Text 0"/>
          <p:cNvSpPr/>
          <p:nvPr>
            <p:ph idx="100" type="title" hasCustomPrompt="1"/>
          </p:nvPr>
        </p:nvSpPr>
        <p:spPr>
          <a:xfrm>
            <a:off x="548640" y="1645920"/>
            <a:ext cx="7040880" cy="960120"/>
          </a:xfrm>
          <a:prstGeom prst="rect">
            <a:avLst/>
          </a:prstGeom>
          <a:noFill/>
          <a:ln/>
        </p:spPr>
        <p:txBody>
          <a:bodyPr wrap="square" lIns="0" tIns="0" rIns="0" bIns="0" rtlCol="0" anchor="b"/>
          <a:lstStyle/>
          <a:p>
            <a:pPr algn="l" indent="0" marL="0">
              <a:buNone/>
            </a:pPr>
            <a:r>
              <a:rPr lang="en-US" sz="6000" b="1" dirty="0">
                <a:solidFill>
                  <a:schemeClr val="bg1"/>
                </a:solidFill>
                <a:latin typeface="+mj-lt" pitchFamily="34" charset="0"/>
                <a:ea typeface="+mj-lt" pitchFamily="34" charset="-122"/>
                <a:cs typeface="+mj-lt" pitchFamily="34" charset="-120"/>
              </a:rPr>
              <a:t>Thank You</a:t>
            </a:r>
            <a:endParaRPr lang="en-US" sz="6000" dirty="0"/>
          </a:p>
        </p:txBody>
      </p:sp>
      <p:sp>
        <p:nvSpPr>
          <p:cNvPr id="5" name="Text 0"/>
          <p:cNvSpPr/>
          <p:nvPr>
            <p:ph idx="101" type="body" hasCustomPrompt="1"/>
          </p:nvPr>
        </p:nvSpPr>
        <p:spPr>
          <a:xfrm>
            <a:off x="548640" y="2697480"/>
            <a:ext cx="7040880" cy="960120"/>
          </a:xfrm>
          <a:prstGeom prst="rect">
            <a:avLst/>
          </a:prstGeom>
          <a:noFill/>
          <a:ln/>
        </p:spPr>
        <p:txBody>
          <a:bodyPr wrap="square" lIns="0" tIns="0" rIns="0" bIns="0" rtlCol="0" anchor="t"/>
          <a:lstStyle/>
          <a:p>
            <a:pPr algn="l" indent="0" marL="0">
              <a:buNone/>
            </a:pPr>
            <a:r>
              <a:rPr lang="en-US" sz="2600" dirty="0">
                <a:solidFill>
                  <a:schemeClr val="bg2"/>
                </a:solidFill>
              </a:rPr>
              <a:t>Questions and suggestions are welcome</a:t>
            </a:r>
            <a:endParaRPr lang="en-US" sz="2600" dirty="0"/>
          </a:p>
        </p:txBody>
      </p:sp>
      <p:sp>
        <p:nvSpPr>
          <p:cNvPr id="6" name="programme line"/>
          <p:cNvSpPr txBox="1"/>
          <p:nvPr/>
        </p:nvSpPr>
        <p:spPr>
          <a:xfrm>
            <a:off x="548640" y="3767328"/>
            <a:ext cx="7040880" cy="320040"/>
          </a:xfrm>
          <a:prstGeom prst="rect">
            <a:avLst/>
          </a:prstGeom>
          <a:noFill/>
          <a:ln/>
        </p:spPr>
        <p:txBody>
          <a:bodyPr wrap="square" lIns="0" tIns="0" rIns="0" bIns="0" rtlCol="0" anchor="t"/>
          <a:lstStyle/>
          <a:p>
            <a:pPr indent="0" marL="0">
              <a:buNone/>
            </a:pPr>
            <a:r>
              <a:rPr lang="en-US" sz="1500" dirty="0">
                <a:solidFill>
                  <a:srgbClr val="A9D8D9"/>
                </a:solidFill>
              </a:rPr>
              <a:t>BE Computer Engineering  |  Project Stage I Presentation  |  AY 2026-27</a:t>
            </a:r>
            <a:endParaRPr lang="en-US" sz="1500" dirty="0"/>
          </a:p>
        </p:txBody>
      </p:sp>
      <p:sp>
        <p:nvSpPr>
          <p:cNvPr id="7" name="presented by label"/>
          <p:cNvSpPr txBox="1"/>
          <p:nvPr/>
        </p:nvSpPr>
        <p:spPr>
          <a:xfrm>
            <a:off x="548640" y="4370832"/>
            <a:ext cx="3200400" cy="256032"/>
          </a:xfrm>
          <a:prstGeom prst="rect">
            <a:avLst/>
          </a:prstGeom>
          <a:noFill/>
          <a:ln/>
        </p:spPr>
        <p:txBody>
          <a:bodyPr wrap="square" lIns="0" tIns="0" rIns="0" bIns="0" rtlCol="0" anchor="t"/>
          <a:lstStyle/>
          <a:p>
            <a:pPr indent="0" marL="0">
              <a:buNone/>
            </a:pPr>
            <a:r>
              <a:rPr lang="en-US" sz="1200" b="1" spc="200" kern="0" dirty="0">
                <a:solidFill>
                  <a:srgbClr val="A9D8D9"/>
                </a:solidFill>
              </a:rPr>
              <a:t>PRESENTED BY</a:t>
            </a:r>
            <a:endParaRPr lang="en-US" sz="1200" dirty="0"/>
          </a:p>
        </p:txBody>
      </p:sp>
      <p:sp>
        <p:nvSpPr>
          <p:cNvPr id="8" name="team column 1"/>
          <p:cNvSpPr txBox="1"/>
          <p:nvPr/>
        </p:nvSpPr>
        <p:spPr>
          <a:xfrm>
            <a:off x="548640" y="4663440"/>
            <a:ext cx="3474720" cy="640080"/>
          </a:xfrm>
          <a:prstGeom prst="rect">
            <a:avLst/>
          </a:prstGeom>
          <a:noFill/>
          <a:ln/>
        </p:spPr>
        <p:txBody>
          <a:bodyPr wrap="square" lIns="0" tIns="0" rIns="0" bIns="0" rtlCol="0" anchor="t"/>
          <a:lstStyle/>
          <a:p>
            <a:pPr indent="0" marL="0">
              <a:spcAft>
                <a:spcPts val="400"/>
              </a:spcAft>
              <a:buNone/>
            </a:pPr>
            <a:r>
              <a:rPr lang="en-US" sz="1500" dirty="0">
                <a:solidFill>
                  <a:schemeClr val="bg1"/>
                </a:solidFill>
              </a:rPr>
              <a:t>Siddhesh Kishor Suryawanshi</a:t>
            </a:r>
            <a:endParaRPr lang="en-US" sz="1500" dirty="0"/>
          </a:p>
          <a:p>
            <a:pPr indent="0" marL="0">
              <a:spcAft>
                <a:spcPts val="400"/>
              </a:spcAft>
              <a:buNone/>
            </a:pPr>
            <a:r>
              <a:rPr lang="en-US" sz="1500" dirty="0">
                <a:solidFill>
                  <a:schemeClr val="bg1"/>
                </a:solidFill>
              </a:rPr>
              <a:t>Shantanu Avinash Patil</a:t>
            </a:r>
            <a:endParaRPr lang="en-US" sz="1500" dirty="0"/>
          </a:p>
        </p:txBody>
      </p:sp>
      <p:sp>
        <p:nvSpPr>
          <p:cNvPr id="9" name="team column 2"/>
          <p:cNvSpPr txBox="1"/>
          <p:nvPr/>
        </p:nvSpPr>
        <p:spPr>
          <a:xfrm>
            <a:off x="4160520" y="4663440"/>
            <a:ext cx="3429000" cy="640080"/>
          </a:xfrm>
          <a:prstGeom prst="rect">
            <a:avLst/>
          </a:prstGeom>
          <a:noFill/>
          <a:ln/>
        </p:spPr>
        <p:txBody>
          <a:bodyPr wrap="square" lIns="0" tIns="0" rIns="0" bIns="0" rtlCol="0" anchor="t"/>
          <a:lstStyle/>
          <a:p>
            <a:pPr indent="0" marL="0">
              <a:spcAft>
                <a:spcPts val="400"/>
              </a:spcAft>
              <a:buNone/>
            </a:pPr>
            <a:r>
              <a:rPr lang="en-US" sz="1500" dirty="0">
                <a:solidFill>
                  <a:schemeClr val="bg1"/>
                </a:solidFill>
              </a:rPr>
              <a:t>Omkar Abaji Musale</a:t>
            </a:r>
            <a:endParaRPr lang="en-US" sz="1500" dirty="0"/>
          </a:p>
          <a:p>
            <a:pPr indent="0" marL="0">
              <a:spcAft>
                <a:spcPts val="400"/>
              </a:spcAft>
              <a:buNone/>
            </a:pPr>
            <a:r>
              <a:rPr lang="en-US" sz="1500" dirty="0">
                <a:solidFill>
                  <a:schemeClr val="bg1"/>
                </a:solidFill>
              </a:rPr>
              <a:t>Tanmay Shriniwas Bagul</a:t>
            </a:r>
            <a:endParaRPr lang="en-US" sz="1500" dirty="0"/>
          </a:p>
        </p:txBody>
      </p:sp>
      <p:sp>
        <p:nvSpPr>
          <p:cNvPr id="10" name="guide line"/>
          <p:cNvSpPr txBox="1"/>
          <p:nvPr/>
        </p:nvSpPr>
        <p:spPr>
          <a:xfrm>
            <a:off x="548640" y="5577840"/>
            <a:ext cx="7040880" cy="292608"/>
          </a:xfrm>
          <a:prstGeom prst="rect">
            <a:avLst/>
          </a:prstGeom>
          <a:noFill/>
          <a:ln/>
        </p:spPr>
        <p:txBody>
          <a:bodyPr wrap="square" lIns="0" tIns="0" rIns="0" bIns="0" rtlCol="0" anchor="t"/>
          <a:lstStyle/>
          <a:p>
            <a:pPr indent="0" marL="0">
              <a:buNone/>
            </a:pPr>
            <a:r>
              <a:rPr lang="en-US" sz="1400" b="1" dirty="0">
                <a:solidFill>
                  <a:srgbClr val="A9D8D9"/>
                </a:solidFill>
              </a:rPr>
              <a:t>Guide: </a:t>
            </a:r>
            <a:pPr indent="0" marL="0">
              <a:buNone/>
            </a:pPr>
            <a:r>
              <a:rPr lang="en-US" sz="1400" dirty="0">
                <a:solidFill>
                  <a:schemeClr val="bg1"/>
                </a:solidFill>
              </a:rPr>
              <a:t>Prof. G. P Mohole, Head of Computer Department</a:t>
            </a:r>
            <a:endParaRPr lang="en-US" sz="1400" dirty="0"/>
          </a:p>
        </p:txBody>
      </p:sp>
      <p:sp>
        <p:nvSpPr>
          <p:cNvPr id="11" name="department line"/>
          <p:cNvSpPr txBox="1"/>
          <p:nvPr/>
        </p:nvSpPr>
        <p:spPr>
          <a:xfrm>
            <a:off x="548640" y="5943600"/>
            <a:ext cx="7040880" cy="274320"/>
          </a:xfrm>
          <a:prstGeom prst="rect">
            <a:avLst/>
          </a:prstGeom>
          <a:noFill/>
          <a:ln/>
        </p:spPr>
        <p:txBody>
          <a:bodyPr wrap="square" lIns="0" tIns="0" rIns="0" bIns="0" rtlCol="0" anchor="t"/>
          <a:lstStyle/>
          <a:p>
            <a:pPr indent="0" marL="0">
              <a:buNone/>
            </a:pPr>
            <a:r>
              <a:rPr lang="en-US" sz="1300" dirty="0">
                <a:solidFill>
                  <a:srgbClr val="A9D8D9"/>
                </a:solidFill>
              </a:rPr>
              <a:t>Department of Computer Engineering, JESITMR, Nashik</a:t>
            </a:r>
            <a:endParaRPr lang="en-US" sz="1300" dirty="0"/>
          </a:p>
        </p:txBody>
      </p:sp>
      <p:sp>
        <p:nvSpPr>
          <p:cNvPr id="12" name="hub link 1"/>
          <p:cNvSpPr/>
          <p:nvPr/>
        </p:nvSpPr>
        <p:spPr>
          <a:xfrm flipH="1">
            <a:off x="9646920" y="1947672"/>
            <a:ext cx="914" cy="1572768"/>
          </a:xfrm>
          <a:prstGeom prst="line">
            <a:avLst/>
          </a:prstGeom>
          <a:noFill/>
          <a:ln w="19050">
            <a:solidFill>
              <a:schemeClr val="accent1"/>
            </a:solidFill>
            <a:prstDash val="solid"/>
          </a:ln>
        </p:spPr>
      </p:sp>
      <p:sp>
        <p:nvSpPr>
          <p:cNvPr id="13" name="hub link 2"/>
          <p:cNvSpPr/>
          <p:nvPr/>
        </p:nvSpPr>
        <p:spPr>
          <a:xfrm flipH="1">
            <a:off x="9646920" y="3034428"/>
            <a:ext cx="1495791" cy="486012"/>
          </a:xfrm>
          <a:prstGeom prst="line">
            <a:avLst/>
          </a:prstGeom>
          <a:noFill/>
          <a:ln w="19050">
            <a:solidFill>
              <a:schemeClr val="accent1"/>
            </a:solidFill>
            <a:prstDash val="solid"/>
          </a:ln>
        </p:spPr>
      </p:sp>
      <p:sp>
        <p:nvSpPr>
          <p:cNvPr id="14" name="hub link 3"/>
          <p:cNvSpPr/>
          <p:nvPr/>
        </p:nvSpPr>
        <p:spPr>
          <a:xfrm>
            <a:off x="9646920" y="3520440"/>
            <a:ext cx="924450" cy="1272396"/>
          </a:xfrm>
          <a:prstGeom prst="line">
            <a:avLst/>
          </a:prstGeom>
          <a:noFill/>
          <a:ln w="19050">
            <a:solidFill>
              <a:schemeClr val="accent1"/>
            </a:solidFill>
            <a:prstDash val="solid"/>
          </a:ln>
        </p:spPr>
      </p:sp>
      <p:sp>
        <p:nvSpPr>
          <p:cNvPr id="15" name="hub link 4"/>
          <p:cNvSpPr/>
          <p:nvPr/>
        </p:nvSpPr>
        <p:spPr>
          <a:xfrm flipH="1">
            <a:off x="8722470" y="3520440"/>
            <a:ext cx="924450" cy="1272396"/>
          </a:xfrm>
          <a:prstGeom prst="line">
            <a:avLst/>
          </a:prstGeom>
          <a:noFill/>
          <a:ln w="19050">
            <a:solidFill>
              <a:schemeClr val="accent1"/>
            </a:solidFill>
            <a:prstDash val="solid"/>
          </a:ln>
        </p:spPr>
      </p:sp>
      <p:sp>
        <p:nvSpPr>
          <p:cNvPr id="16" name="hub link 5"/>
          <p:cNvSpPr/>
          <p:nvPr/>
        </p:nvSpPr>
        <p:spPr>
          <a:xfrm>
            <a:off x="8151129" y="3034428"/>
            <a:ext cx="1495791" cy="486012"/>
          </a:xfrm>
          <a:prstGeom prst="line">
            <a:avLst/>
          </a:prstGeom>
          <a:noFill/>
          <a:ln w="19050">
            <a:solidFill>
              <a:schemeClr val="accent1"/>
            </a:solidFill>
            <a:prstDash val="solid"/>
          </a:ln>
        </p:spPr>
      </p:sp>
      <p:sp>
        <p:nvSpPr>
          <p:cNvPr id="17" name="hub center"/>
          <p:cNvSpPr/>
          <p:nvPr/>
        </p:nvSpPr>
        <p:spPr>
          <a:xfrm>
            <a:off x="9052560" y="2926080"/>
            <a:ext cx="1188720" cy="1188720"/>
          </a:xfrm>
          <a:prstGeom prst="ellipse">
            <a:avLst/>
          </a:prstGeom>
          <a:solidFill>
            <a:schemeClr val="bg1"/>
          </a:solidFill>
          <a:ln/>
        </p:spPr>
      </p:sp>
      <p:pic>
        <p:nvPicPr>
          <p:cNvPr id="18" name="hub clinician icon" descr="preencoded.png">    </p:cNvPr>
          <p:cNvPicPr>
            <a:picLocks noChangeAspect="1"/>
          </p:cNvPicPr>
          <p:nvPr/>
        </p:nvPicPr>
        <p:blipFill>
          <a:blip r:embed="rId2"/>
          <a:stretch>
            <a:fillRect/>
          </a:stretch>
        </p:blipFill>
        <p:spPr>
          <a:xfrm>
            <a:off x="9345168" y="3191256"/>
            <a:ext cx="603504" cy="603504"/>
          </a:xfrm>
          <a:prstGeom prst="rect">
            <a:avLst/>
          </a:prstGeom>
        </p:spPr>
      </p:pic>
      <p:sp>
        <p:nvSpPr>
          <p:cNvPr id="19" name="hub node 1 circle"/>
          <p:cNvSpPr/>
          <p:nvPr/>
        </p:nvSpPr>
        <p:spPr>
          <a:xfrm>
            <a:off x="9226296" y="1527048"/>
            <a:ext cx="841248" cy="841248"/>
          </a:xfrm>
          <a:prstGeom prst="ellipse">
            <a:avLst/>
          </a:prstGeom>
          <a:solidFill>
            <a:schemeClr val="accent1"/>
          </a:solidFill>
          <a:ln/>
        </p:spPr>
      </p:sp>
      <p:pic>
        <p:nvPicPr>
          <p:cNvPr id="20" name="hub node 1 icon" descr="preencoded.png">    </p:cNvPr>
          <p:cNvPicPr>
            <a:picLocks noChangeAspect="1"/>
          </p:cNvPicPr>
          <p:nvPr/>
        </p:nvPicPr>
        <p:blipFill>
          <a:blip r:embed="rId3"/>
          <a:stretch>
            <a:fillRect/>
          </a:stretch>
        </p:blipFill>
        <p:spPr>
          <a:xfrm>
            <a:off x="9428196" y="1728948"/>
            <a:ext cx="437449" cy="437449"/>
          </a:xfrm>
          <a:prstGeom prst="rect">
            <a:avLst/>
          </a:prstGeom>
        </p:spPr>
      </p:pic>
      <p:sp>
        <p:nvSpPr>
          <p:cNvPr id="21" name="hub label 1"/>
          <p:cNvSpPr txBox="1"/>
          <p:nvPr/>
        </p:nvSpPr>
        <p:spPr>
          <a:xfrm>
            <a:off x="8915400" y="1197864"/>
            <a:ext cx="1463040" cy="274320"/>
          </a:xfrm>
          <a:prstGeom prst="rect">
            <a:avLst/>
          </a:prstGeom>
          <a:noFill/>
          <a:ln/>
        </p:spPr>
        <p:txBody>
          <a:bodyPr wrap="square" lIns="0" tIns="0" rIns="0" bIns="0" rtlCol="0" anchor="t"/>
          <a:lstStyle/>
          <a:p>
            <a:pPr algn="ctr" indent="0" marL="0">
              <a:buNone/>
            </a:pPr>
            <a:r>
              <a:rPr lang="en-US" sz="1300" b="1" dirty="0">
                <a:solidFill>
                  <a:srgbClr val="A9D8D9"/>
                </a:solidFill>
              </a:rPr>
              <a:t>ML</a:t>
            </a:r>
            <a:endParaRPr lang="en-US" sz="1300" dirty="0"/>
          </a:p>
        </p:txBody>
      </p:sp>
      <p:sp>
        <p:nvSpPr>
          <p:cNvPr id="22" name="hub node 2 circle"/>
          <p:cNvSpPr/>
          <p:nvPr/>
        </p:nvSpPr>
        <p:spPr>
          <a:xfrm>
            <a:off x="10722087" y="2613804"/>
            <a:ext cx="841248" cy="841248"/>
          </a:xfrm>
          <a:prstGeom prst="ellipse">
            <a:avLst/>
          </a:prstGeom>
          <a:solidFill>
            <a:schemeClr val="accent1"/>
          </a:solidFill>
          <a:ln/>
        </p:spPr>
      </p:sp>
      <p:pic>
        <p:nvPicPr>
          <p:cNvPr id="23" name="hub node 2 icon" descr="preencoded.png">    </p:cNvPr>
          <p:cNvPicPr>
            <a:picLocks noChangeAspect="1"/>
          </p:cNvPicPr>
          <p:nvPr/>
        </p:nvPicPr>
        <p:blipFill>
          <a:blip r:embed="rId4"/>
          <a:stretch>
            <a:fillRect/>
          </a:stretch>
        </p:blipFill>
        <p:spPr>
          <a:xfrm>
            <a:off x="10923987" y="2815703"/>
            <a:ext cx="437449" cy="437449"/>
          </a:xfrm>
          <a:prstGeom prst="rect">
            <a:avLst/>
          </a:prstGeom>
        </p:spPr>
      </p:pic>
      <p:sp>
        <p:nvSpPr>
          <p:cNvPr id="24" name="hub label 2"/>
          <p:cNvSpPr txBox="1"/>
          <p:nvPr/>
        </p:nvSpPr>
        <p:spPr>
          <a:xfrm>
            <a:off x="10411191" y="3500772"/>
            <a:ext cx="1463040" cy="274320"/>
          </a:xfrm>
          <a:prstGeom prst="rect">
            <a:avLst/>
          </a:prstGeom>
          <a:noFill/>
          <a:ln/>
        </p:spPr>
        <p:txBody>
          <a:bodyPr wrap="square" lIns="0" tIns="0" rIns="0" bIns="0" rtlCol="0" anchor="t"/>
          <a:lstStyle/>
          <a:p>
            <a:pPr algn="ctr" indent="0" marL="0">
              <a:buNone/>
            </a:pPr>
            <a:r>
              <a:rPr lang="en-US" sz="1300" b="1" dirty="0">
                <a:solidFill>
                  <a:srgbClr val="A9D8D9"/>
                </a:solidFill>
              </a:rPr>
              <a:t>Rules</a:t>
            </a:r>
            <a:endParaRPr lang="en-US" sz="1300" dirty="0"/>
          </a:p>
        </p:txBody>
      </p:sp>
      <p:sp>
        <p:nvSpPr>
          <p:cNvPr id="25" name="hub node 3 circle"/>
          <p:cNvSpPr/>
          <p:nvPr/>
        </p:nvSpPr>
        <p:spPr>
          <a:xfrm>
            <a:off x="10150746" y="4372212"/>
            <a:ext cx="841248" cy="841248"/>
          </a:xfrm>
          <a:prstGeom prst="ellipse">
            <a:avLst/>
          </a:prstGeom>
          <a:solidFill>
            <a:schemeClr val="accent1"/>
          </a:solidFill>
          <a:ln/>
        </p:spPr>
      </p:sp>
      <p:pic>
        <p:nvPicPr>
          <p:cNvPr id="26" name="hub node 3 icon" descr="preencoded.png">    </p:cNvPr>
          <p:cNvPicPr>
            <a:picLocks noChangeAspect="1"/>
          </p:cNvPicPr>
          <p:nvPr/>
        </p:nvPicPr>
        <p:blipFill>
          <a:blip r:embed="rId5"/>
          <a:stretch>
            <a:fillRect/>
          </a:stretch>
        </p:blipFill>
        <p:spPr>
          <a:xfrm>
            <a:off x="10352645" y="4574112"/>
            <a:ext cx="437449" cy="437449"/>
          </a:xfrm>
          <a:prstGeom prst="rect">
            <a:avLst/>
          </a:prstGeom>
        </p:spPr>
      </p:pic>
      <p:sp>
        <p:nvSpPr>
          <p:cNvPr id="27" name="hub label 3"/>
          <p:cNvSpPr txBox="1"/>
          <p:nvPr/>
        </p:nvSpPr>
        <p:spPr>
          <a:xfrm>
            <a:off x="9839850" y="5259180"/>
            <a:ext cx="1463040" cy="274320"/>
          </a:xfrm>
          <a:prstGeom prst="rect">
            <a:avLst/>
          </a:prstGeom>
          <a:noFill/>
          <a:ln/>
        </p:spPr>
        <p:txBody>
          <a:bodyPr wrap="square" lIns="0" tIns="0" rIns="0" bIns="0" rtlCol="0" anchor="t"/>
          <a:lstStyle/>
          <a:p>
            <a:pPr algn="ctr" indent="0" marL="0">
              <a:buNone/>
            </a:pPr>
            <a:r>
              <a:rPr lang="en-US" sz="1300" b="1" dirty="0">
                <a:solidFill>
                  <a:srgbClr val="A9D8D9"/>
                </a:solidFill>
              </a:rPr>
              <a:t>Retrieval</a:t>
            </a:r>
            <a:endParaRPr lang="en-US" sz="1300" dirty="0"/>
          </a:p>
        </p:txBody>
      </p:sp>
      <p:sp>
        <p:nvSpPr>
          <p:cNvPr id="28" name="hub node 4 circle"/>
          <p:cNvSpPr/>
          <p:nvPr/>
        </p:nvSpPr>
        <p:spPr>
          <a:xfrm>
            <a:off x="8301846" y="4372212"/>
            <a:ext cx="841248" cy="841248"/>
          </a:xfrm>
          <a:prstGeom prst="ellipse">
            <a:avLst/>
          </a:prstGeom>
          <a:solidFill>
            <a:schemeClr val="accent1"/>
          </a:solidFill>
          <a:ln/>
        </p:spPr>
      </p:sp>
      <p:pic>
        <p:nvPicPr>
          <p:cNvPr id="29" name="hub node 4 icon" descr="preencoded.png">    </p:cNvPr>
          <p:cNvPicPr>
            <a:picLocks noChangeAspect="1"/>
          </p:cNvPicPr>
          <p:nvPr/>
        </p:nvPicPr>
        <p:blipFill>
          <a:blip r:embed="rId6"/>
          <a:stretch>
            <a:fillRect/>
          </a:stretch>
        </p:blipFill>
        <p:spPr>
          <a:xfrm>
            <a:off x="8503746" y="4574112"/>
            <a:ext cx="437449" cy="437449"/>
          </a:xfrm>
          <a:prstGeom prst="rect">
            <a:avLst/>
          </a:prstGeom>
        </p:spPr>
      </p:pic>
      <p:sp>
        <p:nvSpPr>
          <p:cNvPr id="30" name="hub label 4"/>
          <p:cNvSpPr txBox="1"/>
          <p:nvPr/>
        </p:nvSpPr>
        <p:spPr>
          <a:xfrm>
            <a:off x="7990950" y="5259180"/>
            <a:ext cx="1463040" cy="274320"/>
          </a:xfrm>
          <a:prstGeom prst="rect">
            <a:avLst/>
          </a:prstGeom>
          <a:noFill/>
          <a:ln/>
        </p:spPr>
        <p:txBody>
          <a:bodyPr wrap="square" lIns="0" tIns="0" rIns="0" bIns="0" rtlCol="0" anchor="t"/>
          <a:lstStyle/>
          <a:p>
            <a:pPr algn="ctr" indent="0" marL="0">
              <a:buNone/>
            </a:pPr>
            <a:r>
              <a:rPr lang="en-US" sz="1300" b="1" dirty="0">
                <a:solidFill>
                  <a:srgbClr val="A9D8D9"/>
                </a:solidFill>
              </a:rPr>
              <a:t>Context</a:t>
            </a:r>
            <a:endParaRPr lang="en-US" sz="1300" dirty="0"/>
          </a:p>
        </p:txBody>
      </p:sp>
      <p:sp>
        <p:nvSpPr>
          <p:cNvPr id="31" name="hub node 5 circle"/>
          <p:cNvSpPr/>
          <p:nvPr/>
        </p:nvSpPr>
        <p:spPr>
          <a:xfrm>
            <a:off x="7730505" y="2613804"/>
            <a:ext cx="841248" cy="841248"/>
          </a:xfrm>
          <a:prstGeom prst="ellipse">
            <a:avLst/>
          </a:prstGeom>
          <a:solidFill>
            <a:schemeClr val="accent1"/>
          </a:solidFill>
          <a:ln/>
        </p:spPr>
      </p:sp>
      <p:pic>
        <p:nvPicPr>
          <p:cNvPr id="32" name="hub node 5 icon" descr="preencoded.png">    </p:cNvPr>
          <p:cNvPicPr>
            <a:picLocks noChangeAspect="1"/>
          </p:cNvPicPr>
          <p:nvPr/>
        </p:nvPicPr>
        <p:blipFill>
          <a:blip r:embed="rId7"/>
          <a:stretch>
            <a:fillRect/>
          </a:stretch>
        </p:blipFill>
        <p:spPr>
          <a:xfrm>
            <a:off x="7932404" y="2815703"/>
            <a:ext cx="437449" cy="437449"/>
          </a:xfrm>
          <a:prstGeom prst="rect">
            <a:avLst/>
          </a:prstGeom>
        </p:spPr>
      </p:pic>
      <p:sp>
        <p:nvSpPr>
          <p:cNvPr id="33" name="hub label 5"/>
          <p:cNvSpPr txBox="1"/>
          <p:nvPr/>
        </p:nvSpPr>
        <p:spPr>
          <a:xfrm>
            <a:off x="7419609" y="3500772"/>
            <a:ext cx="1463040" cy="274320"/>
          </a:xfrm>
          <a:prstGeom prst="rect">
            <a:avLst/>
          </a:prstGeom>
          <a:noFill/>
          <a:ln/>
        </p:spPr>
        <p:txBody>
          <a:bodyPr wrap="square" lIns="0" tIns="0" rIns="0" bIns="0" rtlCol="0" anchor="t"/>
          <a:lstStyle/>
          <a:p>
            <a:pPr algn="ctr" indent="0" marL="0">
              <a:buNone/>
            </a:pPr>
            <a:r>
              <a:rPr lang="en-US" sz="1300" b="1" dirty="0">
                <a:solidFill>
                  <a:srgbClr val="A9D8D9"/>
                </a:solidFill>
              </a:rPr>
              <a:t>Fusion</a:t>
            </a:r>
            <a:endParaRPr lang="en-US" sz="1300" dirty="0"/>
          </a:p>
        </p:txBody>
      </p:sp>
      <p:sp>
        <p:nvSpPr>
          <p:cNvPr id="34" name="hub caption"/>
          <p:cNvSpPr txBox="1"/>
          <p:nvPr/>
        </p:nvSpPr>
        <p:spPr>
          <a:xfrm>
            <a:off x="8183880" y="5971032"/>
            <a:ext cx="2926080" cy="274320"/>
          </a:xfrm>
          <a:prstGeom prst="rect">
            <a:avLst/>
          </a:prstGeom>
          <a:noFill/>
          <a:ln/>
        </p:spPr>
        <p:txBody>
          <a:bodyPr wrap="square" lIns="0" tIns="0" rIns="0" bIns="0" rtlCol="0" anchor="t"/>
          <a:lstStyle/>
          <a:p>
            <a:pPr algn="ctr" indent="0" marL="0">
              <a:buNone/>
            </a:pPr>
            <a:r>
              <a:rPr lang="en-US" sz="1200" i="1" dirty="0">
                <a:solidFill>
                  <a:schemeClr val="bg1"/>
                </a:solidFill>
              </a:rPr>
              <a:t>The clinician stays at the center</a:t>
            </a:r>
            <a:endParaRPr lang="en-US" sz="1200" dirty="0"/>
          </a:p>
        </p:txBody>
      </p:sp>
    </p:spTree>
  </p:cSld>
  <p:clrMapOvr>
    <a:masterClrMapping/>
  </p:clrMapOvr>
</p:sld>
</file>

<file path=ppt/theme/theme1.xml><?xml version="1.0" encoding="utf-8"?>
<a:theme xmlns:a="http://schemas.openxmlformats.org/drawingml/2006/main" name="MedIntel Clinical">
  <a:themeElements>
    <a:clrScheme name="MedIntel Clinical">
      <a:dk1>
        <a:srgbClr val="1E2B31"/>
      </a:dk1>
      <a:lt1>
        <a:srgbClr val="FFFFFF"/>
      </a:lt1>
      <a:dk2>
        <a:srgbClr val="0C3B47"/>
      </a:dk2>
      <a:lt2>
        <a:srgbClr val="EAF3F3"/>
      </a:lt2>
      <a:accent1>
        <a:srgbClr val="137C82"/>
      </a:accent1>
      <a:accent2>
        <a:srgbClr val="A3231A"/>
      </a:accent2>
      <a:accent3>
        <a:srgbClr val="2E7D4F"/>
      </a:accent3>
      <a:accent4>
        <a:srgbClr val="5A4E8C"/>
      </a:accent4>
      <a:accent5>
        <a:srgbClr val="2F5E8A"/>
      </a:accent5>
      <a:accent6>
        <a:srgbClr val="B7791F"/>
      </a:accent6>
      <a:hlink>
        <a:srgbClr val="137C82"/>
      </a:hlink>
      <a:folHlink>
        <a:srgbClr val="5A4E8C"/>
      </a:folHlink>
    </a:clrScheme>
    <a:fontScheme name="MedIntel Clinical">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JESITMR Nashik</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MedIntel: A Multi-Agent AI Framework for Clinical Decision Support</dc:title>
  <dc:subject>BE Computer Engineering Project Stage I presentation, AY 2026-27</dc:subject>
  <dc:creator>Siddhesh Kishor Suryawanshi, Shantanu Avinash Patil, Omkar Abaji Musale, Tanmay Shriniwas Bagul</dc:creator>
  <cp:lastModifiedBy>Siddhesh Kishor Suryawanshi, Shantanu Avinash Patil, Omkar Abaji Musale, Tanmay Shriniwas Bagul</cp:lastModifiedBy>
  <cp:revision>1</cp:revision>
  <dcterms:created xsi:type="dcterms:W3CDTF">2026-10-15T19:59:30Z</dcterms:created>
  <dcterms:modified xsi:type="dcterms:W3CDTF">2026-10-15T19:59:30Z</dcterms:modified>
</cp:coreProperties>
</file>